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0"/>
  </p:notesMasterIdLst>
  <p:sldIdLst>
    <p:sldId id="262" r:id="rId2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7E600A-9F19-9D4C-8CCC-4E2D1756715A}" v="30" dt="2026-09-07T06:59:11.6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54" autoAdjust="0"/>
    <p:restoredTop sz="94660"/>
  </p:normalViewPr>
  <p:slideViewPr>
    <p:cSldViewPr snapToGrid="0">
      <p:cViewPr varScale="1">
        <p:scale>
          <a:sx n="206" d="100"/>
          <a:sy n="206" d="100"/>
        </p:scale>
        <p:origin x="1584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A7EA56-79B4-4BAF-82C4-4C232FF12613}" type="datetimeFigureOut">
              <a:rPr lang="en-US" smtClean="0"/>
              <a:t>9/6/26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D3E64B-0EE5-426F-B35A-E3C2412649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143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Study: hf-20261008-modernbert-qwen. Report received October 19, 2026. Report SHA256: 7698fe31e652cc8d24fb2cc8ff8a443c2c1ec04ac3786cd9bf3dc0e6f4ec006a. Study SHA256: 111d8a78875a8263475514691b581904a9164855d91603ac7dc4e32f838a5095. Source: data/hf-20261008-report.json; counts from the frozen reference_contract.json. Reported metrics are not independently recomputed from raw predictions. Matched classical comparator selected by validation AUC-PRC in historical PR #357. Labels: &gt;= K changed words AND at least one summary/description/acceptance change. Test metrics are unweighted. Scores are retrospective; public-Jira pretraining contamination is possible. Paired issue bootstrap does not model temporal dependence.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Study: hf-20261008-modernbert-qwen. Report received October 19, 2026. Report SHA256: 7698fe31e652cc8d24fb2cc8ff8a443c2c1ec04ac3786cd9bf3dc0e6f4ec006a. Study SHA256: 111d8a78875a8263475514691b581904a9164855d91603ac7dc4e32f838a5095. Source: data/hf-20261008-report.json; counts from the frozen reference_contract.json. Reported metrics are not independently recomputed from raw predictions. Matched classical comparator selected by validation AUC-PRC in historical PR #357. Labels: &gt;= K changed words AND at least one summary/description/acceptance change. Test metrics are unweighted. Scores are retrospective; public-Jira pretraining contamination is possible. Paired issue bootstrap does not model temporal dependence.</a:t>
            </a:r>
          </a:p>
          <a:p>
            <a:r>
              <a:t>{"Apache": {"test": {"first_sprint_entry": "2022-02-08 03:48:19", "labels_sha256": {"10": "8c31ac44f61cd356f2bd59747a0810c5e546b8a6ea62c9275c452fa3761be359", "15": "b7e9554d8c4faa118a9bfecd702c0ce158fd74bf0248a14f9f6f12b92b70d5c0", "20": "bbb5c8b09413363b9108cf661cffed463053d3dbdbd3e19cd432ad1757129200", "5": "453054b0c69043c53cf4dce960353830f2b659b547288a710170118a229614cd"}, "last_sprint_entry": "2023-04-19 01:56:36", "positive_counts": {"10": 118, "15": 81, "20": 59, "5": 190}, "row_ids_sha256": "f5a472b25300a5f972102446ef2b28e776b1117cae8df5195362f7654ed201eb", "rows": 1535, "source_counts": {"Apache": 1535}}, "train": {"first_sprint_entry": "2006-08-23 06:57:12", "labels_sha256": {"10": "a8576f9f6f381adfbdadc0fddf62c7e0e07566d1dbc9bc8a97047326982927d3", "15": "b72f9fd96d2dbcfb6bf678ea68d29f32bc00c920f86a9821c88b0017b502b087", "20": "6f9c3ce39e7ad721850c33c4c70a43244ec99fb3a2f9629a1e821e24595490fd", "5": "0577b7c0c088c856350dd82dafa1db82df3f9e393a93e37a4508a3e16b2d7c48"}, "last_sprint_entry": "2019-07-03 17:27:45", "positive_counts": {"10": 284, "15": 211, "20": 173, "5": 417}, "row_ids_sha256": "31f7e50759794d461c487df67552c0e9dadc09c7d1f3bacf37439ebb3d53ce7c", "rows": 4603, "source_counts": {"Apache": 4603}}, "validation": {"first_sprint_entry": "2019-07-03 18:19:55", "labels_sha256": {"10": "8c03d406b835071918d88db533051714182fbedd5af692fc7850fc60de32e03c", "15": "8fa3275787c8dda7455744145853f8270c4e176e7b4517d8a6d7b6c201d40a8c", "20": "fb740deb80421ef36e90a30bf427ba8300e82b901bd1e22fe87ea8f6eb72c260", "5": "408cad00af9ebcd085da1275f87484aaa69268d62bd8a8cf2b5f3cf9a619837d"}, "last_sprint_entry": "2022-02-08 03:22:31", "positive_counts": {"10": 208, "15": 165, "20": 145, "5": 271}, "row_ids_sha256": "807e631475ee4a225686ba299c383ce17ab27c0bf436684ca5dfa9df6d7ff80c", "rows": 1534, "source_counts": {"Apache": 1534}}}, "Hyperledger": {"test": {"first_sprint_entry": "2019-02-27 04:31:03", "labels_sha256": {"10": "3cb1a6403998431c4d2ff82b2b65cdd98f25fce9823aa1d26284f63e79936512", "15": "839a1b3edae36d4dc951510e42ad83566d8d575f162690d290d41b38543f1d30", "20": "0515b222f86a674abeb45424646ea337d6e5612df2ea3b894878ff61b71b3323", "5": "63390c037ae92571e4217086374f7421a00611e76cd726566f38d34727810160"}, "last_sprint_entry": "2021-07-01 22:13:28", "positive_counts": {"10": 142, "15": 122, "20": 112, "5": 176}, "row_ids_sha256": "a141a1d826708a3474e44fb82a0d5fe4f9e413a0fd9e6d870ac62668cf5719ae", "rows": 964, "source_counts": {"Hyperledger": 964}}, "train": {"first_sprint_entry": "2016-08-12 14:07:02", "labels_sha256": {"10": "e93606192a479aba2ecc40cea937e9b1d5cc98cf74527550c4784ece2f5151dd", "15": "fe67f536d180fd09d69f925ceb84939fc34607760edeccd45106e5b155ef0c70", "20": "ce14dc5c410df2bef5d1c32c9032de69d7e70361a5b1e083b24f0a41e8ac50d0", "5": "37055dd8d79d04d4a600ebe901ffeb7c19a8c37291260c83a8a2e417c630b624"}, "last_sprint_entry": "2018-04-27 13:55:58", "positive_counts": {"10": 336, "15": 279, "20": 246, "5": 420}, "row_ids_sha256": "550111cd493cbe1d650f75433b8ea5dea3ad7e3c020200328ad47cd9b91c681c", "rows": 2889, "source_counts": {"Hyperledger": 2889}}, "validation": {"first_sprint_entry": "2018-04-27 15:22:44", "labels_sha256": {"10": "c3fa35fd799099aa7a8d5becfbceb9775a2d46e92049b8c17db742b293e2466c", "15": "97dbc69d82e43aa58a26d9f98e99bc75ee103aec1a403b0f24b2928a46a50006", "20": "d88680b2626a1f8965af99ca96f0363a45855024690256c2125c1bf6f9582eb3", "5": "cd597d35643ced74a4e755baa1aa69a983a0fc48b839559523fbdf78a09b83a5"}, "last_sprint_entry": "2019-02-27 04:29:28", "positive_counts": {"10": 135, "15": 115, "20": 98, "5": 158}, "row_ids_sha256": "38d1aa877f2f20d669570bdbebba8490f28d55dbb05b08026fc3de19d7764079", "rows": 963, "source_counts": {"Hyperledger": 963}}}, "IntelDAOS": {"test": {"first_sprint_entry": "2020-01-22 10:52:40", "labels_sha256": {"10": "2f4a5c525573fb240e588a18e20d6b30f07b4f09bb7b741ce83a3b60ec725607", "15": "5ab4c3307681b2ee300ff457375d9e84b2e803f7a5b497baf51c30d1b47f89be", "20": "1e8256a877ddca485fb18dd9b40d9a2e5e67449011cb1c2f1b8e2660f9a2cd6d", "5": "670721493da73072ae268137e2961a7ee4164392101163a292b5448091e77097"}, "last_sprint_entry": "2021-01-11 19:45:00", "positive_counts": {"10": 29, "15": 24, "20": 22, "5": 32}, "row_ids_sha256": "e194270d27ce6ee532348e561e05b2a8ebfb96c49736493fc18b10babad7b596", "rows": 334, "source_counts": {"IntelDAOS": 334}}, "train": {"first_sprint_entry": "2016-04-06 02:31:57", "labels_sha256": {"10": "03812c1096ede1ee4666243afb16cd2d6b8f1e5365bb9f82573b4439410cfc37", "15": "f7a7120d774d0aac10b99dcdc8c8530fcbab31b0c0b102778cbf0d875549ec1c", "20": "7c9d24409f56d5d199d9bf932dcba8cd12bd1babaf0ba4809061d8844bba6136", "5": "dc5b9ff27151dc0cda2de46e1268fcd6630742b55f26bf43d7e5ca831a7add37"}, "last_sprint_entry": "2019-01-29 12:34:36", "positive_counts": {"10": 80, "15": 54, "20": 39, "5": 126}, "row_ids_sha256": "50110dd6267bbe21a5d93775e462555ed9acf131a5543619cc74bd7d5b45c55e", "rows": 999, "source_counts": {"IntelDAOS": 999}}, "validation": {"first_sprint_entry": "2019-02-05 07:51:34", "labels_sha256": {"10": "1013d66a79e4e7ae2ede435c70d13426c3f1349aa9a8692e0500d73397044b5c", "15": "fc48a30eaf45a57977ef99bf66e830d55e07f04570530d7ccaaa3f79054f7cab", "20": "99363e8e8057dfe27ca2bc7da3bed2dcb974d1acdda496df5ead0b494888018c", "5": "32f7bce4da22f10aeafa4fb1125189e06bf8377d8e67d3cb9e726d396e03df12"}, "last_sprint_entry": "2020-01-22 10:52:40", "positive_counts": {"10": 42, "15": 38, "20": 30, "5": 52}, "row_ids_sha256": "27d791d7403024d341a4d5828828fc90afa482be5764720491b93c85d39fb4bf", "rows": 333, "source_counts": {"IntelDAOS": 333}}}, "Jira": {"test": {"first_sprint_entry": "2015-11-16 00:07:29", "labels_sha256": {"10": "9c3290378eaafa0e9265a8353ae00572e49180b51afd9d6715ab62d8378f407c", "15": "b72087165f606d7f3a6fc0b085150ddb08f2c1f36d268a8a76fbad2f1ee9e2c4", "20": "8c573e916c6ea59b04745da419903e53901f0330595f31588171349283b7b889", "5": "dea34cabf0831b42335c99b19ce5f42fdce6df1d713ad480891b56e6939a76b7"}, "last_sprint_entry": "2023-01-27 02:40:56", "positive_counts": {"10": 164, "15": 160, "20": 41, "5": 170}, "row_ids_sha256": "391abdec6c68bda5a77c5b4c50801221513238224174dd07c742498f06df9a6e", "rows": 316, "source_counts": {"Jira": 316}}, "train": {"first_sprint_entry": "2012-02-08 00:06:30", "labels_sha256": {"10": "46e8ac9ed835140edab34ea8f6e75c7e1eeac735920cf7072c8fb040bcd1afb2", "15": "2754e919e954b30e2f14206377081abb96e76564521b771d0023da38ee20bfec", "20": "420b6026e39a6127a93d1254fdf4450151df2a6dbab627d267dd767fd35b5ab8", "5": "a09807a1ec62babfeda13b224a09c2d66aa4a90317f9441f1f4816f7ce65954f"}, "last_sprint_entry": "2013-08-29 09:05:00", "positive_counts": {"10": 207, "15": 197, "20": 120, "5": 221}, "row_ids_sha256": "b89d2eae86f99e64643e46593c6b80763322ac19c2bddf038ba37c30112b2fe8", "rows": 944, "source_counts": {"Jira": 944}}, "validation": {"first_sprint_entry": "2013-08-29 12:21:51", "labels_sha256": {"10": "7c90bc725ed1b4d1e77a2bbbd7a5312127bc3902b97d701261a217f2cc72ba1d", "15": "eb3f1fb5d55f5757b2981043f5bb261cefaad084ac1f5908b3e991905da9fe4f", "20": "5ea3b8dac66768bba10b0c47833b435fc743b8f7027e5ad3b5c2d0c6dc089c16", "5": "662b1768b713b4a1af09bf788b0efd73b4c0fd1a79feaf7c0ac580c56860d9b0"}, "last_sprint_entry": "2015-11-16 00:07:26", "positive_counts": {"10": 152, "15": 143, "20": 19, "5": 154}, "row_ids_sha256": "4271654930c7aade78ab7690a945812082432576a04e35af633631d903a1b48b", "rows": 314, "source_counts": {"Jira": 314}}}, "MariaDB": {"test": {"first_sprint_entry": "2021-03-05 17:11:17", "labels_sha256": {"10": "73fdb824296a54d6599e554d97a940c83184c1a8b0735b0bae61e1e86e6c894d", "15": "1dfbc1dcfe8f1f92b4e09e1c9c3640d70a9d36f9196387aff6b6c70056f999a8", "20": "4f64a34bb0d73c4e71da3d6289e6c5a890ab4a9e7f45dcaeb5f725bfa7fc0c0d", "5": "605787edf0210f3ab6d92cbe2ff573c5d876221c178d62275a97cb56eecb8741"}, "last_sprint_entry": "2023-04-04 10:33:05", "positive_counts": {"10": 44, "15": 33, "20": 28, "5": 61}, "row_ids_sha256": "32569f81abe52dccb12160de2eb366b8e23217c85873d445c6dcc9ae5eba8733", "rows": 398, "source_counts": {"MariaDB": 398}}, "train": {"first_sprint_entry": "2014-05-27 14:43:09", "labels_sha256": {"10": "d72ff358f2bf1e68fb762d7fba5b71bf4d11dc45215a198a5c4c5194fda550c9", "15": "e4f0ed7efc097ffad796e8b1e011c7d5c260cfef3fbe4889190c9a12a22eb6f5", "20": "b8d0026caa3c8dfa170f9f299a1fa7ee00cd39d8d9e527746d40e6faee5c5d54", "5": "e41b7aecdb964a78dd6202f6647d91a9f6810c8e2066f82d2c4d8e5e32d0ebd9"}, "last_sprint_entry": "2019-02-04 16:44:24", "positive_counts": {"10": 100, "15": 84, "20": 77, "5": 125}, "row_ids_sha256": "6a15b9a09abfa1d7943452b9de7b48f1aa7389033984fb1ab0f4adb768e9e1e6", "rows": 1189, "source_counts": {"MariaDB": 1189}}, "validation": {"first_sprint_entry": "2019-02-05 07:53:45", "labels_sha256": {"10": "47c3415e4020cd171a3a3371af8c6c89753fc9df34cd2d66cd9c1e6d393a71ad", "15": "cbf41b692f44720ee0f1017c4709e34ea0ffb7cdfdc484f0c717028ceb58f3b6", "20": "f244dd8ef880f63fd1967be8084da46749b484aa40edde8c068eadd53f8841b7", "5": "8b9eba50812f9eb22e0db74c833e2080823a65fee9c36ba39821e1cb25583ae1"}, "last_sprint_entry": "2021-03-05 12:46:10", "positive_counts": {"10": 18, "15": 16, "20": 12, "5": 26}, "row_ids_sha256": "07c50b9e91fbdc52013a00aaa728136366303a2c1867b2aee250f56c6f52cee3", "rows": 396, "source_counts": {"MariaDB": 396}}}, "Qt": {"test": {"first_sprint_entry": "2022-08-24 15:41:42", "labels_sha256": {"10": "4e03f3dc1d44d4cf34784cf8fc6674d586e7807740843379139e7bbb410d5b44", "15": "c1fe2d3b66588159fd896d809743a39dc281795e1b2d05f3efa7a257bbaa1615", "20": "d75b2873386a37027779dca1c32d542d348c2c0d3428b010f4c5f33b2df5bd4b", "5": "c145429e724263786558baab4b9e7b4e16860eff5edbeb9f2864f859359c0dc0"}, "last_sprint_entry": "2023-04-27 18:22:56", "positive_counts": {"10": 60, "15": 43, "20": 34, "5": 118}, "row_ids_sha256": "348b2c748a858112d8e6ea3e97459a85df3f9159a1da7df1b2f651efcbf23399", "rows": 1223, "source_counts": {"Qt": 1223}}, "train": {"first_sprint_entry": "2016-11-17 12:16:04", "labels_sha256": {"10": "46f9ae77979394fd451b90309d64af33a21c0f3c76e3de7e24a0a5eae1116292", "15": "f4b7af42617a2addea043fe0219e35c4a338817aa073dc423d14ba5f1e3ba342", "20": "88457d102e22384997a15cb42ba17710983f3489ef3931252710e3367bb3a53f", "5": "17623f3a762e16ea180593f3d636fc85c21ba2d3a331dd48c75bc4d12f080d11"}, "last_sprint_entry": "2021-11-22 08:44:53", "positive_counts": {"10": 291, "15": 233, "20": 198, "5": 389}, "row_ids_sha256": "31a2e8a9b43077e1a1c3f3e9781ccb6fb4f5dc2aae34d048d8f7b611af373829", "rows": 3666, "source_counts": {"Qt": 3666}}, "validation": {"first_sprint_entry": "2021-11-22 08:49:29", "labels_sha256": {"10": "c54ce936b46a2f745c29f82f61ae8e5bf8be1204b62753f32dcef2a7a2235e2c", "15": "f763a8e1345bd9c1623a278cb8591f86005e8c0ccfdf9107e191aace9e5e27e3", "20": "789e06b22a2bb240c469037a4420a12827635b947e631f67c00251002d1fcc3f", "5": "99aa34a1c2e744d01c17d45e2bc4f34f18d7fa6a9e3bf312e4c51d5c40b69b2b"}, "last_sprint_entry": "2022-08-24 15:40:41", "positive_counts": {"10": 69, "15": 58, "20": 48, "5": 84}, "row_ids_sha256": "b642f38b0b53f23ae37afe02490b6d9d332957d2a68e8b852ebdc2ebd09b3181", "rows": 1222, "source_counts": {"Qt": 1222}}}}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Study: hf-20261008-modernbert-qwen. Report received October 19, 2026. Report SHA256: 7698fe31e652cc8d24fb2cc8ff8a443c2c1ec04ac3786cd9bf3dc0e6f4ec006a. Study SHA256: 111d8a78875a8263475514691b581904a9164855d91603ac7dc4e32f838a5095. Source: data/hf-20261008-report.json; counts from the frozen reference_contract.json. Reported metrics are not independently recomputed from raw predictions. Matched classical comparator selected by validation AUC-PRC in historical PR #357. Labels: &gt;= K changed words AND at least one summary/description/acceptance change. Test metrics are unweighted. Scores are retrospective; public-Jira pretraining contamination is possible. Paired issue bootstrap does not model temporal dependence.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"artifact_reference": {</a:t>
            </a:r>
          </a:p>
          <a:p>
            <a:r>
              <a:t>      "base": {</a:t>
            </a:r>
          </a:p>
          <a:p>
            <a:r>
              <a:t>        "id": "answerdotai/ModernBERT-base",</a:t>
            </a:r>
          </a:p>
          <a:p>
            <a:r>
              <a:t>        "license": "apache-2.0",</a:t>
            </a:r>
          </a:p>
          <a:p>
            <a:r>
              <a:t>        "lora_targets": [</a:t>
            </a:r>
          </a:p>
          <a:p>
            <a:r>
              <a:t>          "Wqkv",</a:t>
            </a:r>
          </a:p>
          <a:p>
            <a:r>
              <a:t>          "Wo"</a:t>
            </a:r>
          </a:p>
          <a:p>
            <a:r>
              <a:t>        ],</a:t>
            </a:r>
          </a:p>
          <a:p>
            <a:r>
              <a:t>        "parameters_billions": 0.149,</a:t>
            </a:r>
          </a:p>
          <a:p>
            <a:r>
              <a:t>        "pooling": "mean",</a:t>
            </a:r>
          </a:p>
          <a:p>
            <a:r>
              <a:t>        "profile_vram_gib": [</a:t>
            </a:r>
          </a:p>
          <a:p>
            <a:r>
              <a:t>          16,</a:t>
            </a:r>
          </a:p>
          <a:p>
            <a:r>
              <a:t>          24</a:t>
            </a:r>
          </a:p>
          <a:p>
            <a:r>
              <a:t>        ],</a:t>
            </a:r>
          </a:p>
          <a:p>
            <a:r>
              <a:t>        "quantize": false,</a:t>
            </a:r>
          </a:p>
          <a:p>
            <a:r>
              <a:t>        "revision": "8949b909ec900327062f0ebf497f51aef5e6f0c8"</a:t>
            </a:r>
          </a:p>
          <a:p>
            <a:r>
              <a:t>      },</a:t>
            </a:r>
          </a:p>
          <a:p>
            <a:r>
              <a:t>      "config_sha256": "2bc94a1680d72c09dc8a1a93e4f0806cc6e558c7ad21cdf328626690c7b33440",</a:t>
            </a:r>
          </a:p>
          <a:p>
            <a:r>
              <a:t>      "source_sha256": "974b8eebd00626edaa8d1b985055722bdaf3dd4d428612dfa6d47863abe771fe",</a:t>
            </a:r>
          </a:p>
          <a:p>
            <a:r>
              <a:t>      "study_relative_checkpoint": "finetune/Apache/modernbert/5/8bd6563dc53d12f9/checkpoint"</a:t>
            </a:r>
          </a:p>
          <a:p>
            <a:r>
              <a:t>    },</a:t>
            </a:r>
          </a:p>
          <a:p>
            <a:r>
              <a:t>    "baseline": {</a:t>
            </a:r>
          </a:p>
          <a:p>
            <a:r>
              <a:t>      "accuracy": 0.8768729641693811,</a:t>
            </a:r>
          </a:p>
          <a:p>
            <a:r>
              <a:t>      "auc_prc": 0.19186403840642263,</a:t>
            </a:r>
          </a:p>
          <a:p>
            <a:r>
              <a:t>      "average_precision": 0.19445281964389127,</a:t>
            </a:r>
          </a:p>
          <a:p>
            <a:r>
              <a:t>      "balanced_accuracy": 0.5026315789473684,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1345,</a:t>
            </a:r>
          </a:p>
          <a:p>
            <a:r>
              <a:t>          0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189,</a:t>
            </a:r>
          </a:p>
          <a:p>
            <a:r>
              <a:t>          1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0.010471204188481674,</a:t>
            </a:r>
          </a:p>
          <a:p>
            <a:r>
              <a:t>      "positive_count": 190,</a:t>
            </a:r>
          </a:p>
          <a:p>
            <a:r>
              <a:t>      "positive_rate": 0.1237785016286645,</a:t>
            </a:r>
          </a:p>
          <a:p>
            <a:r>
              <a:t>      "precision": 1.0,</a:t>
            </a:r>
          </a:p>
          <a:p>
            <a:r>
              <a:t>      "recall": 0.005263157894736842,</a:t>
            </a:r>
          </a:p>
          <a:p>
            <a:r>
              <a:t>      "roc_auc": 0.6139894345529251,</a:t>
            </a:r>
          </a:p>
          <a:p>
            <a:r>
              <a:t>      "row_count": 1535,</a:t>
            </a:r>
          </a:p>
          <a:p>
            <a:r>
              <a:t>      "threshold": 0.5</a:t>
            </a:r>
          </a:p>
          <a:p>
            <a:r>
              <a:t>    },</a:t>
            </a:r>
          </a:p>
          <a:p>
            <a:r>
              <a:t>    "baseline_identity": {</a:t>
            </a:r>
          </a:p>
          <a:p>
            <a:r>
              <a:t>      "model": "XGboost",</a:t>
            </a:r>
          </a:p>
          <a:p>
            <a:r>
              <a:t>      "variant": "baseline"</a:t>
            </a:r>
          </a:p>
          <a:p>
            <a:r>
              <a:t>    },</a:t>
            </a:r>
          </a:p>
          <a:p>
            <a:r>
              <a:t>    "checkpoint_files": {</a:t>
            </a:r>
          </a:p>
          <a:p>
            <a:r>
              <a:t>      "README.md": "1c3cd31011857e840541731d60873b89ed53b9aba73c783c76f34e8c5f5da47d",</a:t>
            </a:r>
          </a:p>
          <a:p>
            <a:r>
              <a:t>      "adapter/README.md": "4cd979bb30fd950c6e3c906d5a27a661b14a46e59c04abef57f2b1801c360fdf",</a:t>
            </a:r>
          </a:p>
          <a:p>
            <a:r>
              <a:t>      "adapter/adapter_config.json": "764c9c4d82140b677acd3983a491e6946ea766596b70339c1fa60e2ae6b8c71a",</a:t>
            </a:r>
          </a:p>
          <a:p>
            <a:r>
              <a:t>      "adapter/adapter_model.safetensors": "d52d5bf5509fc872457088994b079cef9ba870c1d3e8c9d72200150220c76085",</a:t>
            </a:r>
          </a:p>
          <a:p>
            <a:r>
              <a:t>      "head.safetensors": "e58eea27b35687fa2a8bf9b0311cf6a6d0a65335509aac63d0ed3297e568059b",</a:t>
            </a:r>
          </a:p>
          <a:p>
            <a:r>
              <a:t>      "inference.json": "3dc8267e42f489d208a3706d3c4cac939667fdaab4eeebcb1bf0d578df9a15c6"</a:t>
            </a:r>
          </a:p>
          <a:p>
            <a:r>
              <a:t>    },</a:t>
            </a:r>
          </a:p>
          <a:p>
            <a:r>
              <a:t>    "constant_score": {</a:t>
            </a:r>
          </a:p>
          <a:p>
            <a:r>
              <a:t>      "accuracy": 0.1237785016286645,</a:t>
            </a:r>
          </a:p>
          <a:p>
            <a:r>
              <a:t>      "auc_prc": 0.5618892508143323,</a:t>
            </a:r>
          </a:p>
          <a:p>
            <a:r>
              <a:t>      "average_precision": 0.1237785016286645,</a:t>
            </a:r>
          </a:p>
          <a:p>
            <a:r>
              <a:t>      "balanced_accuracy": 0.5,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1345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190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0.22028985507246376,</a:t>
            </a:r>
          </a:p>
          <a:p>
            <a:r>
              <a:t>      "positive_count": 190,</a:t>
            </a:r>
          </a:p>
          <a:p>
            <a:r>
              <a:t>      "positive_rate": 0.1237785016286645,</a:t>
            </a:r>
          </a:p>
          <a:p>
            <a:r>
              <a:t>      "precision": 0.1237785016286645,</a:t>
            </a:r>
          </a:p>
          <a:p>
            <a:r>
              <a:t>      "recall": 1.0,</a:t>
            </a:r>
          </a:p>
          <a:p>
            <a:r>
              <a:t>      "roc_auc": 0.5,</a:t>
            </a:r>
          </a:p>
          <a:p>
            <a:r>
              <a:t>      "row_count": 1535,</a:t>
            </a:r>
          </a:p>
          <a:p>
            <a:r>
              <a:t>      "threshold": 0.5</a:t>
            </a:r>
          </a:p>
          <a:p>
            <a:r>
              <a:t>    },</a:t>
            </a:r>
          </a:p>
          <a:p>
            <a:r>
              <a:t>    "gates": {</a:t>
            </a:r>
          </a:p>
          <a:p>
            <a:r>
              <a:t>      "ap_above_baseline": false,</a:t>
            </a:r>
          </a:p>
          <a:p>
            <a:r>
              <a:t>      "ap_above_prevalence": true,</a:t>
            </a:r>
          </a:p>
          <a:p>
            <a:r>
              <a:t>      "auc_prc_above_half": false,</a:t>
            </a:r>
          </a:p>
          <a:p>
            <a:r>
              <a:t>      "passed": false,</a:t>
            </a:r>
          </a:p>
          <a:p>
            <a:r>
              <a:t>      "roc_above_half": true,</a:t>
            </a:r>
          </a:p>
          <a:p>
            <a:r>
              <a:t>      "valid": true</a:t>
            </a:r>
          </a:p>
          <a:p>
            <a:r>
              <a:t>    },</a:t>
            </a:r>
          </a:p>
          <a:p>
            <a:r>
              <a:t>    "level": 5,</a:t>
            </a:r>
          </a:p>
          <a:p>
            <a:r>
              <a:t>    "model": "modernbert",</a:t>
            </a:r>
          </a:p>
          <a:p>
            <a:r>
              <a:t>    "project": "Apache",</a:t>
            </a:r>
          </a:p>
          <a:p>
            <a:r>
              <a:t>    "selection_sha256": "357e4bdbc82fe15fc0707b22227290fec1e644cd9aec36c221b9c464af1712d7",</a:t>
            </a:r>
          </a:p>
          <a:p>
            <a:r>
              <a:t>    "stage": "final-test",</a:t>
            </a:r>
          </a:p>
          <a:p>
            <a:r>
              <a:t>    "test": {</a:t>
            </a:r>
          </a:p>
          <a:p>
            <a:r>
              <a:t>      "accuracy": 0.5433224755700325,</a:t>
            </a:r>
          </a:p>
          <a:p>
            <a:r>
              <a:t>      "auc_prc": 0.1337142842220375,</a:t>
            </a:r>
          </a:p>
          <a:p>
            <a:r>
              <a:t>      "average_precision": 0.1353003267106328,</a:t>
            </a:r>
          </a:p>
          <a:p>
            <a:r>
              <a:t>      "balanced_accuracy": 0.5337605165329681,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735,</a:t>
            </a:r>
          </a:p>
          <a:p>
            <a:r>
              <a:t>          610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91,</a:t>
            </a:r>
          </a:p>
          <a:p>
            <a:r>
              <a:t>          99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0.22024471635150167,</a:t>
            </a:r>
          </a:p>
          <a:p>
            <a:r>
              <a:t>      "positive_count": 190,</a:t>
            </a:r>
          </a:p>
          <a:p>
            <a:r>
              <a:t>      "positive_rate": 0.1237785016286645,</a:t>
            </a:r>
          </a:p>
          <a:p>
            <a:r>
              <a:t>      "precision": 0.13963328631875882,</a:t>
            </a:r>
          </a:p>
          <a:p>
            <a:r>
              <a:t>      "recall": 0.5210526315789473,</a:t>
            </a:r>
          </a:p>
          <a:p>
            <a:r>
              <a:t>      "roc_auc": 0.5313989434552925,</a:t>
            </a:r>
          </a:p>
          <a:p>
            <a:r>
              <a:t>      "row_count": 1535,</a:t>
            </a:r>
          </a:p>
          <a:p>
            <a:r>
              <a:t>      "threshold": 0.06</a:t>
            </a:r>
          </a:p>
          <a:p>
            <a:r>
              <a:t>    },</a:t>
            </a:r>
          </a:p>
          <a:p>
            <a:r>
              <a:t>    "test_predictions_sha256": "08bb3a528308f9d9bda0cce112cdad5dd3d359f617564906b40060a09a5b1b17",</a:t>
            </a:r>
          </a:p>
          <a:p>
            <a:r>
              <a:t>    "uncertainty": {</a:t>
            </a:r>
          </a:p>
          <a:p>
            <a:r>
              <a:t>      "difference_95": {</a:t>
            </a:r>
          </a:p>
          <a:p>
            <a:r>
              <a:t>        "auc_prc": [</a:t>
            </a:r>
          </a:p>
          <a:p>
            <a:r>
              <a:t>          -0.10124239513308582,</a:t>
            </a:r>
          </a:p>
          <a:p>
            <a:r>
              <a:t>          -0.02410222052153001</a:t>
            </a:r>
          </a:p>
          <a:p>
            <a:r>
              <a:t>        ],</a:t>
            </a:r>
          </a:p>
          <a:p>
            <a:r>
              <a:t>        "average_precision": [</a:t>
            </a:r>
          </a:p>
          <a:p>
            <a:r>
              <a:t>          -0.10381096897105711,</a:t>
            </a:r>
          </a:p>
          <a:p>
            <a:r>
              <a:t>          -0.025045384932903363</a:t>
            </a:r>
          </a:p>
          <a:p>
            <a:r>
              <a:t>        ],</a:t>
            </a:r>
          </a:p>
          <a:p>
            <a:r>
              <a:t>        "roc_auc": [</a:t>
            </a:r>
          </a:p>
          <a:p>
            <a:r>
              <a:t>          -0.1235787117567873,</a:t>
            </a:r>
          </a:p>
          <a:p>
            <a:r>
              <a:t>          -0.03826802346856459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"method": "paired issue bootstrap; does not model temporal dependence",</a:t>
            </a:r>
          </a:p>
          <a:p>
            <a:r>
              <a:t>      "metrics_95": {</a:t>
            </a:r>
          </a:p>
          <a:p>
            <a:r>
              <a:t>        "auc_prc": [</a:t>
            </a:r>
          </a:p>
          <a:p>
            <a:r>
              <a:t>          0.11013314646059345,</a:t>
            </a:r>
          </a:p>
          <a:p>
            <a:r>
              <a:t>          0.16479921041693663</a:t>
            </a:r>
          </a:p>
          <a:p>
            <a:r>
              <a:t>        ],</a:t>
            </a:r>
          </a:p>
          <a:p>
            <a:r>
              <a:t>        "average_precision": [</a:t>
            </a:r>
          </a:p>
          <a:p>
            <a:r>
              <a:t>          0.11221221544357568,</a:t>
            </a:r>
          </a:p>
          <a:p>
            <a:r>
              <a:t>          0.167967967487942</a:t>
            </a:r>
          </a:p>
          <a:p>
            <a:r>
              <a:t>        ],</a:t>
            </a:r>
          </a:p>
          <a:p>
            <a:r>
              <a:t>        "roc_auc": [</a:t>
            </a:r>
          </a:p>
          <a:p>
            <a:r>
              <a:t>          0.49008521309257186,</a:t>
            </a:r>
          </a:p>
          <a:p>
            <a:r>
              <a:t>          0.5739226603312293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"requested_samples": 2000,</a:t>
            </a:r>
          </a:p>
          <a:p>
            <a:r>
              <a:t>      "valid_samples": 2000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"artifact_reference": {</a:t>
            </a:r>
          </a:p>
          <a:p>
            <a:r>
              <a:t>      "base": {</a:t>
            </a:r>
          </a:p>
          <a:p>
            <a:r>
              <a:t>        "id": "answerdotai/ModernBERT-base",</a:t>
            </a:r>
          </a:p>
          <a:p>
            <a:r>
              <a:t>        "license": "apache-2.0",</a:t>
            </a:r>
          </a:p>
          <a:p>
            <a:r>
              <a:t>        "lora_targets": [</a:t>
            </a:r>
          </a:p>
          <a:p>
            <a:r>
              <a:t>          "Wqkv",</a:t>
            </a:r>
          </a:p>
          <a:p>
            <a:r>
              <a:t>          "Wo"</a:t>
            </a:r>
          </a:p>
          <a:p>
            <a:r>
              <a:t>        ],</a:t>
            </a:r>
          </a:p>
          <a:p>
            <a:r>
              <a:t>        "parameters_billions": 0.149,</a:t>
            </a:r>
          </a:p>
          <a:p>
            <a:r>
              <a:t>        "pooling": "mean",</a:t>
            </a:r>
          </a:p>
          <a:p>
            <a:r>
              <a:t>        "profile_vram_gib": [</a:t>
            </a:r>
          </a:p>
          <a:p>
            <a:r>
              <a:t>          16,</a:t>
            </a:r>
          </a:p>
          <a:p>
            <a:r>
              <a:t>          24</a:t>
            </a:r>
          </a:p>
          <a:p>
            <a:r>
              <a:t>        ],</a:t>
            </a:r>
          </a:p>
          <a:p>
            <a:r>
              <a:t>        "quantize": false,</a:t>
            </a:r>
          </a:p>
          <a:p>
            <a:r>
              <a:t>        "revision": "8949b909ec900327062f0ebf497f51aef5e6f0c8"</a:t>
            </a:r>
          </a:p>
          <a:p>
            <a:r>
              <a:t>      },</a:t>
            </a:r>
          </a:p>
          <a:p>
            <a:r>
              <a:t>      "config_sha256": "2bc94a1680d72c09dc8a1a93e4f0806cc6e558c7ad21cdf328626690c7b33440",</a:t>
            </a:r>
          </a:p>
          <a:p>
            <a:r>
              <a:t>      "source_sha256": "974b8eebd00626edaa8d1b985055722bdaf3dd4d428612dfa6d47863abe771fe",</a:t>
            </a:r>
          </a:p>
          <a:p>
            <a:r>
              <a:t>      "study_relative_checkpoint": "frozen/Apache/modernbert/10/e3658a360fe21738/checkpoint"</a:t>
            </a:r>
          </a:p>
          <a:p>
            <a:r>
              <a:t>    },</a:t>
            </a:r>
          </a:p>
          <a:p>
            <a:r>
              <a:t>    "baseline": {</a:t>
            </a:r>
          </a:p>
          <a:p>
            <a:r>
              <a:t>      "accuracy": 0.6892508143322476,</a:t>
            </a:r>
          </a:p>
          <a:p>
            <a:r>
              <a:t>      "auc_prc": 0.11673850866307559,</a:t>
            </a:r>
          </a:p>
          <a:p>
            <a:r>
              <a:t>      "average_precision": 0.1201999676966554,</a:t>
            </a:r>
          </a:p>
          <a:p>
            <a:r>
              <a:t>      "balanced_accuracy": 0.6102741528414052,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997,</a:t>
            </a:r>
          </a:p>
          <a:p>
            <a:r>
              <a:t>          420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57,</a:t>
            </a:r>
          </a:p>
          <a:p>
            <a:r>
              <a:t>          61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0.20367278797996663,</a:t>
            </a:r>
          </a:p>
          <a:p>
            <a:r>
              <a:t>      "positive_count": 118,</a:t>
            </a:r>
          </a:p>
          <a:p>
            <a:r>
              <a:t>      "positive_rate": 0.07687296416938111,</a:t>
            </a:r>
          </a:p>
          <a:p>
            <a:r>
              <a:t>      "precision": 0.12681912681912683,</a:t>
            </a:r>
          </a:p>
          <a:p>
            <a:r>
              <a:t>      "recall": 0.5169491525423728,</a:t>
            </a:r>
          </a:p>
          <a:p>
            <a:r>
              <a:t>      "roc_auc": 0.6539358635455665,</a:t>
            </a:r>
          </a:p>
          <a:p>
            <a:r>
              <a:t>      "row_count": 1535,</a:t>
            </a:r>
          </a:p>
          <a:p>
            <a:r>
              <a:t>      "threshold": 0.5</a:t>
            </a:r>
          </a:p>
          <a:p>
            <a:r>
              <a:t>    },</a:t>
            </a:r>
          </a:p>
          <a:p>
            <a:r>
              <a:t>    "baseline_identity": {</a:t>
            </a:r>
          </a:p>
          <a:p>
            <a:r>
              <a:t>      "model": "XGboost",</a:t>
            </a:r>
          </a:p>
          <a:p>
            <a:r>
              <a:t>      "variant": "refactored"</a:t>
            </a:r>
          </a:p>
          <a:p>
            <a:r>
              <a:t>    },</a:t>
            </a:r>
          </a:p>
          <a:p>
            <a:r>
              <a:t>    "checkpoint_files": {</a:t>
            </a:r>
          </a:p>
          <a:p>
            <a:r>
              <a:t>      "README.md": "b5aa0f84a349e770a679bc01d9533faf2ccb47e91a3559a3aa92bd4d29781e45",</a:t>
            </a:r>
          </a:p>
          <a:p>
            <a:r>
              <a:t>      "head.safetensors": "7605730394df965b5ec0fc18b2dfa2bc2a91d560481300e5424b4a09556b1f4c",</a:t>
            </a:r>
          </a:p>
          <a:p>
            <a:r>
              <a:t>      "inference.json": "a1228960b8197c6600579ea83adfe068c50974df85062058224af1147cda9d74"</a:t>
            </a:r>
          </a:p>
          <a:p>
            <a:r>
              <a:t>    },</a:t>
            </a:r>
          </a:p>
          <a:p>
            <a:r>
              <a:t>    "constant_score": {</a:t>
            </a:r>
          </a:p>
          <a:p>
            <a:r>
              <a:t>      "accuracy": 0.07687296416938111,</a:t>
            </a:r>
          </a:p>
          <a:p>
            <a:r>
              <a:t>      "auc_prc": 0.5384364820846905,</a:t>
            </a:r>
          </a:p>
          <a:p>
            <a:r>
              <a:t>      "average_precision": 0.07687296416938111,</a:t>
            </a:r>
          </a:p>
          <a:p>
            <a:r>
              <a:t>      "balanced_accuracy": 0.5,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1417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118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0.1427707199032063,</a:t>
            </a:r>
          </a:p>
          <a:p>
            <a:r>
              <a:t>      "positive_count": 118,</a:t>
            </a:r>
          </a:p>
          <a:p>
            <a:r>
              <a:t>      "positive_rate": 0.07687296416938111,</a:t>
            </a:r>
          </a:p>
          <a:p>
            <a:r>
              <a:t>      "precision": 0.07687296416938111,</a:t>
            </a:r>
          </a:p>
          <a:p>
            <a:r>
              <a:t>      "recall": 1.0,</a:t>
            </a:r>
          </a:p>
          <a:p>
            <a:r>
              <a:t>      "roc_auc": 0.5,</a:t>
            </a:r>
          </a:p>
          <a:p>
            <a:r>
              <a:t>      "row_count": 1535,</a:t>
            </a:r>
          </a:p>
          <a:p>
            <a:r>
              <a:t>      "threshold": 0.5</a:t>
            </a:r>
          </a:p>
          <a:p>
            <a:r>
              <a:t>    },</a:t>
            </a:r>
          </a:p>
          <a:p>
            <a:r>
              <a:t>    "gates": {</a:t>
            </a:r>
          </a:p>
          <a:p>
            <a:r>
              <a:t>      "ap_above_baseline": false,</a:t>
            </a:r>
          </a:p>
          <a:p>
            <a:r>
              <a:t>      "ap_above_prevalence": true,</a:t>
            </a:r>
          </a:p>
          <a:p>
            <a:r>
              <a:t>      "auc_prc_above_half": false,</a:t>
            </a:r>
          </a:p>
          <a:p>
            <a:r>
              <a:t>      "passed": false,</a:t>
            </a:r>
          </a:p>
          <a:p>
            <a:r>
              <a:t>      "roc_above_half": true,</a:t>
            </a:r>
          </a:p>
          <a:p>
            <a:r>
              <a:t>      "valid": true</a:t>
            </a:r>
          </a:p>
          <a:p>
            <a:r>
              <a:t>    },</a:t>
            </a:r>
          </a:p>
          <a:p>
            <a:r>
              <a:t>    "level": 10,</a:t>
            </a:r>
          </a:p>
          <a:p>
            <a:r>
              <a:t>    "model": "modernbert",</a:t>
            </a:r>
          </a:p>
          <a:p>
            <a:r>
              <a:t>    "project": "Apache",</a:t>
            </a:r>
          </a:p>
          <a:p>
            <a:r>
              <a:t>    "selection_sha256": "7bb48f656282cb08961294dedd94ba55c12807e2b9cc8bddf388ff077ea69001",</a:t>
            </a:r>
          </a:p>
          <a:p>
            <a:r>
              <a:t>    "stage": "final-test",</a:t>
            </a:r>
          </a:p>
          <a:p>
            <a:r>
              <a:t>    "test": {</a:t>
            </a:r>
          </a:p>
          <a:p>
            <a:r>
              <a:t>      "accuracy": 0.9029315960912052,</a:t>
            </a:r>
          </a:p>
          <a:p>
            <a:r>
              <a:t>      "auc_prc": 0.09410919991815059,</a:t>
            </a:r>
          </a:p>
          <a:p>
            <a:r>
              <a:t>      "average_precision": 0.09570694286412822,</a:t>
            </a:r>
          </a:p>
          <a:p>
            <a:r>
              <a:t>      "balanced_accuracy": 0.49294582730284797,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1385,</a:t>
            </a:r>
          </a:p>
          <a:p>
            <a:r>
              <a:t>          32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117,</a:t>
            </a:r>
          </a:p>
          <a:p>
            <a:r>
              <a:t>          1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0.013245033112582781,</a:t>
            </a:r>
          </a:p>
          <a:p>
            <a:r>
              <a:t>      "positive_count": 118,</a:t>
            </a:r>
          </a:p>
          <a:p>
            <a:r>
              <a:t>      "positive_rate": 0.07687296416938111,</a:t>
            </a:r>
          </a:p>
          <a:p>
            <a:r>
              <a:t>      "precision": 0.030303030303030304,</a:t>
            </a:r>
          </a:p>
          <a:p>
            <a:r>
              <a:t>      "recall": 0.00847457627118644,</a:t>
            </a:r>
          </a:p>
          <a:p>
            <a:r>
              <a:t>      "roc_auc": 0.5969223592454816,</a:t>
            </a:r>
          </a:p>
          <a:p>
            <a:r>
              <a:t>      "row_count": 1535,</a:t>
            </a:r>
          </a:p>
          <a:p>
            <a:r>
              <a:t>      "threshold": 0.09999999999999999</a:t>
            </a:r>
          </a:p>
          <a:p>
            <a:r>
              <a:t>    },</a:t>
            </a:r>
          </a:p>
          <a:p>
            <a:r>
              <a:t>    "test_predictions_sha256": "b8d3668f587ebb5e7fd072b24bc98eb5d729704a92ca30f3b59128a7153bd0fd",</a:t>
            </a:r>
          </a:p>
          <a:p>
            <a:r>
              <a:t>    "uncertainty": {</a:t>
            </a:r>
          </a:p>
          <a:p>
            <a:r>
              <a:t>      "difference_95": {</a:t>
            </a:r>
          </a:p>
          <a:p>
            <a:r>
              <a:t>        "auc_prc": [</a:t>
            </a:r>
          </a:p>
          <a:p>
            <a:r>
              <a:t>          -0.047798703208413514,</a:t>
            </a:r>
          </a:p>
          <a:p>
            <a:r>
              <a:t>          -0.008662628685802726</a:t>
            </a:r>
          </a:p>
          <a:p>
            <a:r>
              <a:t>        ],</a:t>
            </a:r>
          </a:p>
          <a:p>
            <a:r>
              <a:t>        "average_precision": [</a:t>
            </a:r>
          </a:p>
          <a:p>
            <a:r>
              <a:t>          -0.05030022441623085,</a:t>
            </a:r>
          </a:p>
          <a:p>
            <a:r>
              <a:t>          -0.008776629773136844</a:t>
            </a:r>
          </a:p>
          <a:p>
            <a:r>
              <a:t>        ],</a:t>
            </a:r>
          </a:p>
          <a:p>
            <a:r>
              <a:t>        "roc_auc": [</a:t>
            </a:r>
          </a:p>
          <a:p>
            <a:r>
              <a:t>          -0.08342201881046318,</a:t>
            </a:r>
          </a:p>
          <a:p>
            <a:r>
              <a:t>          -0.03041066066985182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"method": "paired issue bootstrap; does not model temporal dependence",</a:t>
            </a:r>
          </a:p>
          <a:p>
            <a:r>
              <a:t>      "metrics_95": {</a:t>
            </a:r>
          </a:p>
          <a:p>
            <a:r>
              <a:t>        "auc_prc": [</a:t>
            </a:r>
          </a:p>
          <a:p>
            <a:r>
              <a:t>          0.07326587848158633,</a:t>
            </a:r>
          </a:p>
          <a:p>
            <a:r>
              <a:t>          0.11899523754176314</a:t>
            </a:r>
          </a:p>
          <a:p>
            <a:r>
              <a:t>        ],</a:t>
            </a:r>
          </a:p>
          <a:p>
            <a:r>
              <a:t>        "average_precision": [</a:t>
            </a:r>
          </a:p>
          <a:p>
            <a:r>
              <a:t>          0.07570468080239556,</a:t>
            </a:r>
          </a:p>
          <a:p>
            <a:r>
              <a:t>          0.12282008506196963</a:t>
            </a:r>
          </a:p>
          <a:p>
            <a:r>
              <a:t>        ],</a:t>
            </a:r>
          </a:p>
          <a:p>
            <a:r>
              <a:t>        "roc_auc": [</a:t>
            </a:r>
          </a:p>
          <a:p>
            <a:r>
              <a:t>          0.5466045937670281,</a:t>
            </a:r>
          </a:p>
          <a:p>
            <a:r>
              <a:t>          0.6468684711920804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"requested_samples": 2000,</a:t>
            </a:r>
          </a:p>
          <a:p>
            <a:r>
              <a:t>      "valid_samples": 2000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"artifact_reference": {</a:t>
            </a:r>
          </a:p>
          <a:p>
            <a:r>
              <a:t>      "base": {</a:t>
            </a:r>
          </a:p>
          <a:p>
            <a:r>
              <a:t>        "id": "answerdotai/ModernBERT-base",</a:t>
            </a:r>
          </a:p>
          <a:p>
            <a:r>
              <a:t>        "license": "apache-2.0",</a:t>
            </a:r>
          </a:p>
          <a:p>
            <a:r>
              <a:t>        "lora_targets": [</a:t>
            </a:r>
          </a:p>
          <a:p>
            <a:r>
              <a:t>          "Wqkv",</a:t>
            </a:r>
          </a:p>
          <a:p>
            <a:r>
              <a:t>          "Wo"</a:t>
            </a:r>
          </a:p>
          <a:p>
            <a:r>
              <a:t>        ],</a:t>
            </a:r>
          </a:p>
          <a:p>
            <a:r>
              <a:t>        "parameters_billions": 0.149,</a:t>
            </a:r>
          </a:p>
          <a:p>
            <a:r>
              <a:t>        "pooling": "mean",</a:t>
            </a:r>
          </a:p>
          <a:p>
            <a:r>
              <a:t>        "profile_vram_gib": [</a:t>
            </a:r>
          </a:p>
          <a:p>
            <a:r>
              <a:t>          16,</a:t>
            </a:r>
          </a:p>
          <a:p>
            <a:r>
              <a:t>          24</a:t>
            </a:r>
          </a:p>
          <a:p>
            <a:r>
              <a:t>        ],</a:t>
            </a:r>
          </a:p>
          <a:p>
            <a:r>
              <a:t>        "quantize": false,</a:t>
            </a:r>
          </a:p>
          <a:p>
            <a:r>
              <a:t>        "revision": "8949b909ec900327062f0ebf497f51aef5e6f0c8"</a:t>
            </a:r>
          </a:p>
          <a:p>
            <a:r>
              <a:t>      },</a:t>
            </a:r>
          </a:p>
          <a:p>
            <a:r>
              <a:t>      "config_sha256": "2bc94a1680d72c09dc8a1a93e4f0806cc6e558c7ad21cdf328626690c7b33440",</a:t>
            </a:r>
          </a:p>
          <a:p>
            <a:r>
              <a:t>      "source_sha256": "974b8eebd00626edaa8d1b985055722bdaf3dd4d428612dfa6d47863abe771fe",</a:t>
            </a:r>
          </a:p>
          <a:p>
            <a:r>
              <a:t>      "study_relative_checkpoint": "frozen/Apache/modernbert/15/e3658a360fe21738/checkpoint"</a:t>
            </a:r>
          </a:p>
          <a:p>
            <a:r>
              <a:t>    },</a:t>
            </a:r>
          </a:p>
          <a:p>
            <a:r>
              <a:t>    "baseline": {</a:t>
            </a:r>
          </a:p>
          <a:p>
            <a:r>
              <a:t>      "accuracy": 0.641042345276873,</a:t>
            </a:r>
          </a:p>
          <a:p>
            <a:r>
              <a:t>      "auc_prc": 0.0964500311122774,</a:t>
            </a:r>
          </a:p>
          <a:p>
            <a:r>
              <a:t>      "average_precision": 0.09971765671814088,</a:t>
            </a:r>
          </a:p>
          <a:p>
            <a:r>
              <a:t>      "balanced_accuracy": 0.6764566033250123,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926,</a:t>
            </a:r>
          </a:p>
          <a:p>
            <a:r>
              <a:t>          528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23,</a:t>
            </a:r>
          </a:p>
          <a:p>
            <a:r>
              <a:t>          58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0.17391304347826086,</a:t>
            </a:r>
          </a:p>
          <a:p>
            <a:r>
              <a:t>      "positive_count": 81,</a:t>
            </a:r>
          </a:p>
          <a:p>
            <a:r>
              <a:t>      "positive_rate": 0.05276872964169381,</a:t>
            </a:r>
          </a:p>
          <a:p>
            <a:r>
              <a:t>      "precision": 0.09897610921501707,</a:t>
            </a:r>
          </a:p>
          <a:p>
            <a:r>
              <a:t>      "recall": 0.7160493827160493,</a:t>
            </a:r>
          </a:p>
          <a:p>
            <a:r>
              <a:t>      "roc_auc": 0.7046164688301323,</a:t>
            </a:r>
          </a:p>
          <a:p>
            <a:r>
              <a:t>      "row_count": 1535,</a:t>
            </a:r>
          </a:p>
          <a:p>
            <a:r>
              <a:t>      "threshold": 0.5</a:t>
            </a:r>
          </a:p>
          <a:p>
            <a:r>
              <a:t>    },</a:t>
            </a:r>
          </a:p>
          <a:p>
            <a:r>
              <a:t>    "baseline_identity": {</a:t>
            </a:r>
          </a:p>
          <a:p>
            <a:r>
              <a:t>      "model": "XGboost",</a:t>
            </a:r>
          </a:p>
          <a:p>
            <a:r>
              <a:t>      "variant": "refactored"</a:t>
            </a:r>
          </a:p>
          <a:p>
            <a:r>
              <a:t>    },</a:t>
            </a:r>
          </a:p>
          <a:p>
            <a:r>
              <a:t>    "checkpoint_files": {</a:t>
            </a:r>
          </a:p>
          <a:p>
            <a:r>
              <a:t>      "README.md": "5def13a06d09a59271b2b69e38b95992296cc0723fdf2bc636c2d91246ec5783",</a:t>
            </a:r>
          </a:p>
          <a:p>
            <a:r>
              <a:t>      "head.safetensors": "5129d533acf226609ee3bab424d2a6aa4fa551d4fa20ec2cf5a0d2b4697062c0",</a:t>
            </a:r>
          </a:p>
          <a:p>
            <a:r>
              <a:t>      "inference.json": "21213fc877d2b57e7df382617e360bf66ea4b229ee9ce57fed5afea18bd17aba"</a:t>
            </a:r>
          </a:p>
          <a:p>
            <a:r>
              <a:t>    },</a:t>
            </a:r>
          </a:p>
          <a:p>
            <a:r>
              <a:t>    "constant_score": {</a:t>
            </a:r>
          </a:p>
          <a:p>
            <a:r>
              <a:t>      "accuracy": 0.05276872964169381,</a:t>
            </a:r>
          </a:p>
          <a:p>
            <a:r>
              <a:t>      "auc_prc": 0.5263843648208469,</a:t>
            </a:r>
          </a:p>
          <a:p>
            <a:r>
              <a:t>      "average_precision": 0.05276872964169381,</a:t>
            </a:r>
          </a:p>
          <a:p>
            <a:r>
              <a:t>      "balanced_accuracy": 0.5,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1454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81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0.10024752475247524,</a:t>
            </a:r>
          </a:p>
          <a:p>
            <a:r>
              <a:t>      "positive_count": 81,</a:t>
            </a:r>
          </a:p>
          <a:p>
            <a:r>
              <a:t>      "positive_rate": 0.05276872964169381,</a:t>
            </a:r>
          </a:p>
          <a:p>
            <a:r>
              <a:t>      "precision": 0.05276872964169381,</a:t>
            </a:r>
          </a:p>
          <a:p>
            <a:r>
              <a:t>      "recall": 1.0,</a:t>
            </a:r>
          </a:p>
          <a:p>
            <a:r>
              <a:t>      "roc_auc": 0.5,</a:t>
            </a:r>
          </a:p>
          <a:p>
            <a:r>
              <a:t>      "row_count": 1535,</a:t>
            </a:r>
          </a:p>
          <a:p>
            <a:r>
              <a:t>      "threshold": 0.5</a:t>
            </a:r>
          </a:p>
          <a:p>
            <a:r>
              <a:t>    },</a:t>
            </a:r>
          </a:p>
          <a:p>
            <a:r>
              <a:t>    "gates": {</a:t>
            </a:r>
          </a:p>
          <a:p>
            <a:r>
              <a:t>      "ap_above_baseline": false,</a:t>
            </a:r>
          </a:p>
          <a:p>
            <a:r>
              <a:t>      "ap_above_prevalence": true,</a:t>
            </a:r>
          </a:p>
          <a:p>
            <a:r>
              <a:t>      "auc_prc_above_half": false,</a:t>
            </a:r>
          </a:p>
          <a:p>
            <a:r>
              <a:t>      "passed": false,</a:t>
            </a:r>
          </a:p>
          <a:p>
            <a:r>
              <a:t>      "roc_above_half": true,</a:t>
            </a:r>
          </a:p>
          <a:p>
            <a:r>
              <a:t>      "valid": true</a:t>
            </a:r>
          </a:p>
          <a:p>
            <a:r>
              <a:t>    },</a:t>
            </a:r>
          </a:p>
          <a:p>
            <a:r>
              <a:t>    "level": 15,</a:t>
            </a:r>
          </a:p>
          <a:p>
            <a:r>
              <a:t>    "model": "modernbert",</a:t>
            </a:r>
          </a:p>
          <a:p>
            <a:r>
              <a:t>    "project": "Apache",</a:t>
            </a:r>
          </a:p>
          <a:p>
            <a:r>
              <a:t>    "selection_sha256": "26b3e640db21a1141583e6a050653149c2df80092aa57d01e0dc071a64d9e2ee",</a:t>
            </a:r>
          </a:p>
          <a:p>
            <a:r>
              <a:t>    "stage": "final-test",</a:t>
            </a:r>
          </a:p>
          <a:p>
            <a:r>
              <a:t>    "test": {</a:t>
            </a:r>
          </a:p>
          <a:p>
            <a:r>
              <a:t>      "accuracy": 0.9433224755700326,</a:t>
            </a:r>
          </a:p>
          <a:p>
            <a:r>
              <a:t>      "auc_prc": 0.08211185457783239,</a:t>
            </a:r>
          </a:p>
          <a:p>
            <a:r>
              <a:t>      "average_precision": 0.08426775786553185,</a:t>
            </a:r>
          </a:p>
          <a:p>
            <a:r>
              <a:t>      "balanced_accuracy": 0.49793672627235214,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1448,</a:t>
            </a:r>
          </a:p>
          <a:p>
            <a:r>
              <a:t>          6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81,</a:t>
            </a:r>
          </a:p>
          <a:p>
            <a:r>
              <a:t>          0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0.0,</a:t>
            </a:r>
          </a:p>
          <a:p>
            <a:r>
              <a:t>      "positive_count": 81,</a:t>
            </a:r>
          </a:p>
          <a:p>
            <a:r>
              <a:t>      "positive_rate": 0.05276872964169381,</a:t>
            </a:r>
          </a:p>
          <a:p>
            <a:r>
              <a:t>      "precision": 0.0,</a:t>
            </a:r>
          </a:p>
          <a:p>
            <a:r>
              <a:t>      "recall": 0.0,</a:t>
            </a:r>
          </a:p>
          <a:p>
            <a:r>
              <a:t>      "roc_auc": 0.6636778915550121,</a:t>
            </a:r>
          </a:p>
          <a:p>
            <a:r>
              <a:t>      "row_count": 1535,</a:t>
            </a:r>
          </a:p>
          <a:p>
            <a:r>
              <a:t>      "threshold": 0.12</a:t>
            </a:r>
          </a:p>
          <a:p>
            <a:r>
              <a:t>    },</a:t>
            </a:r>
          </a:p>
          <a:p>
            <a:r>
              <a:t>    "test_predictions_sha256": "0270ea68c00c71e98e96895aaf1f2dca44da737dc6b6f36a8d9ef565ed96f6d7",</a:t>
            </a:r>
          </a:p>
          <a:p>
            <a:r>
              <a:t>    "uncertainty": {</a:t>
            </a:r>
          </a:p>
          <a:p>
            <a:r>
              <a:t>      "difference_95": {</a:t>
            </a:r>
          </a:p>
          <a:p>
            <a:r>
              <a:t>        "auc_prc": [</a:t>
            </a:r>
          </a:p>
          <a:p>
            <a:r>
              <a:t>          -0.03473245070862306,</a:t>
            </a:r>
          </a:p>
          <a:p>
            <a:r>
              <a:t>          0.004421798822714705</a:t>
            </a:r>
          </a:p>
          <a:p>
            <a:r>
              <a:t>        ],</a:t>
            </a:r>
          </a:p>
          <a:p>
            <a:r>
              <a:t>        "average_precision": [</a:t>
            </a:r>
          </a:p>
          <a:p>
            <a:r>
              <a:t>          -0.040469527077514285,</a:t>
            </a:r>
          </a:p>
          <a:p>
            <a:r>
              <a:t>          0.0056250581910618795</a:t>
            </a:r>
          </a:p>
          <a:p>
            <a:r>
              <a:t>        ],</a:t>
            </a:r>
          </a:p>
          <a:p>
            <a:r>
              <a:t>        "roc_auc": [</a:t>
            </a:r>
          </a:p>
          <a:p>
            <a:r>
              <a:t>          -0.07769868190283222,</a:t>
            </a:r>
          </a:p>
          <a:p>
            <a:r>
              <a:t>          -0.0020976218475271423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"method": "paired issue bootstrap; does not model temporal dependence",</a:t>
            </a:r>
          </a:p>
          <a:p>
            <a:r>
              <a:t>      "metrics_95": {</a:t>
            </a:r>
          </a:p>
          <a:p>
            <a:r>
              <a:t>        "auc_prc": [</a:t>
            </a:r>
          </a:p>
          <a:p>
            <a:r>
              <a:t>          0.060016770797670226,</a:t>
            </a:r>
          </a:p>
          <a:p>
            <a:r>
              <a:t>          0.10966393536920642</a:t>
            </a:r>
          </a:p>
          <a:p>
            <a:r>
              <a:t>        ],</a:t>
            </a:r>
          </a:p>
          <a:p>
            <a:r>
              <a:t>        "average_precision": [</a:t>
            </a:r>
          </a:p>
          <a:p>
            <a:r>
              <a:t>          0.06295445559293364,</a:t>
            </a:r>
          </a:p>
          <a:p>
            <a:r>
              <a:t>          0.11554732591250337</a:t>
            </a:r>
          </a:p>
          <a:p>
            <a:r>
              <a:t>        ],</a:t>
            </a:r>
          </a:p>
          <a:p>
            <a:r>
              <a:t>        "roc_auc": [</a:t>
            </a:r>
          </a:p>
          <a:p>
            <a:r>
              <a:t>          0.6081596370793244,</a:t>
            </a:r>
          </a:p>
          <a:p>
            <a:r>
              <a:t>          0.7198558202423461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"requested_samples": 2000,</a:t>
            </a:r>
          </a:p>
          <a:p>
            <a:r>
              <a:t>      "valid_samples": 2000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"artifact_reference": {</a:t>
            </a:r>
          </a:p>
          <a:p>
            <a:r>
              <a:t>      "base": {</a:t>
            </a:r>
          </a:p>
          <a:p>
            <a:r>
              <a:t>        "id": "answerdotai/ModernBERT-base",</a:t>
            </a:r>
          </a:p>
          <a:p>
            <a:r>
              <a:t>        "license": "apache-2.0",</a:t>
            </a:r>
          </a:p>
          <a:p>
            <a:r>
              <a:t>        "lora_targets": [</a:t>
            </a:r>
          </a:p>
          <a:p>
            <a:r>
              <a:t>          "Wqkv",</a:t>
            </a:r>
          </a:p>
          <a:p>
            <a:r>
              <a:t>          "Wo"</a:t>
            </a:r>
          </a:p>
          <a:p>
            <a:r>
              <a:t>        ],</a:t>
            </a:r>
          </a:p>
          <a:p>
            <a:r>
              <a:t>        "parameters_billions": 0.149,</a:t>
            </a:r>
          </a:p>
          <a:p>
            <a:r>
              <a:t>        "pooling": "mean",</a:t>
            </a:r>
          </a:p>
          <a:p>
            <a:r>
              <a:t>        "profile_vram_gib": [</a:t>
            </a:r>
          </a:p>
          <a:p>
            <a:r>
              <a:t>          16,</a:t>
            </a:r>
          </a:p>
          <a:p>
            <a:r>
              <a:t>          24</a:t>
            </a:r>
          </a:p>
          <a:p>
            <a:r>
              <a:t>        ],</a:t>
            </a:r>
          </a:p>
          <a:p>
            <a:r>
              <a:t>        "quantize": false,</a:t>
            </a:r>
          </a:p>
          <a:p>
            <a:r>
              <a:t>        "revision": "8949b909ec900327062f0ebf497f51aef5e6f0c8"</a:t>
            </a:r>
          </a:p>
          <a:p>
            <a:r>
              <a:t>      },</a:t>
            </a:r>
          </a:p>
          <a:p>
            <a:r>
              <a:t>      "config_sha256": "2bc94a1680d72c09dc8a1a93e4f0806cc6e558c7ad21cdf328626690c7b33440",</a:t>
            </a:r>
          </a:p>
          <a:p>
            <a:r>
              <a:t>      "source_sha256": "974b8eebd00626edaa8d1b985055722bdaf3dd4d428612dfa6d47863abe771fe",</a:t>
            </a:r>
          </a:p>
          <a:p>
            <a:r>
              <a:t>      "study_relative_checkpoint": "frozen/Apache/modernbert/20/e3658a360fe21738/checkpoint"</a:t>
            </a:r>
          </a:p>
          <a:p>
            <a:r>
              <a:t>    },</a:t>
            </a:r>
          </a:p>
          <a:p>
            <a:r>
              <a:t>    "baseline": {</a:t>
            </a:r>
          </a:p>
          <a:p>
            <a:r>
              <a:t>      "accuracy": 0.6859934853420195,</a:t>
            </a:r>
          </a:p>
          <a:p>
            <a:r>
              <a:t>      "auc_prc": 0.07660777122663817,</a:t>
            </a:r>
          </a:p>
          <a:p>
            <a:r>
              <a:t>      "average_precision": 0.07979742460932318,</a:t>
            </a:r>
          </a:p>
          <a:p>
            <a:r>
              <a:t>      "balanced_accuracy": 0.6658685866519682,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1015,</a:t>
            </a:r>
          </a:p>
          <a:p>
            <a:r>
              <a:t>          461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21,</a:t>
            </a:r>
          </a:p>
          <a:p>
            <a:r>
              <a:t>          38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0.13620071684587814,</a:t>
            </a:r>
          </a:p>
          <a:p>
            <a:r>
              <a:t>      "positive_count": 59,</a:t>
            </a:r>
          </a:p>
          <a:p>
            <a:r>
              <a:t>      "positive_rate": 0.038436482084690554,</a:t>
            </a:r>
          </a:p>
          <a:p>
            <a:r>
              <a:t>      "precision": 0.07615230460921844,</a:t>
            </a:r>
          </a:p>
          <a:p>
            <a:r>
              <a:t>      "recall": 0.6440677966101694,</a:t>
            </a:r>
          </a:p>
          <a:p>
            <a:r>
              <a:t>      "roc_auc": 0.7377761701345827,</a:t>
            </a:r>
          </a:p>
          <a:p>
            <a:r>
              <a:t>      "row_count": 1535,</a:t>
            </a:r>
          </a:p>
          <a:p>
            <a:r>
              <a:t>      "threshold": 0.5</a:t>
            </a:r>
          </a:p>
          <a:p>
            <a:r>
              <a:t>    },</a:t>
            </a:r>
          </a:p>
          <a:p>
            <a:r>
              <a:t>    "baseline_identity": {</a:t>
            </a:r>
          </a:p>
          <a:p>
            <a:r>
              <a:t>      "model": "XGboost",</a:t>
            </a:r>
          </a:p>
          <a:p>
            <a:r>
              <a:t>      "variant": "refactored"</a:t>
            </a:r>
          </a:p>
          <a:p>
            <a:r>
              <a:t>    },</a:t>
            </a:r>
          </a:p>
          <a:p>
            <a:r>
              <a:t>    "checkpoint_files": {</a:t>
            </a:r>
          </a:p>
          <a:p>
            <a:r>
              <a:t>      "README.md": "1e5688478c19eee6bd69dd6b1e0e8150d4a0a42c9d59ec5835ad5cf69d725c2e",</a:t>
            </a:r>
          </a:p>
          <a:p>
            <a:r>
              <a:t>      "head.safetensors": "c5fd5afcbb05a6cee9558d0408f871dc0992ec861dd01e79d6e32ed697d8eb31",</a:t>
            </a:r>
          </a:p>
          <a:p>
            <a:r>
              <a:t>      "inference.json": "d7584bf6fc59fe8970ace3ed775e96abefc757c1b5e953f6e52b375783a1077d"</a:t>
            </a:r>
          </a:p>
          <a:p>
            <a:r>
              <a:t>    },</a:t>
            </a:r>
          </a:p>
          <a:p>
            <a:r>
              <a:t>    "constant_score": {</a:t>
            </a:r>
          </a:p>
          <a:p>
            <a:r>
              <a:t>      "accuracy": 0.038436482084690554,</a:t>
            </a:r>
          </a:p>
          <a:p>
            <a:r>
              <a:t>      "auc_prc": 0.5192182410423453,</a:t>
            </a:r>
          </a:p>
          <a:p>
            <a:r>
              <a:t>      "average_precision": 0.038436482084690554,</a:t>
            </a:r>
          </a:p>
          <a:p>
            <a:r>
              <a:t>      "balanced_accuracy": 0.5,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1476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59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0.0740276035131744,</a:t>
            </a:r>
          </a:p>
          <a:p>
            <a:r>
              <a:t>      "positive_count": 59,</a:t>
            </a:r>
          </a:p>
          <a:p>
            <a:r>
              <a:t>      "positive_rate": 0.038436482084690554,</a:t>
            </a:r>
          </a:p>
          <a:p>
            <a:r>
              <a:t>      "precision": 0.038436482084690554,</a:t>
            </a:r>
          </a:p>
          <a:p>
            <a:r>
              <a:t>      "recall": 1.0,</a:t>
            </a:r>
          </a:p>
          <a:p>
            <a:r>
              <a:t>      "roc_auc": 0.5,</a:t>
            </a:r>
          </a:p>
          <a:p>
            <a:r>
              <a:t>      "row_count": 1535,</a:t>
            </a:r>
          </a:p>
          <a:p>
            <a:r>
              <a:t>      "threshold": 0.5</a:t>
            </a:r>
          </a:p>
          <a:p>
            <a:r>
              <a:t>    },</a:t>
            </a:r>
          </a:p>
          <a:p>
            <a:r>
              <a:t>    "gates": {</a:t>
            </a:r>
          </a:p>
          <a:p>
            <a:r>
              <a:t>      "ap_above_baseline": false,</a:t>
            </a:r>
          </a:p>
          <a:p>
            <a:r>
              <a:t>      "ap_above_prevalence": true,</a:t>
            </a:r>
          </a:p>
          <a:p>
            <a:r>
              <a:t>      "auc_prc_above_half": false,</a:t>
            </a:r>
          </a:p>
          <a:p>
            <a:r>
              <a:t>      "passed": false,</a:t>
            </a:r>
          </a:p>
          <a:p>
            <a:r>
              <a:t>      "roc_above_half": true,</a:t>
            </a:r>
          </a:p>
          <a:p>
            <a:r>
              <a:t>      "valid": true</a:t>
            </a:r>
          </a:p>
          <a:p>
            <a:r>
              <a:t>    },</a:t>
            </a:r>
          </a:p>
          <a:p>
            <a:r>
              <a:t>    "level": 20,</a:t>
            </a:r>
          </a:p>
          <a:p>
            <a:r>
              <a:t>    "model": "modernbert",</a:t>
            </a:r>
          </a:p>
          <a:p>
            <a:r>
              <a:t>    "project": "Apache",</a:t>
            </a:r>
          </a:p>
          <a:p>
            <a:r>
              <a:t>    "selection_sha256": "624b009374ee52acd70c2485260432c3c10a085bf3e730b77db931a20a61791f",</a:t>
            </a:r>
          </a:p>
          <a:p>
            <a:r>
              <a:t>    "stage": "final-test",</a:t>
            </a:r>
          </a:p>
          <a:p>
            <a:r>
              <a:t>    "test": {</a:t>
            </a:r>
          </a:p>
          <a:p>
            <a:r>
              <a:t>      "accuracy": 0.9596091205211726,</a:t>
            </a:r>
          </a:p>
          <a:p>
            <a:r>
              <a:t>      "auc_prc": 0.057819063834194794,</a:t>
            </a:r>
          </a:p>
          <a:p>
            <a:r>
              <a:t>      "average_precision": 0.05994170814833726,</a:t>
            </a:r>
          </a:p>
          <a:p>
            <a:r>
              <a:t>      "balanced_accuracy": 0.49898373983739835,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1473,</a:t>
            </a:r>
          </a:p>
          <a:p>
            <a:r>
              <a:t>          3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59,</a:t>
            </a:r>
          </a:p>
          <a:p>
            <a:r>
              <a:t>          0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0.0,</a:t>
            </a:r>
          </a:p>
          <a:p>
            <a:r>
              <a:t>      "positive_count": 59,</a:t>
            </a:r>
          </a:p>
          <a:p>
            <a:r>
              <a:t>      "positive_rate": 0.038436482084690554,</a:t>
            </a:r>
          </a:p>
          <a:p>
            <a:r>
              <a:t>      "precision": 0.0,</a:t>
            </a:r>
          </a:p>
          <a:p>
            <a:r>
              <a:t>      "recall": 0.0,</a:t>
            </a:r>
          </a:p>
          <a:p>
            <a:r>
              <a:t>      "roc_auc": 0.6668159478204951,</a:t>
            </a:r>
          </a:p>
          <a:p>
            <a:r>
              <a:t>      "row_count": 1535,</a:t>
            </a:r>
          </a:p>
          <a:p>
            <a:r>
              <a:t>      "threshold": 0.10999999999999999</a:t>
            </a:r>
          </a:p>
          <a:p>
            <a:r>
              <a:t>    },</a:t>
            </a:r>
          </a:p>
          <a:p>
            <a:r>
              <a:t>    "test_predictions_sha256": "a46b82c250b262780ff252e9423b30e24908b5470102819652b17234d2e1e6a8",</a:t>
            </a:r>
          </a:p>
          <a:p>
            <a:r>
              <a:t>    "uncertainty": {</a:t>
            </a:r>
          </a:p>
          <a:p>
            <a:r>
              <a:t>      "difference_95": {</a:t>
            </a:r>
          </a:p>
          <a:p>
            <a:r>
              <a:t>        "auc_prc": [</a:t>
            </a:r>
          </a:p>
          <a:p>
            <a:r>
              <a:t>          -0.040964269424685895,</a:t>
            </a:r>
          </a:p>
          <a:p>
            <a:r>
              <a:t>          -0.00193282874618606</a:t>
            </a:r>
          </a:p>
          <a:p>
            <a:r>
              <a:t>        ],</a:t>
            </a:r>
          </a:p>
          <a:p>
            <a:r>
              <a:t>        "average_precision": [</a:t>
            </a:r>
          </a:p>
          <a:p>
            <a:r>
              <a:t>          -0.047180166687732186,</a:t>
            </a:r>
          </a:p>
          <a:p>
            <a:r>
              <a:t>          -0.00100443882388862</a:t>
            </a:r>
          </a:p>
          <a:p>
            <a:r>
              <a:t>        ],</a:t>
            </a:r>
          </a:p>
          <a:p>
            <a:r>
              <a:t>        "roc_auc": [</a:t>
            </a:r>
          </a:p>
          <a:p>
            <a:r>
              <a:t>          -0.1174374555604841,</a:t>
            </a:r>
          </a:p>
          <a:p>
            <a:r>
              <a:t>          -0.023381348611462648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"method": "paired issue bootstrap; does not model temporal dependence",</a:t>
            </a:r>
          </a:p>
          <a:p>
            <a:r>
              <a:t>      "metrics_95": {</a:t>
            </a:r>
          </a:p>
          <a:p>
            <a:r>
              <a:t>        "auc_prc": [</a:t>
            </a:r>
          </a:p>
          <a:p>
            <a:r>
              <a:t>          0.040676065051556964,</a:t>
            </a:r>
          </a:p>
          <a:p>
            <a:r>
              <a:t>          0.08043688079137473</a:t>
            </a:r>
          </a:p>
          <a:p>
            <a:r>
              <a:t>        ],</a:t>
            </a:r>
          </a:p>
          <a:p>
            <a:r>
              <a:t>        "average_precision": [</a:t>
            </a:r>
          </a:p>
          <a:p>
            <a:r>
              <a:t>          0.04368093976327245,</a:t>
            </a:r>
          </a:p>
          <a:p>
            <a:r>
              <a:t>          0.08649768085822944</a:t>
            </a:r>
          </a:p>
          <a:p>
            <a:r>
              <a:t>        ],</a:t>
            </a:r>
          </a:p>
          <a:p>
            <a:r>
              <a:t>        "roc_auc": [</a:t>
            </a:r>
          </a:p>
          <a:p>
            <a:r>
              <a:t>          0.6068656672398365,</a:t>
            </a:r>
          </a:p>
          <a:p>
            <a:r>
              <a:t>          0.7216932814935555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"requested_samples": 2000,</a:t>
            </a:r>
          </a:p>
          <a:p>
            <a:r>
              <a:t>      "valid_samples": 2000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Study: hf-20261008-modernbert-qwen. Report received October 19, 2026. Report SHA256: 7698fe31e652cc8d24fb2cc8ff8a443c2c1ec04ac3786cd9bf3dc0e6f4ec006a. Study SHA256: 111d8a78875a8263475514691b581904a9164855d91603ac7dc4e32f838a5095. Source: data/hf-20261008-report.json; counts from the frozen reference_contract.json. Reported metrics are not independently recomputed from raw predictions. Matched classical comparator selected by validation AUC-PRC in historical PR #357. Labels: &gt;= K changed words AND at least one summary/description/acceptance change. Test metrics are unweighted. Scores are retrospective; public-Jira pretraining contamination is possible. Paired issue bootstrap does not model temporal dependence.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"artifact_reference": {</a:t>
            </a:r>
          </a:p>
          <a:p>
            <a:r>
              <a:t>      "base": {</a:t>
            </a:r>
          </a:p>
          <a:p>
            <a:r>
              <a:t>        "id": "Qwen/Qwen3-Embedding-0.6B",</a:t>
            </a:r>
          </a:p>
          <a:p>
            <a:r>
              <a:t>        "license": "apache-2.0",</a:t>
            </a:r>
          </a:p>
          <a:p>
            <a:r>
              <a:t>        "lora_targets": [</a:t>
            </a:r>
          </a:p>
          <a:p>
            <a:r>
              <a:t>          "q_proj",</a:t>
            </a:r>
          </a:p>
          <a:p>
            <a:r>
              <a:t>          "v_proj"</a:t>
            </a:r>
          </a:p>
          <a:p>
            <a:r>
              <a:t>        ],</a:t>
            </a:r>
          </a:p>
          <a:p>
            <a:r>
              <a:t>        "parameters_billions": 0.6,</a:t>
            </a:r>
          </a:p>
          <a:p>
            <a:r>
              <a:t>        "pooling": "last",</a:t>
            </a:r>
          </a:p>
          <a:p>
            <a:r>
              <a:t>        "profile_vram_gib": [</a:t>
            </a:r>
          </a:p>
          <a:p>
            <a:r>
              <a:t>          12,</a:t>
            </a:r>
          </a:p>
          <a:p>
            <a:r>
              <a:t>          24</a:t>
            </a:r>
          </a:p>
          <a:p>
            <a:r>
              <a:t>        ],</a:t>
            </a:r>
          </a:p>
          <a:p>
            <a:r>
              <a:t>        "quantize": false,</a:t>
            </a:r>
          </a:p>
          <a:p>
            <a:r>
              <a:t>        "revision": "97b0c614be4d77ee51c0cef4e5f07c00f9eb65b3"</a:t>
            </a:r>
          </a:p>
          <a:p>
            <a:r>
              <a:t>      },</a:t>
            </a:r>
          </a:p>
          <a:p>
            <a:r>
              <a:t>      "config_sha256": "2bc94a1680d72c09dc8a1a93e4f0806cc6e558c7ad21cdf328626690c7b33440",</a:t>
            </a:r>
          </a:p>
          <a:p>
            <a:r>
              <a:t>      "source_sha256": "974b8eebd00626edaa8d1b985055722bdaf3dd4d428612dfa6d47863abe771fe",</a:t>
            </a:r>
          </a:p>
          <a:p>
            <a:r>
              <a:t>      "study_relative_checkpoint": "finetune/Hyperledger/qwen_embedding/5/11da968cf4352788/checkpoint"</a:t>
            </a:r>
          </a:p>
          <a:p>
            <a:r>
              <a:t>    },</a:t>
            </a:r>
          </a:p>
          <a:p>
            <a:r>
              <a:t>    "baseline": {</a:t>
            </a:r>
          </a:p>
          <a:p>
            <a:r>
              <a:t>      "accuracy": 0.7240663900414938,</a:t>
            </a:r>
          </a:p>
          <a:p>
            <a:r>
              <a:t>      "auc_prc": 0.260598376632622,</a:t>
            </a:r>
          </a:p>
          <a:p>
            <a:r>
              <a:t>      "average_precision": 0.2645629912456322,</a:t>
            </a:r>
          </a:p>
          <a:p>
            <a:r>
              <a:t>      "balanced_accuracy": 0.5532129672358099,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648,</a:t>
            </a:r>
          </a:p>
          <a:p>
            <a:r>
              <a:t>          140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126,</a:t>
            </a:r>
          </a:p>
          <a:p>
            <a:r>
              <a:t>          50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0.273224043715847,</a:t>
            </a:r>
          </a:p>
          <a:p>
            <a:r>
              <a:t>      "positive_count": 176,</a:t>
            </a:r>
          </a:p>
          <a:p>
            <a:r>
              <a:t>      "positive_rate": 0.1825726141078838,</a:t>
            </a:r>
          </a:p>
          <a:p>
            <a:r>
              <a:t>      "precision": 0.2631578947368421,</a:t>
            </a:r>
          </a:p>
          <a:p>
            <a:r>
              <a:t>      "recall": 0.2840909090909091,</a:t>
            </a:r>
          </a:p>
          <a:p>
            <a:r>
              <a:t>      "roc_auc": 0.6588277284263959,</a:t>
            </a:r>
          </a:p>
          <a:p>
            <a:r>
              <a:t>      "row_count": 964,</a:t>
            </a:r>
          </a:p>
          <a:p>
            <a:r>
              <a:t>      "threshold": 0.5</a:t>
            </a:r>
          </a:p>
          <a:p>
            <a:r>
              <a:t>    },</a:t>
            </a:r>
          </a:p>
          <a:p>
            <a:r>
              <a:t>    "baseline_identity": {</a:t>
            </a:r>
          </a:p>
          <a:p>
            <a:r>
              <a:t>      "model": "RF",</a:t>
            </a:r>
          </a:p>
          <a:p>
            <a:r>
              <a:t>      "variant": "refactored"</a:t>
            </a:r>
          </a:p>
          <a:p>
            <a:r>
              <a:t>    },</a:t>
            </a:r>
          </a:p>
          <a:p>
            <a:r>
              <a:t>    "checkpoint_files": {</a:t>
            </a:r>
          </a:p>
          <a:p>
            <a:r>
              <a:t>      "README.md": "d1710b3eb5b0003d5228add03eef8437edfb4b07e5a7e55ca9ef3bfcd3073aa3",</a:t>
            </a:r>
          </a:p>
          <a:p>
            <a:r>
              <a:t>      "adapter/README.md": "2b259ec9b5799fd1e7da6813a1a008293163ac0d5b6be0eb53454a512e57e06a",</a:t>
            </a:r>
          </a:p>
          <a:p>
            <a:r>
              <a:t>      "adapter/adapter_config.json": "99fa5eb9f7d31210f53d3d34e75da168eb5316200f9fd08f3c0967ecdad46276",</a:t>
            </a:r>
          </a:p>
          <a:p>
            <a:r>
              <a:t>      "adapter/adapter_model.safetensors": "d578af635855bc33cf86b9ffef3ade5243905a23fc054605e73ae53838875d39",</a:t>
            </a:r>
          </a:p>
          <a:p>
            <a:r>
              <a:t>      "head.safetensors": "62f0250f45845dff1b07eb044566030f801950cc8a09f0d9b77b19639b903358",</a:t>
            </a:r>
          </a:p>
          <a:p>
            <a:r>
              <a:t>      "inference.json": "6bc7cf73c71d1e6755489e0464be35219c227ae59e3000c267b004f7b2ffdf66"</a:t>
            </a:r>
          </a:p>
          <a:p>
            <a:r>
              <a:t>    },</a:t>
            </a:r>
          </a:p>
          <a:p>
            <a:r>
              <a:t>    "constant_score": {</a:t>
            </a:r>
          </a:p>
          <a:p>
            <a:r>
              <a:t>      "accuracy": 0.1825726141078838,</a:t>
            </a:r>
          </a:p>
          <a:p>
            <a:r>
              <a:t>      "auc_prc": 0.5912863070539419,</a:t>
            </a:r>
          </a:p>
          <a:p>
            <a:r>
              <a:t>      "average_precision": 0.1825726141078838,</a:t>
            </a:r>
          </a:p>
          <a:p>
            <a:r>
              <a:t>      "balanced_accuracy": 0.5,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788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176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0.30877192982456136,</a:t>
            </a:r>
          </a:p>
          <a:p>
            <a:r>
              <a:t>      "positive_count": 176,</a:t>
            </a:r>
          </a:p>
          <a:p>
            <a:r>
              <a:t>      "positive_rate": 0.1825726141078838,</a:t>
            </a:r>
          </a:p>
          <a:p>
            <a:r>
              <a:t>      "precision": 0.1825726141078838,</a:t>
            </a:r>
          </a:p>
          <a:p>
            <a:r>
              <a:t>      "recall": 1.0,</a:t>
            </a:r>
          </a:p>
          <a:p>
            <a:r>
              <a:t>      "roc_auc": 0.5,</a:t>
            </a:r>
          </a:p>
          <a:p>
            <a:r>
              <a:t>      "row_count": 964,</a:t>
            </a:r>
          </a:p>
          <a:p>
            <a:r>
              <a:t>      "threshold": 0.5</a:t>
            </a:r>
          </a:p>
          <a:p>
            <a:r>
              <a:t>    },</a:t>
            </a:r>
          </a:p>
          <a:p>
            <a:r>
              <a:t>    "gates": {</a:t>
            </a:r>
          </a:p>
          <a:p>
            <a:r>
              <a:t>      "ap_above_baseline": false,</a:t>
            </a:r>
          </a:p>
          <a:p>
            <a:r>
              <a:t>      "ap_above_prevalence": true,</a:t>
            </a:r>
          </a:p>
          <a:p>
            <a:r>
              <a:t>      "auc_prc_above_half": false,</a:t>
            </a:r>
          </a:p>
          <a:p>
            <a:r>
              <a:t>      "passed": false,</a:t>
            </a:r>
          </a:p>
          <a:p>
            <a:r>
              <a:t>      "roc_above_half": true,</a:t>
            </a:r>
          </a:p>
          <a:p>
            <a:r>
              <a:t>      "valid": true</a:t>
            </a:r>
          </a:p>
          <a:p>
            <a:r>
              <a:t>    },</a:t>
            </a:r>
          </a:p>
          <a:p>
            <a:r>
              <a:t>    "level": 5,</a:t>
            </a:r>
          </a:p>
          <a:p>
            <a:r>
              <a:t>    "model": "qwen_embedding",</a:t>
            </a:r>
          </a:p>
          <a:p>
            <a:r>
              <a:t>    "project": "Hyperledger",</a:t>
            </a:r>
          </a:p>
          <a:p>
            <a:r>
              <a:t>    "selection_sha256": "66ba60e59785274c1aa7a78069e6257f47083dd2b439d505b0bd7cd179539ab6",</a:t>
            </a:r>
          </a:p>
          <a:p>
            <a:r>
              <a:t>    "stage": "final-test",</a:t>
            </a:r>
          </a:p>
          <a:p>
            <a:r>
              <a:t>    "test": {</a:t>
            </a:r>
          </a:p>
          <a:p>
            <a:r>
              <a:t>      "accuracy": 0.6607883817427386,</a:t>
            </a:r>
          </a:p>
          <a:p>
            <a:r>
              <a:t>      "auc_prc": 0.24963297155306446,</a:t>
            </a:r>
          </a:p>
          <a:p>
            <a:r>
              <a:t>      "average_precision": 0.25214436120008654,</a:t>
            </a:r>
          </a:p>
          <a:p>
            <a:r>
              <a:t>      "balanced_accuracy": 0.6160013844023996,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541,</a:t>
            </a:r>
          </a:p>
          <a:p>
            <a:r>
              <a:t>          247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80,</a:t>
            </a:r>
          </a:p>
          <a:p>
            <a:r>
              <a:t>          96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0.3699421965317919,</a:t>
            </a:r>
          </a:p>
          <a:p>
            <a:r>
              <a:t>      "positive_count": 176,</a:t>
            </a:r>
          </a:p>
          <a:p>
            <a:r>
              <a:t>      "positive_rate": 0.1825726141078838,</a:t>
            </a:r>
          </a:p>
          <a:p>
            <a:r>
              <a:t>      "precision": 0.27988338192419826,</a:t>
            </a:r>
          </a:p>
          <a:p>
            <a:r>
              <a:t>      "recall": 0.5454545454545454,</a:t>
            </a:r>
          </a:p>
          <a:p>
            <a:r>
              <a:t>      "roc_auc": 0.6644734944623903,</a:t>
            </a:r>
          </a:p>
          <a:p>
            <a:r>
              <a:t>      "row_count": 964,</a:t>
            </a:r>
          </a:p>
          <a:p>
            <a:r>
              <a:t>      "threshold": 0.08</a:t>
            </a:r>
          </a:p>
          <a:p>
            <a:r>
              <a:t>    },</a:t>
            </a:r>
          </a:p>
          <a:p>
            <a:r>
              <a:t>    "test_predictions_sha256": "596a01cb6a81d28916f654cd2b2ad912ad21050533abc5cfbe7b6ba473084bae",</a:t>
            </a:r>
          </a:p>
          <a:p>
            <a:r>
              <a:t>    "uncertainty": {</a:t>
            </a:r>
          </a:p>
          <a:p>
            <a:r>
              <a:t>      "difference_95": {</a:t>
            </a:r>
          </a:p>
          <a:p>
            <a:r>
              <a:t>        "auc_prc": [</a:t>
            </a:r>
          </a:p>
          <a:p>
            <a:r>
              <a:t>          -0.05621475476997322,</a:t>
            </a:r>
          </a:p>
          <a:p>
            <a:r>
              <a:t>          0.024126723147206625</a:t>
            </a:r>
          </a:p>
          <a:p>
            <a:r>
              <a:t>        ],</a:t>
            </a:r>
          </a:p>
          <a:p>
            <a:r>
              <a:t>        "average_precision": [</a:t>
            </a:r>
          </a:p>
          <a:p>
            <a:r>
              <a:t>          -0.05991987393414943,</a:t>
            </a:r>
          </a:p>
          <a:p>
            <a:r>
              <a:t>          0.023910054930447042</a:t>
            </a:r>
          </a:p>
          <a:p>
            <a:r>
              <a:t>        ],</a:t>
            </a:r>
          </a:p>
          <a:p>
            <a:r>
              <a:t>        "roc_auc": [</a:t>
            </a:r>
          </a:p>
          <a:p>
            <a:r>
              <a:t>          -0.037398054709317015,</a:t>
            </a:r>
          </a:p>
          <a:p>
            <a:r>
              <a:t>          0.04618943637277467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"method": "paired issue bootstrap; does not model temporal dependence",</a:t>
            </a:r>
          </a:p>
          <a:p>
            <a:r>
              <a:t>      "metrics_95": {</a:t>
            </a:r>
          </a:p>
          <a:p>
            <a:r>
              <a:t>        "auc_prc": [</a:t>
            </a:r>
          </a:p>
          <a:p>
            <a:r>
              <a:t>          0.20964616713328127,</a:t>
            </a:r>
          </a:p>
          <a:p>
            <a:r>
              <a:t>          0.29111509667485447</a:t>
            </a:r>
          </a:p>
          <a:p>
            <a:r>
              <a:t>        ],</a:t>
            </a:r>
          </a:p>
          <a:p>
            <a:r>
              <a:t>        "average_precision": [</a:t>
            </a:r>
          </a:p>
          <a:p>
            <a:r>
              <a:t>          0.21406838296808026,</a:t>
            </a:r>
          </a:p>
          <a:p>
            <a:r>
              <a:t>          0.296729917070817</a:t>
            </a:r>
          </a:p>
          <a:p>
            <a:r>
              <a:t>        ],</a:t>
            </a:r>
          </a:p>
          <a:p>
            <a:r>
              <a:t>        "roc_auc": [</a:t>
            </a:r>
          </a:p>
          <a:p>
            <a:r>
              <a:t>          0.6244539535095549,</a:t>
            </a:r>
          </a:p>
          <a:p>
            <a:r>
              <a:t>          0.70144269693024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"requested_samples": 2000,</a:t>
            </a:r>
          </a:p>
          <a:p>
            <a:r>
              <a:t>      "valid_samples": 2000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"artifact_reference": {</a:t>
            </a:r>
          </a:p>
          <a:p>
            <a:r>
              <a:t>      "base": {</a:t>
            </a:r>
          </a:p>
          <a:p>
            <a:r>
              <a:t>        "id": "Qwen/Qwen3-Embedding-0.6B",</a:t>
            </a:r>
          </a:p>
          <a:p>
            <a:r>
              <a:t>        "license": "apache-2.0",</a:t>
            </a:r>
          </a:p>
          <a:p>
            <a:r>
              <a:t>        "lora_targets": [</a:t>
            </a:r>
          </a:p>
          <a:p>
            <a:r>
              <a:t>          "q_proj",</a:t>
            </a:r>
          </a:p>
          <a:p>
            <a:r>
              <a:t>          "v_proj"</a:t>
            </a:r>
          </a:p>
          <a:p>
            <a:r>
              <a:t>        ],</a:t>
            </a:r>
          </a:p>
          <a:p>
            <a:r>
              <a:t>        "parameters_billions": 0.6,</a:t>
            </a:r>
          </a:p>
          <a:p>
            <a:r>
              <a:t>        "pooling": "last",</a:t>
            </a:r>
          </a:p>
          <a:p>
            <a:r>
              <a:t>        "profile_vram_gib": [</a:t>
            </a:r>
          </a:p>
          <a:p>
            <a:r>
              <a:t>          12,</a:t>
            </a:r>
          </a:p>
          <a:p>
            <a:r>
              <a:t>          24</a:t>
            </a:r>
          </a:p>
          <a:p>
            <a:r>
              <a:t>        ],</a:t>
            </a:r>
          </a:p>
          <a:p>
            <a:r>
              <a:t>        "quantize": false,</a:t>
            </a:r>
          </a:p>
          <a:p>
            <a:r>
              <a:t>        "revision": "97b0c614be4d77ee51c0cef4e5f07c00f9eb65b3"</a:t>
            </a:r>
          </a:p>
          <a:p>
            <a:r>
              <a:t>      },</a:t>
            </a:r>
          </a:p>
          <a:p>
            <a:r>
              <a:t>      "config_sha256": "2bc94a1680d72c09dc8a1a93e4f0806cc6e558c7ad21cdf328626690c7b33440",</a:t>
            </a:r>
          </a:p>
          <a:p>
            <a:r>
              <a:t>      "source_sha256": "974b8eebd00626edaa8d1b985055722bdaf3dd4d428612dfa6d47863abe771fe",</a:t>
            </a:r>
          </a:p>
          <a:p>
            <a:r>
              <a:t>      "study_relative_checkpoint": "finetune/Hyperledger/qwen_embedding/10/d7f2b3a243beb63f/checkpoint"</a:t>
            </a:r>
          </a:p>
          <a:p>
            <a:r>
              <a:t>    },</a:t>
            </a:r>
          </a:p>
          <a:p>
            <a:r>
              <a:t>    "baseline": {</a:t>
            </a:r>
          </a:p>
          <a:p>
            <a:r>
              <a:t>      "accuracy": 0.8423236514522822,</a:t>
            </a:r>
          </a:p>
          <a:p>
            <a:r>
              <a:t>      "auc_prc": 0.22517241274150118,</a:t>
            </a:r>
          </a:p>
          <a:p>
            <a:r>
              <a:t>      "average_precision": 0.2286345797834445,</a:t>
            </a:r>
          </a:p>
          <a:p>
            <a:r>
              <a:t>      "balanced_accuracy": 0.4968301291936534,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811,</a:t>
            </a:r>
          </a:p>
          <a:p>
            <a:r>
              <a:t>          11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141,</a:t>
            </a:r>
          </a:p>
          <a:p>
            <a:r>
              <a:t>          1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0.012987012987012988,</a:t>
            </a:r>
          </a:p>
          <a:p>
            <a:r>
              <a:t>      "positive_count": 142,</a:t>
            </a:r>
          </a:p>
          <a:p>
            <a:r>
              <a:t>      "positive_rate": 0.14730290456431536,</a:t>
            </a:r>
          </a:p>
          <a:p>
            <a:r>
              <a:t>      "precision": 0.08333333333333333,</a:t>
            </a:r>
          </a:p>
          <a:p>
            <a:r>
              <a:t>      "recall": 0.007042253521126761,</a:t>
            </a:r>
          </a:p>
          <a:p>
            <a:r>
              <a:t>      "roc_auc": 0.6736917857510024,</a:t>
            </a:r>
          </a:p>
          <a:p>
            <a:r>
              <a:t>      "row_count": 964,</a:t>
            </a:r>
          </a:p>
          <a:p>
            <a:r>
              <a:t>      "threshold": 0.5</a:t>
            </a:r>
          </a:p>
          <a:p>
            <a:r>
              <a:t>    },</a:t>
            </a:r>
          </a:p>
          <a:p>
            <a:r>
              <a:t>    "baseline_identity": {</a:t>
            </a:r>
          </a:p>
          <a:p>
            <a:r>
              <a:t>      "model": "RF",</a:t>
            </a:r>
          </a:p>
          <a:p>
            <a:r>
              <a:t>      "variant": "refactored"</a:t>
            </a:r>
          </a:p>
          <a:p>
            <a:r>
              <a:t>    },</a:t>
            </a:r>
          </a:p>
          <a:p>
            <a:r>
              <a:t>    "checkpoint_files": {</a:t>
            </a:r>
          </a:p>
          <a:p>
            <a:r>
              <a:t>      "README.md": "47ef0e514304a210d5d3ea1f0073d7f3b037e41022182bd4760bf4fa3aba6a0c",</a:t>
            </a:r>
          </a:p>
          <a:p>
            <a:r>
              <a:t>      "adapter/README.md": "2b259ec9b5799fd1e7da6813a1a008293163ac0d5b6be0eb53454a512e57e06a",</a:t>
            </a:r>
          </a:p>
          <a:p>
            <a:r>
              <a:t>      "adapter/adapter_config.json": "99fa5eb9f7d31210f53d3d34e75da168eb5316200f9fd08f3c0967ecdad46276",</a:t>
            </a:r>
          </a:p>
          <a:p>
            <a:r>
              <a:t>      "adapter/adapter_model.safetensors": "a9150351105202c54f23c07525fc0ba57b3da675ef3c0fd54d8ee07e2b907b20",</a:t>
            </a:r>
          </a:p>
          <a:p>
            <a:r>
              <a:t>      "head.safetensors": "26a0c8106a5081253bd566eb971c3bc21c5e4bfa52662cbd386161300c374e13",</a:t>
            </a:r>
          </a:p>
          <a:p>
            <a:r>
              <a:t>      "inference.json": "8c045957f272cf051104d50d223e9d94bb3ea7c93965084aa01d5b3856c016fc"</a:t>
            </a:r>
          </a:p>
          <a:p>
            <a:r>
              <a:t>    },</a:t>
            </a:r>
          </a:p>
          <a:p>
            <a:r>
              <a:t>    "constant_score": {</a:t>
            </a:r>
          </a:p>
          <a:p>
            <a:r>
              <a:t>      "accuracy": 0.14730290456431536,</a:t>
            </a:r>
          </a:p>
          <a:p>
            <a:r>
              <a:t>      "auc_prc": 0.5736514522821576,</a:t>
            </a:r>
          </a:p>
          <a:p>
            <a:r>
              <a:t>      "average_precision": 0.14730290456431536,</a:t>
            </a:r>
          </a:p>
          <a:p>
            <a:r>
              <a:t>      "balanced_accuracy": 0.5,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822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142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0.2567811934900543,</a:t>
            </a:r>
          </a:p>
          <a:p>
            <a:r>
              <a:t>      "positive_count": 142,</a:t>
            </a:r>
          </a:p>
          <a:p>
            <a:r>
              <a:t>      "positive_rate": 0.14730290456431536,</a:t>
            </a:r>
          </a:p>
          <a:p>
            <a:r>
              <a:t>      "precision": 0.14730290456431536,</a:t>
            </a:r>
          </a:p>
          <a:p>
            <a:r>
              <a:t>      "recall": 1.0,</a:t>
            </a:r>
          </a:p>
          <a:p>
            <a:r>
              <a:t>      "roc_auc": 0.5,</a:t>
            </a:r>
          </a:p>
          <a:p>
            <a:r>
              <a:t>      "row_count": 964,</a:t>
            </a:r>
          </a:p>
          <a:p>
            <a:r>
              <a:t>      "threshold": 0.5</a:t>
            </a:r>
          </a:p>
          <a:p>
            <a:r>
              <a:t>    },</a:t>
            </a:r>
          </a:p>
          <a:p>
            <a:r>
              <a:t>    "gates": {</a:t>
            </a:r>
          </a:p>
          <a:p>
            <a:r>
              <a:t>      "ap_above_baseline": false,</a:t>
            </a:r>
          </a:p>
          <a:p>
            <a:r>
              <a:t>      "ap_above_prevalence": true,</a:t>
            </a:r>
          </a:p>
          <a:p>
            <a:r>
              <a:t>      "auc_prc_above_half": false,</a:t>
            </a:r>
          </a:p>
          <a:p>
            <a:r>
              <a:t>      "passed": false,</a:t>
            </a:r>
          </a:p>
          <a:p>
            <a:r>
              <a:t>      "roc_above_half": true,</a:t>
            </a:r>
          </a:p>
          <a:p>
            <a:r>
              <a:t>      "valid": true</a:t>
            </a:r>
          </a:p>
          <a:p>
            <a:r>
              <a:t>    },</a:t>
            </a:r>
          </a:p>
          <a:p>
            <a:r>
              <a:t>    "level": 10,</a:t>
            </a:r>
          </a:p>
          <a:p>
            <a:r>
              <a:t>    "model": "qwen_embedding",</a:t>
            </a:r>
          </a:p>
          <a:p>
            <a:r>
              <a:t>    "project": "Hyperledger",</a:t>
            </a:r>
          </a:p>
          <a:p>
            <a:r>
              <a:t>    "selection_sha256": "906043e39b0d6a9cdc681209969e1d29c39a78402d5c853e255942ce122f2bf6",</a:t>
            </a:r>
          </a:p>
          <a:p>
            <a:r>
              <a:t>    "stage": "final-test",</a:t>
            </a:r>
          </a:p>
          <a:p>
            <a:r>
              <a:t>    "test": {</a:t>
            </a:r>
          </a:p>
          <a:p>
            <a:r>
              <a:t>      "accuracy": 0.14730290456431536,</a:t>
            </a:r>
          </a:p>
          <a:p>
            <a:r>
              <a:t>      "auc_prc": 0.2257047790047242,</a:t>
            </a:r>
          </a:p>
          <a:p>
            <a:r>
              <a:t>      "average_precision": 0.2286303385830062,</a:t>
            </a:r>
          </a:p>
          <a:p>
            <a:r>
              <a:t>      "balanced_accuracy": 0.5,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822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142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0.2567811934900543,</a:t>
            </a:r>
          </a:p>
          <a:p>
            <a:r>
              <a:t>      "positive_count": 142,</a:t>
            </a:r>
          </a:p>
          <a:p>
            <a:r>
              <a:t>      "positive_rate": 0.14730290456431536,</a:t>
            </a:r>
          </a:p>
          <a:p>
            <a:r>
              <a:t>      "precision": 0.14730290456431536,</a:t>
            </a:r>
          </a:p>
          <a:p>
            <a:r>
              <a:t>      "recall": 1.0,</a:t>
            </a:r>
          </a:p>
          <a:p>
            <a:r>
              <a:t>      "roc_auc": 0.6808282786744799,</a:t>
            </a:r>
          </a:p>
          <a:p>
            <a:r>
              <a:t>      "row_count": 964,</a:t>
            </a:r>
          </a:p>
          <a:p>
            <a:r>
              <a:t>      "threshold": 0.05</a:t>
            </a:r>
          </a:p>
          <a:p>
            <a:r>
              <a:t>    },</a:t>
            </a:r>
          </a:p>
          <a:p>
            <a:r>
              <a:t>    "test_predictions_sha256": "227346f7a75411269ccccf7cc3a0a3aaaa1f9669c1f9c9a32a194b415cf17f06",</a:t>
            </a:r>
          </a:p>
          <a:p>
            <a:r>
              <a:t>    "uncertainty": {</a:t>
            </a:r>
          </a:p>
          <a:p>
            <a:r>
              <a:t>      "difference_95": {</a:t>
            </a:r>
          </a:p>
          <a:p>
            <a:r>
              <a:t>        "auc_prc": [</a:t>
            </a:r>
          </a:p>
          <a:p>
            <a:r>
              <a:t>          -0.03920094157204819,</a:t>
            </a:r>
          </a:p>
          <a:p>
            <a:r>
              <a:t>          0.03683564672925491</a:t>
            </a:r>
          </a:p>
          <a:p>
            <a:r>
              <a:t>        ],</a:t>
            </a:r>
          </a:p>
          <a:p>
            <a:r>
              <a:t>        "average_precision": [</a:t>
            </a:r>
          </a:p>
          <a:p>
            <a:r>
              <a:t>          -0.0424735848478857,</a:t>
            </a:r>
          </a:p>
          <a:p>
            <a:r>
              <a:t>          0.037776345499121296</a:t>
            </a:r>
          </a:p>
          <a:p>
            <a:r>
              <a:t>        ],</a:t>
            </a:r>
          </a:p>
          <a:p>
            <a:r>
              <a:t>        "roc_auc": [</a:t>
            </a:r>
          </a:p>
          <a:p>
            <a:r>
              <a:t>          -0.03585549993811081,</a:t>
            </a:r>
          </a:p>
          <a:p>
            <a:r>
              <a:t>          0.04935810874944757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"method": "paired issue bootstrap; does not model temporal dependence",</a:t>
            </a:r>
          </a:p>
          <a:p>
            <a:r>
              <a:t>      "metrics_95": {</a:t>
            </a:r>
          </a:p>
          <a:p>
            <a:r>
              <a:t>        "auc_prc": [</a:t>
            </a:r>
          </a:p>
          <a:p>
            <a:r>
              <a:t>          0.18474392696807476,</a:t>
            </a:r>
          </a:p>
          <a:p>
            <a:r>
              <a:t>          0.2734960530911399</a:t>
            </a:r>
          </a:p>
          <a:p>
            <a:r>
              <a:t>        ],</a:t>
            </a:r>
          </a:p>
          <a:p>
            <a:r>
              <a:t>        "average_precision": [</a:t>
            </a:r>
          </a:p>
          <a:p>
            <a:r>
              <a:t>          0.1895904630187923,</a:t>
            </a:r>
          </a:p>
          <a:p>
            <a:r>
              <a:t>          0.280808066691505</a:t>
            </a:r>
          </a:p>
          <a:p>
            <a:r>
              <a:t>        ],</a:t>
            </a:r>
          </a:p>
          <a:p>
            <a:r>
              <a:t>        "roc_auc": [</a:t>
            </a:r>
          </a:p>
          <a:p>
            <a:r>
              <a:t>          0.6359760118672332,</a:t>
            </a:r>
          </a:p>
          <a:p>
            <a:r>
              <a:t>          0.7218107376783415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"requested_samples": 2000,</a:t>
            </a:r>
          </a:p>
          <a:p>
            <a:r>
              <a:t>      "valid_samples": 2000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"artifact_reference": {</a:t>
            </a:r>
          </a:p>
          <a:p>
            <a:r>
              <a:t>      "base": {</a:t>
            </a:r>
          </a:p>
          <a:p>
            <a:r>
              <a:t>        "id": "Qwen/Qwen3-Embedding-0.6B",</a:t>
            </a:r>
          </a:p>
          <a:p>
            <a:r>
              <a:t>        "license": "apache-2.0",</a:t>
            </a:r>
          </a:p>
          <a:p>
            <a:r>
              <a:t>        "lora_targets": [</a:t>
            </a:r>
          </a:p>
          <a:p>
            <a:r>
              <a:t>          "q_proj",</a:t>
            </a:r>
          </a:p>
          <a:p>
            <a:r>
              <a:t>          "v_proj"</a:t>
            </a:r>
          </a:p>
          <a:p>
            <a:r>
              <a:t>        ],</a:t>
            </a:r>
          </a:p>
          <a:p>
            <a:r>
              <a:t>        "parameters_billions": 0.6,</a:t>
            </a:r>
          </a:p>
          <a:p>
            <a:r>
              <a:t>        "pooling": "last",</a:t>
            </a:r>
          </a:p>
          <a:p>
            <a:r>
              <a:t>        "profile_vram_gib": [</a:t>
            </a:r>
          </a:p>
          <a:p>
            <a:r>
              <a:t>          12,</a:t>
            </a:r>
          </a:p>
          <a:p>
            <a:r>
              <a:t>          24</a:t>
            </a:r>
          </a:p>
          <a:p>
            <a:r>
              <a:t>        ],</a:t>
            </a:r>
          </a:p>
          <a:p>
            <a:r>
              <a:t>        "quantize": false,</a:t>
            </a:r>
          </a:p>
          <a:p>
            <a:r>
              <a:t>        "revision": "97b0c614be4d77ee51c0cef4e5f07c00f9eb65b3"</a:t>
            </a:r>
          </a:p>
          <a:p>
            <a:r>
              <a:t>      },</a:t>
            </a:r>
          </a:p>
          <a:p>
            <a:r>
              <a:t>      "config_sha256": "2bc94a1680d72c09dc8a1a93e4f0806cc6e558c7ad21cdf328626690c7b33440",</a:t>
            </a:r>
          </a:p>
          <a:p>
            <a:r>
              <a:t>      "source_sha256": "974b8eebd00626edaa8d1b985055722bdaf3dd4d428612dfa6d47863abe771fe",</a:t>
            </a:r>
          </a:p>
          <a:p>
            <a:r>
              <a:t>      "study_relative_checkpoint": "finetune/Hyperledger/qwen_embedding/15/d7f2b3a243beb63f/checkpoint"</a:t>
            </a:r>
          </a:p>
          <a:p>
            <a:r>
              <a:t>    },</a:t>
            </a:r>
          </a:p>
          <a:p>
            <a:r>
              <a:t>    "baseline": {</a:t>
            </a:r>
          </a:p>
          <a:p>
            <a:r>
              <a:t>      "accuracy": 0.8713692946058091,</a:t>
            </a:r>
          </a:p>
          <a:p>
            <a:r>
              <a:t>      "auc_prc": 0.223368516196756,</a:t>
            </a:r>
          </a:p>
          <a:p>
            <a:r>
              <a:t>      "average_precision": 0.22800782997466426,</a:t>
            </a:r>
          </a:p>
          <a:p>
            <a:r>
              <a:t>      "balanced_accuracy": 0.498812351543943,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840,</a:t>
            </a:r>
          </a:p>
          <a:p>
            <a:r>
              <a:t>          2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122,</a:t>
            </a:r>
          </a:p>
          <a:p>
            <a:r>
              <a:t>          0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0.0,</a:t>
            </a:r>
          </a:p>
          <a:p>
            <a:r>
              <a:t>      "positive_count": 122,</a:t>
            </a:r>
          </a:p>
          <a:p>
            <a:r>
              <a:t>      "positive_rate": 0.12655601659751037,</a:t>
            </a:r>
          </a:p>
          <a:p>
            <a:r>
              <a:t>      "precision": 0.0,</a:t>
            </a:r>
          </a:p>
          <a:p>
            <a:r>
              <a:t>      "recall": 0.0,</a:t>
            </a:r>
          </a:p>
          <a:p>
            <a:r>
              <a:t>      "roc_auc": 0.7150909232506523,</a:t>
            </a:r>
          </a:p>
          <a:p>
            <a:r>
              <a:t>      "row_count": 964,</a:t>
            </a:r>
          </a:p>
          <a:p>
            <a:r>
              <a:t>      "threshold": 0.5</a:t>
            </a:r>
          </a:p>
          <a:p>
            <a:r>
              <a:t>    },</a:t>
            </a:r>
          </a:p>
          <a:p>
            <a:r>
              <a:t>    "baseline_identity": {</a:t>
            </a:r>
          </a:p>
          <a:p>
            <a:r>
              <a:t>      "model": "RF",</a:t>
            </a:r>
          </a:p>
          <a:p>
            <a:r>
              <a:t>      "variant": "refactored"</a:t>
            </a:r>
          </a:p>
          <a:p>
            <a:r>
              <a:t>    },</a:t>
            </a:r>
          </a:p>
          <a:p>
            <a:r>
              <a:t>    "checkpoint_files": {</a:t>
            </a:r>
          </a:p>
          <a:p>
            <a:r>
              <a:t>      "README.md": "5e0b79c47bf59ac19953715f64dc05b2db49d5b2de00939b21d3cbb80fffdc42",</a:t>
            </a:r>
          </a:p>
          <a:p>
            <a:r>
              <a:t>      "adapter/README.md": "2b259ec9b5799fd1e7da6813a1a008293163ac0d5b6be0eb53454a512e57e06a",</a:t>
            </a:r>
          </a:p>
          <a:p>
            <a:r>
              <a:t>      "adapter/adapter_config.json": "99fa5eb9f7d31210f53d3d34e75da168eb5316200f9fd08f3c0967ecdad46276",</a:t>
            </a:r>
          </a:p>
          <a:p>
            <a:r>
              <a:t>      "adapter/adapter_model.safetensors": "ff9a6d5d65d0b3d21efd02d49d004bbc5e5ca94e8668e7adfb7f641a987940b1",</a:t>
            </a:r>
          </a:p>
          <a:p>
            <a:r>
              <a:t>      "head.safetensors": "fd50fa9ae24e6dbd0b5f99e6b333ca699d19e89ee531e31e086c801fafe5d280",</a:t>
            </a:r>
          </a:p>
          <a:p>
            <a:r>
              <a:t>      "inference.json": "d90f57ed18faca3258dbde6db1e00f3a6695fbd7190c6679fcae36000b6c3395"</a:t>
            </a:r>
          </a:p>
          <a:p>
            <a:r>
              <a:t>    },</a:t>
            </a:r>
          </a:p>
          <a:p>
            <a:r>
              <a:t>    "constant_score": {</a:t>
            </a:r>
          </a:p>
          <a:p>
            <a:r>
              <a:t>      "accuracy": 0.12655601659751037,</a:t>
            </a:r>
          </a:p>
          <a:p>
            <a:r>
              <a:t>      "auc_prc": 0.5632780082987552,</a:t>
            </a:r>
          </a:p>
          <a:p>
            <a:r>
              <a:t>      "average_precision": 0.12655601659751037,</a:t>
            </a:r>
          </a:p>
          <a:p>
            <a:r>
              <a:t>      "balanced_accuracy": 0.5,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842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122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0.22467771639042355,</a:t>
            </a:r>
          </a:p>
          <a:p>
            <a:r>
              <a:t>      "positive_count": 122,</a:t>
            </a:r>
          </a:p>
          <a:p>
            <a:r>
              <a:t>      "positive_rate": 0.12655601659751037,</a:t>
            </a:r>
          </a:p>
          <a:p>
            <a:r>
              <a:t>      "precision": 0.12655601659751037,</a:t>
            </a:r>
          </a:p>
          <a:p>
            <a:r>
              <a:t>      "recall": 1.0,</a:t>
            </a:r>
          </a:p>
          <a:p>
            <a:r>
              <a:t>      "roc_auc": 0.5,</a:t>
            </a:r>
          </a:p>
          <a:p>
            <a:r>
              <a:t>      "row_count": 964,</a:t>
            </a:r>
          </a:p>
          <a:p>
            <a:r>
              <a:t>      "threshold": 0.5</a:t>
            </a:r>
          </a:p>
          <a:p>
            <a:r>
              <a:t>    },</a:t>
            </a:r>
          </a:p>
          <a:p>
            <a:r>
              <a:t>    "gates": {</a:t>
            </a:r>
          </a:p>
          <a:p>
            <a:r>
              <a:t>      "ap_above_baseline": false,</a:t>
            </a:r>
          </a:p>
          <a:p>
            <a:r>
              <a:t>      "ap_above_prevalence": true,</a:t>
            </a:r>
          </a:p>
          <a:p>
            <a:r>
              <a:t>      "auc_prc_above_half": false,</a:t>
            </a:r>
          </a:p>
          <a:p>
            <a:r>
              <a:t>      "passed": false,</a:t>
            </a:r>
          </a:p>
          <a:p>
            <a:r>
              <a:t>      "roc_above_half": true,</a:t>
            </a:r>
          </a:p>
          <a:p>
            <a:r>
              <a:t>      "valid": true</a:t>
            </a:r>
          </a:p>
          <a:p>
            <a:r>
              <a:t>    },</a:t>
            </a:r>
          </a:p>
          <a:p>
            <a:r>
              <a:t>    "level": 15,</a:t>
            </a:r>
          </a:p>
          <a:p>
            <a:r>
              <a:t>    "model": "qwen_embedding",</a:t>
            </a:r>
          </a:p>
          <a:p>
            <a:r>
              <a:t>    "project": "Hyperledger",</a:t>
            </a:r>
          </a:p>
          <a:p>
            <a:r>
              <a:t>    "selection_sha256": "37947fb116e37302dcd76385dd1682a9f6fc42e776e14dd68f9114bc733adddc",</a:t>
            </a:r>
          </a:p>
          <a:p>
            <a:r>
              <a:t>    "stage": "final-test",</a:t>
            </a:r>
          </a:p>
          <a:p>
            <a:r>
              <a:t>    "test": {</a:t>
            </a:r>
          </a:p>
          <a:p>
            <a:r>
              <a:t>      "accuracy": 0.12655601659751037,</a:t>
            </a:r>
          </a:p>
          <a:p>
            <a:r>
              <a:t>      "auc_prc": 0.21834314457634812,</a:t>
            </a:r>
          </a:p>
          <a:p>
            <a:r>
              <a:t>      "average_precision": 0.2216395556569301,</a:t>
            </a:r>
          </a:p>
          <a:p>
            <a:r>
              <a:t>      "balanced_accuracy": 0.5,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842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122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0.22467771639042355,</a:t>
            </a:r>
          </a:p>
          <a:p>
            <a:r>
              <a:t>      "positive_count": 122,</a:t>
            </a:r>
          </a:p>
          <a:p>
            <a:r>
              <a:t>      "positive_rate": 0.12655601659751037,</a:t>
            </a:r>
          </a:p>
          <a:p>
            <a:r>
              <a:t>      "precision": 0.12655601659751037,</a:t>
            </a:r>
          </a:p>
          <a:p>
            <a:r>
              <a:t>      "recall": 1.0,</a:t>
            </a:r>
          </a:p>
          <a:p>
            <a:r>
              <a:t>      "roc_auc": 0.7188436976753242,</a:t>
            </a:r>
          </a:p>
          <a:p>
            <a:r>
              <a:t>      "row_count": 964,</a:t>
            </a:r>
          </a:p>
          <a:p>
            <a:r>
              <a:t>      "threshold": 0.05</a:t>
            </a:r>
          </a:p>
          <a:p>
            <a:r>
              <a:t>    },</a:t>
            </a:r>
          </a:p>
          <a:p>
            <a:r>
              <a:t>    "test_predictions_sha256": "834b902911ea7b5b7e5cf98aebed4b8f51442c230af0f0279672faf8e333cd61",</a:t>
            </a:r>
          </a:p>
          <a:p>
            <a:r>
              <a:t>    "uncertainty": {</a:t>
            </a:r>
          </a:p>
          <a:p>
            <a:r>
              <a:t>      "difference_95": {</a:t>
            </a:r>
          </a:p>
          <a:p>
            <a:r>
              <a:t>        "auc_prc": [</a:t>
            </a:r>
          </a:p>
          <a:p>
            <a:r>
              <a:t>          -0.04939168696951461,</a:t>
            </a:r>
          </a:p>
          <a:p>
            <a:r>
              <a:t>          0.033912713731047525</a:t>
            </a:r>
          </a:p>
          <a:p>
            <a:r>
              <a:t>        ],</a:t>
            </a:r>
          </a:p>
          <a:p>
            <a:r>
              <a:t>        "average_precision": [</a:t>
            </a:r>
          </a:p>
          <a:p>
            <a:r>
              <a:t>          -0.0533614121898597,</a:t>
            </a:r>
          </a:p>
          <a:p>
            <a:r>
              <a:t>          0.03529835867309059</a:t>
            </a:r>
          </a:p>
          <a:p>
            <a:r>
              <a:t>        ],</a:t>
            </a:r>
          </a:p>
          <a:p>
            <a:r>
              <a:t>        "roc_auc": [</a:t>
            </a:r>
          </a:p>
          <a:p>
            <a:r>
              <a:t>          -0.03688143775632557,</a:t>
            </a:r>
          </a:p>
          <a:p>
            <a:r>
              <a:t>          0.043820755152793864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"method": "paired issue bootstrap; does not model temporal dependence",</a:t>
            </a:r>
          </a:p>
          <a:p>
            <a:r>
              <a:t>      "metrics_95": {</a:t>
            </a:r>
          </a:p>
          <a:p>
            <a:r>
              <a:t>        "auc_prc": [</a:t>
            </a:r>
          </a:p>
          <a:p>
            <a:r>
              <a:t>          0.17422467267295422,</a:t>
            </a:r>
          </a:p>
          <a:p>
            <a:r>
              <a:t>          0.26832840306937705</a:t>
            </a:r>
          </a:p>
          <a:p>
            <a:r>
              <a:t>        ],</a:t>
            </a:r>
          </a:p>
          <a:p>
            <a:r>
              <a:t>        "average_precision": [</a:t>
            </a:r>
          </a:p>
          <a:p>
            <a:r>
              <a:t>          0.1800998793552552,</a:t>
            </a:r>
          </a:p>
          <a:p>
            <a:r>
              <a:t>          0.2756807982927938</a:t>
            </a:r>
          </a:p>
          <a:p>
            <a:r>
              <a:t>        ],</a:t>
            </a:r>
          </a:p>
          <a:p>
            <a:r>
              <a:t>        "roc_auc": [</a:t>
            </a:r>
          </a:p>
          <a:p>
            <a:r>
              <a:t>          0.6756783294846728,</a:t>
            </a:r>
          </a:p>
          <a:p>
            <a:r>
              <a:t>          0.760968107537071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"requested_samples": 2000,</a:t>
            </a:r>
          </a:p>
          <a:p>
            <a:r>
              <a:t>      "valid_samples": 2000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"artifact_reference": {</a:t>
            </a:r>
          </a:p>
          <a:p>
            <a:r>
              <a:t>      "base": {</a:t>
            </a:r>
          </a:p>
          <a:p>
            <a:r>
              <a:t>        "id": "answerdotai/ModernBERT-base",</a:t>
            </a:r>
          </a:p>
          <a:p>
            <a:r>
              <a:t>        "license": "apache-2.0",</a:t>
            </a:r>
          </a:p>
          <a:p>
            <a:r>
              <a:t>        "lora_targets": [</a:t>
            </a:r>
          </a:p>
          <a:p>
            <a:r>
              <a:t>          "Wqkv",</a:t>
            </a:r>
          </a:p>
          <a:p>
            <a:r>
              <a:t>          "Wo"</a:t>
            </a:r>
          </a:p>
          <a:p>
            <a:r>
              <a:t>        ],</a:t>
            </a:r>
          </a:p>
          <a:p>
            <a:r>
              <a:t>        "parameters_billions": 0.149,</a:t>
            </a:r>
          </a:p>
          <a:p>
            <a:r>
              <a:t>        "pooling": "mean",</a:t>
            </a:r>
          </a:p>
          <a:p>
            <a:r>
              <a:t>        "profile_vram_gib": [</a:t>
            </a:r>
          </a:p>
          <a:p>
            <a:r>
              <a:t>          16,</a:t>
            </a:r>
          </a:p>
          <a:p>
            <a:r>
              <a:t>          24</a:t>
            </a:r>
          </a:p>
          <a:p>
            <a:r>
              <a:t>        ],</a:t>
            </a:r>
          </a:p>
          <a:p>
            <a:r>
              <a:t>        "quantize": false,</a:t>
            </a:r>
          </a:p>
          <a:p>
            <a:r>
              <a:t>        "revision": "8949b909ec900327062f0ebf497f51aef5e6f0c8"</a:t>
            </a:r>
          </a:p>
          <a:p>
            <a:r>
              <a:t>      },</a:t>
            </a:r>
          </a:p>
          <a:p>
            <a:r>
              <a:t>      "config_sha256": "2bc94a1680d72c09dc8a1a93e4f0806cc6e558c7ad21cdf328626690c7b33440",</a:t>
            </a:r>
          </a:p>
          <a:p>
            <a:r>
              <a:t>      "source_sha256": "974b8eebd00626edaa8d1b985055722bdaf3dd4d428612dfa6d47863abe771fe",</a:t>
            </a:r>
          </a:p>
          <a:p>
            <a:r>
              <a:t>      "study_relative_checkpoint": "finetune/Hyperledger/modernbert/20/d7f2b3a243beb63f/checkpoint"</a:t>
            </a:r>
          </a:p>
          <a:p>
            <a:r>
              <a:t>    },</a:t>
            </a:r>
          </a:p>
          <a:p>
            <a:r>
              <a:t>    "baseline": {</a:t>
            </a:r>
          </a:p>
          <a:p>
            <a:r>
              <a:t>      "accuracy": 0.8817427385892116,</a:t>
            </a:r>
          </a:p>
          <a:p>
            <a:r>
              <a:t>      "auc_prc": 0.22041267956815153,</a:t>
            </a:r>
          </a:p>
          <a:p>
            <a:r>
              <a:t>      "average_precision": 0.22372715809319532,</a:t>
            </a:r>
          </a:p>
          <a:p>
            <a:r>
              <a:t>      "balanced_accuracy": 0.5027037223340041,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849,</a:t>
            </a:r>
          </a:p>
          <a:p>
            <a:r>
              <a:t>          3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111,</a:t>
            </a:r>
          </a:p>
          <a:p>
            <a:r>
              <a:t>          1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0.017241379310344824,</a:t>
            </a:r>
          </a:p>
          <a:p>
            <a:r>
              <a:t>      "positive_count": 112,</a:t>
            </a:r>
          </a:p>
          <a:p>
            <a:r>
              <a:t>      "positive_rate": 0.11618257261410789,</a:t>
            </a:r>
          </a:p>
          <a:p>
            <a:r>
              <a:t>      "precision": 0.25,</a:t>
            </a:r>
          </a:p>
          <a:p>
            <a:r>
              <a:t>      "recall": 0.008928571428571428,</a:t>
            </a:r>
          </a:p>
          <a:p>
            <a:r>
              <a:t>      "roc_auc": 0.7296225268276325,</a:t>
            </a:r>
          </a:p>
          <a:p>
            <a:r>
              <a:t>      "row_count": 964,</a:t>
            </a:r>
          </a:p>
          <a:p>
            <a:r>
              <a:t>      "threshold": 0.5</a:t>
            </a:r>
          </a:p>
          <a:p>
            <a:r>
              <a:t>    },</a:t>
            </a:r>
          </a:p>
          <a:p>
            <a:r>
              <a:t>    "baseline_identity": {</a:t>
            </a:r>
          </a:p>
          <a:p>
            <a:r>
              <a:t>      "model": "RF",</a:t>
            </a:r>
          </a:p>
          <a:p>
            <a:r>
              <a:t>      "variant": "refactored"</a:t>
            </a:r>
          </a:p>
          <a:p>
            <a:r>
              <a:t>    },</a:t>
            </a:r>
          </a:p>
          <a:p>
            <a:r>
              <a:t>    "checkpoint_files": {</a:t>
            </a:r>
          </a:p>
          <a:p>
            <a:r>
              <a:t>      "README.md": "64fbafae75e1742a59c80419554c5bf0c05fb78611a1e504084081d5f3af8a82",</a:t>
            </a:r>
          </a:p>
          <a:p>
            <a:r>
              <a:t>      "adapter/README.md": "4cd979bb30fd950c6e3c906d5a27a661b14a46e59c04abef57f2b1801c360fdf",</a:t>
            </a:r>
          </a:p>
          <a:p>
            <a:r>
              <a:t>      "adapter/adapter_config.json": "d623de9a93e07962b5768326da28d794c253b6ee5619f1d5384a61d568b7d296",</a:t>
            </a:r>
          </a:p>
          <a:p>
            <a:r>
              <a:t>      "adapter/adapter_model.safetensors": "ca7955fe439855cd99325f2025cef2d41f7eba5572a77cf2c8b1aa969c37baeb",</a:t>
            </a:r>
          </a:p>
          <a:p>
            <a:r>
              <a:t>      "head.safetensors": "17dd383169e47563e26f24c53ea9c396bb09d32ca20eab83a7005d4c73d40326",</a:t>
            </a:r>
          </a:p>
          <a:p>
            <a:r>
              <a:t>      "inference.json": "b7b89eebdd91a97cb1a04d5bbff3a79b036cdab53238279d0796b45a8cecab41"</a:t>
            </a:r>
          </a:p>
          <a:p>
            <a:r>
              <a:t>    },</a:t>
            </a:r>
          </a:p>
          <a:p>
            <a:r>
              <a:t>    "constant_score": {</a:t>
            </a:r>
          </a:p>
          <a:p>
            <a:r>
              <a:t>      "accuracy": 0.11618257261410789,</a:t>
            </a:r>
          </a:p>
          <a:p>
            <a:r>
              <a:t>      "auc_prc": 0.558091286307054,</a:t>
            </a:r>
          </a:p>
          <a:p>
            <a:r>
              <a:t>      "average_precision": 0.11618257261410789,</a:t>
            </a:r>
          </a:p>
          <a:p>
            <a:r>
              <a:t>      "balanced_accuracy": 0.5,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852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112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0.20817843866171004,</a:t>
            </a:r>
          </a:p>
          <a:p>
            <a:r>
              <a:t>      "positive_count": 112,</a:t>
            </a:r>
          </a:p>
          <a:p>
            <a:r>
              <a:t>      "positive_rate": 0.11618257261410789,</a:t>
            </a:r>
          </a:p>
          <a:p>
            <a:r>
              <a:t>      "precision": 0.11618257261410789,</a:t>
            </a:r>
          </a:p>
          <a:p>
            <a:r>
              <a:t>      "recall": 1.0,</a:t>
            </a:r>
          </a:p>
          <a:p>
            <a:r>
              <a:t>      "roc_auc": 0.5,</a:t>
            </a:r>
          </a:p>
          <a:p>
            <a:r>
              <a:t>      "row_count": 964,</a:t>
            </a:r>
          </a:p>
          <a:p>
            <a:r>
              <a:t>      "threshold": 0.5</a:t>
            </a:r>
          </a:p>
          <a:p>
            <a:r>
              <a:t>    },</a:t>
            </a:r>
          </a:p>
          <a:p>
            <a:r>
              <a:t>    "gates": {</a:t>
            </a:r>
          </a:p>
          <a:p>
            <a:r>
              <a:t>      "ap_above_baseline": false,</a:t>
            </a:r>
          </a:p>
          <a:p>
            <a:r>
              <a:t>      "ap_above_prevalence": true,</a:t>
            </a:r>
          </a:p>
          <a:p>
            <a:r>
              <a:t>      "auc_prc_above_half": false,</a:t>
            </a:r>
          </a:p>
          <a:p>
            <a:r>
              <a:t>      "passed": false,</a:t>
            </a:r>
          </a:p>
          <a:p>
            <a:r>
              <a:t>      "roc_above_half": true,</a:t>
            </a:r>
          </a:p>
          <a:p>
            <a:r>
              <a:t>      "valid": true</a:t>
            </a:r>
          </a:p>
          <a:p>
            <a:r>
              <a:t>    },</a:t>
            </a:r>
          </a:p>
          <a:p>
            <a:r>
              <a:t>    "level": 20,</a:t>
            </a:r>
          </a:p>
          <a:p>
            <a:r>
              <a:t>    "model": "modernbert",</a:t>
            </a:r>
          </a:p>
          <a:p>
            <a:r>
              <a:t>    "project": "Hyperledger",</a:t>
            </a:r>
          </a:p>
          <a:p>
            <a:r>
              <a:t>    "selection_sha256": "28796ecb52091f42d9c5d716e2806cf18e86690dc5006a447b15827e1f1eac9d",</a:t>
            </a:r>
          </a:p>
          <a:p>
            <a:r>
              <a:t>    "stage": "final-test",</a:t>
            </a:r>
          </a:p>
          <a:p>
            <a:r>
              <a:t>    "test": {</a:t>
            </a:r>
          </a:p>
          <a:p>
            <a:r>
              <a:t>      "accuracy": 0.11618257261410789,</a:t>
            </a:r>
          </a:p>
          <a:p>
            <a:r>
              <a:t>      "auc_prc": 0.18166439014199798,</a:t>
            </a:r>
          </a:p>
          <a:p>
            <a:r>
              <a:t>      "average_precision": 0.18607202646719873,</a:t>
            </a:r>
          </a:p>
          <a:p>
            <a:r>
              <a:t>      "balanced_accuracy": 0.5,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852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112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0.20817843866171004,</a:t>
            </a:r>
          </a:p>
          <a:p>
            <a:r>
              <a:t>      "positive_count": 112,</a:t>
            </a:r>
          </a:p>
          <a:p>
            <a:r>
              <a:t>      "positive_rate": 0.11618257261410789,</a:t>
            </a:r>
          </a:p>
          <a:p>
            <a:r>
              <a:t>      "precision": 0.11618257261410789,</a:t>
            </a:r>
          </a:p>
          <a:p>
            <a:r>
              <a:t>      "recall": 1.0,</a:t>
            </a:r>
          </a:p>
          <a:p>
            <a:r>
              <a:t>      "roc_auc": 0.6867559523809523,</a:t>
            </a:r>
          </a:p>
          <a:p>
            <a:r>
              <a:t>      "row_count": 964,</a:t>
            </a:r>
          </a:p>
          <a:p>
            <a:r>
              <a:t>      "threshold": 0.05</a:t>
            </a:r>
          </a:p>
          <a:p>
            <a:r>
              <a:t>    },</a:t>
            </a:r>
          </a:p>
          <a:p>
            <a:r>
              <a:t>    "test_predictions_sha256": "dc793a578e344e88f69cf56b5f4cd1460a85d534dacd1d896f2411174ef38622",</a:t>
            </a:r>
          </a:p>
          <a:p>
            <a:r>
              <a:t>    "uncertainty": {</a:t>
            </a:r>
          </a:p>
          <a:p>
            <a:r>
              <a:t>      "difference_95": {</a:t>
            </a:r>
          </a:p>
          <a:p>
            <a:r>
              <a:t>        "auc_prc": [</a:t>
            </a:r>
          </a:p>
          <a:p>
            <a:r>
              <a:t>          -0.0799811590933763,</a:t>
            </a:r>
          </a:p>
          <a:p>
            <a:r>
              <a:t>          0.001489024447032644</a:t>
            </a:r>
          </a:p>
          <a:p>
            <a:r>
              <a:t>        ],</a:t>
            </a:r>
          </a:p>
          <a:p>
            <a:r>
              <a:t>        "average_precision": [</a:t>
            </a:r>
          </a:p>
          <a:p>
            <a:r>
              <a:t>          -0.0798274010472102,</a:t>
            </a:r>
          </a:p>
          <a:p>
            <a:r>
              <a:t>          0.006187559277266679</a:t>
            </a:r>
          </a:p>
          <a:p>
            <a:r>
              <a:t>        ],</a:t>
            </a:r>
          </a:p>
          <a:p>
            <a:r>
              <a:t>        "roc_auc": [</a:t>
            </a:r>
          </a:p>
          <a:p>
            <a:r>
              <a:t>          -0.084692714118217,</a:t>
            </a:r>
          </a:p>
          <a:p>
            <a:r>
              <a:t>          0.0008661221314598732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"method": "paired issue bootstrap; does not model temporal dependence",</a:t>
            </a:r>
          </a:p>
          <a:p>
            <a:r>
              <a:t>      "metrics_95": {</a:t>
            </a:r>
          </a:p>
          <a:p>
            <a:r>
              <a:t>        "auc_prc": [</a:t>
            </a:r>
          </a:p>
          <a:p>
            <a:r>
              <a:t>          0.14314441426867663,</a:t>
            </a:r>
          </a:p>
          <a:p>
            <a:r>
              <a:t>          0.23276182311537866</a:t>
            </a:r>
          </a:p>
          <a:p>
            <a:r>
              <a:t>        ],</a:t>
            </a:r>
          </a:p>
          <a:p>
            <a:r>
              <a:t>        "average_precision": [</a:t>
            </a:r>
          </a:p>
          <a:p>
            <a:r>
              <a:t>          0.14963805769342622,</a:t>
            </a:r>
          </a:p>
          <a:p>
            <a:r>
              <a:t>          0.2437588478091327</a:t>
            </a:r>
          </a:p>
          <a:p>
            <a:r>
              <a:t>        ],</a:t>
            </a:r>
          </a:p>
          <a:p>
            <a:r>
              <a:t>        "roc_auc": [</a:t>
            </a:r>
          </a:p>
          <a:p>
            <a:r>
              <a:t>          0.6417100776724592,</a:t>
            </a:r>
          </a:p>
          <a:p>
            <a:r>
              <a:t>          0.7287985478842159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"requested_samples": 2000,</a:t>
            </a:r>
          </a:p>
          <a:p>
            <a:r>
              <a:t>      "valid_samples": 2000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Study: hf-20261008-modernbert-qwen. Report received October 19, 2026. Report SHA256: 7698fe31e652cc8d24fb2cc8ff8a443c2c1ec04ac3786cd9bf3dc0e6f4ec006a. Study SHA256: 111d8a78875a8263475514691b581904a9164855d91603ac7dc4e32f838a5095. Source: data/hf-20261008-report.json; counts from the frozen reference_contract.json. Reported metrics are not independently recomputed from raw predictions. Matched classical comparator selected by validation AUC-PRC in historical PR #357. Labels: &gt;= K changed words AND at least one summary/description/acceptance change. Test metrics are unweighted. Scores are retrospective; public-Jira pretraining contamination is possible. Paired issue bootstrap does not model temporal dependence.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"artifact_reference": {</a:t>
            </a:r>
          </a:p>
          <a:p>
            <a:r>
              <a:t>      "base": {</a:t>
            </a:r>
          </a:p>
          <a:p>
            <a:r>
              <a:t>        "id": "Qwen/Qwen3-Embedding-0.6B",</a:t>
            </a:r>
          </a:p>
          <a:p>
            <a:r>
              <a:t>        "license": "apache-2.0",</a:t>
            </a:r>
          </a:p>
          <a:p>
            <a:r>
              <a:t>        "lora_targets": [</a:t>
            </a:r>
          </a:p>
          <a:p>
            <a:r>
              <a:t>          "q_proj",</a:t>
            </a:r>
          </a:p>
          <a:p>
            <a:r>
              <a:t>          "v_proj"</a:t>
            </a:r>
          </a:p>
          <a:p>
            <a:r>
              <a:t>        ],</a:t>
            </a:r>
          </a:p>
          <a:p>
            <a:r>
              <a:t>        "parameters_billions": 0.6,</a:t>
            </a:r>
          </a:p>
          <a:p>
            <a:r>
              <a:t>        "pooling": "last",</a:t>
            </a:r>
          </a:p>
          <a:p>
            <a:r>
              <a:t>        "profile_vram_gib": [</a:t>
            </a:r>
          </a:p>
          <a:p>
            <a:r>
              <a:t>          12,</a:t>
            </a:r>
          </a:p>
          <a:p>
            <a:r>
              <a:t>          24</a:t>
            </a:r>
          </a:p>
          <a:p>
            <a:r>
              <a:t>        ],</a:t>
            </a:r>
          </a:p>
          <a:p>
            <a:r>
              <a:t>        "quantize": false,</a:t>
            </a:r>
          </a:p>
          <a:p>
            <a:r>
              <a:t>        "revision": "97b0c614be4d77ee51c0cef4e5f07c00f9eb65b3"</a:t>
            </a:r>
          </a:p>
          <a:p>
            <a:r>
              <a:t>      },</a:t>
            </a:r>
          </a:p>
          <a:p>
            <a:r>
              <a:t>      "config_sha256": "2bc94a1680d72c09dc8a1a93e4f0806cc6e558c7ad21cdf328626690c7b33440",</a:t>
            </a:r>
          </a:p>
          <a:p>
            <a:r>
              <a:t>      "source_sha256": "974b8eebd00626edaa8d1b985055722bdaf3dd4d428612dfa6d47863abe771fe",</a:t>
            </a:r>
          </a:p>
          <a:p>
            <a:r>
              <a:t>      "study_relative_checkpoint": "finetune/IntelDAOS/qwen_embedding/5/d7f2b3a243beb63f/checkpoint"</a:t>
            </a:r>
          </a:p>
          <a:p>
            <a:r>
              <a:t>    },</a:t>
            </a:r>
          </a:p>
          <a:p>
            <a:r>
              <a:t>    "baseline": {</a:t>
            </a:r>
          </a:p>
          <a:p>
            <a:r>
              <a:t>      "accuracy": 0.7904191616766467,</a:t>
            </a:r>
          </a:p>
          <a:p>
            <a:r>
              <a:t>      "auc_prc": 0.15016806535005314,</a:t>
            </a:r>
          </a:p>
          <a:p>
            <a:r>
              <a:t>      "average_precision": 0.16588169254737842,</a:t>
            </a:r>
          </a:p>
          <a:p>
            <a:r>
              <a:t>      "balanced_accuracy": 0.5907491721854304,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253,</a:t>
            </a:r>
          </a:p>
          <a:p>
            <a:r>
              <a:t>          49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21,</a:t>
            </a:r>
          </a:p>
          <a:p>
            <a:r>
              <a:t>          11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0.23913043478260868,</a:t>
            </a:r>
          </a:p>
          <a:p>
            <a:r>
              <a:t>      "positive_count": 32,</a:t>
            </a:r>
          </a:p>
          <a:p>
            <a:r>
              <a:t>      "positive_rate": 0.09580838323353294,</a:t>
            </a:r>
          </a:p>
          <a:p>
            <a:r>
              <a:t>      "precision": 0.18333333333333332,</a:t>
            </a:r>
          </a:p>
          <a:p>
            <a:r>
              <a:t>      "recall": 0.34375,</a:t>
            </a:r>
          </a:p>
          <a:p>
            <a:r>
              <a:t>      "roc_auc": 0.6580091059602649,</a:t>
            </a:r>
          </a:p>
          <a:p>
            <a:r>
              <a:t>      "row_count": 334,</a:t>
            </a:r>
          </a:p>
          <a:p>
            <a:r>
              <a:t>      "threshold": 0.5</a:t>
            </a:r>
          </a:p>
          <a:p>
            <a:r>
              <a:t>    },</a:t>
            </a:r>
          </a:p>
          <a:p>
            <a:r>
              <a:t>    "baseline_identity": {</a:t>
            </a:r>
          </a:p>
          <a:p>
            <a:r>
              <a:t>      "model": "XGboost",</a:t>
            </a:r>
          </a:p>
          <a:p>
            <a:r>
              <a:t>      "variant": "baseline"</a:t>
            </a:r>
          </a:p>
          <a:p>
            <a:r>
              <a:t>    },</a:t>
            </a:r>
          </a:p>
          <a:p>
            <a:r>
              <a:t>    "checkpoint_files": {</a:t>
            </a:r>
          </a:p>
          <a:p>
            <a:r>
              <a:t>      "README.md": "4155de39efcf634f52c82769413adbc2451615be1db2d2060c5a7b0ed7a0a339",</a:t>
            </a:r>
          </a:p>
          <a:p>
            <a:r>
              <a:t>      "adapter/README.md": "2b259ec9b5799fd1e7da6813a1a008293163ac0d5b6be0eb53454a512e57e06a",</a:t>
            </a:r>
          </a:p>
          <a:p>
            <a:r>
              <a:t>      "adapter/adapter_config.json": "f9c37606194b9d62e9151d9f50c2f6fac77daaf8d9ea61bae29743d490553856",</a:t>
            </a:r>
          </a:p>
          <a:p>
            <a:r>
              <a:t>      "adapter/adapter_model.safetensors": "6a269a8f03b7d5d187cedff1c2cefef03012625ba4dfef7c50474318367555b3",</a:t>
            </a:r>
          </a:p>
          <a:p>
            <a:r>
              <a:t>      "head.safetensors": "9af65fc6cd22f0ed694af682f28c62b8770a8fae450036d7a7d396acca97a2eb",</a:t>
            </a:r>
          </a:p>
          <a:p>
            <a:r>
              <a:t>      "inference.json": "ce052232b59ef7898a3d8035906d0175cb136667c9e3ddede27ef94e11e36150"</a:t>
            </a:r>
          </a:p>
          <a:p>
            <a:r>
              <a:t>    },</a:t>
            </a:r>
          </a:p>
          <a:p>
            <a:r>
              <a:t>    "constant_score": {</a:t>
            </a:r>
          </a:p>
          <a:p>
            <a:r>
              <a:t>      "accuracy": 0.09580838323353294,</a:t>
            </a:r>
          </a:p>
          <a:p>
            <a:r>
              <a:t>      "auc_prc": 0.5479041916167665,</a:t>
            </a:r>
          </a:p>
          <a:p>
            <a:r>
              <a:t>      "average_precision": 0.09580838323353294,</a:t>
            </a:r>
          </a:p>
          <a:p>
            <a:r>
              <a:t>      "balanced_accuracy": 0.5,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302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32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0.17486338797814208,</a:t>
            </a:r>
          </a:p>
          <a:p>
            <a:r>
              <a:t>      "positive_count": 32,</a:t>
            </a:r>
          </a:p>
          <a:p>
            <a:r>
              <a:t>      "positive_rate": 0.09580838323353294,</a:t>
            </a:r>
          </a:p>
          <a:p>
            <a:r>
              <a:t>      "precision": 0.09580838323353294,</a:t>
            </a:r>
          </a:p>
          <a:p>
            <a:r>
              <a:t>      "recall": 1.0,</a:t>
            </a:r>
          </a:p>
          <a:p>
            <a:r>
              <a:t>      "roc_auc": 0.5,</a:t>
            </a:r>
          </a:p>
          <a:p>
            <a:r>
              <a:t>      "row_count": 334,</a:t>
            </a:r>
          </a:p>
          <a:p>
            <a:r>
              <a:t>      "threshold": 0.5</a:t>
            </a:r>
          </a:p>
          <a:p>
            <a:r>
              <a:t>    },</a:t>
            </a:r>
          </a:p>
          <a:p>
            <a:r>
              <a:t>    "gates": {</a:t>
            </a:r>
          </a:p>
          <a:p>
            <a:r>
              <a:t>      "ap_above_baseline": true,</a:t>
            </a:r>
          </a:p>
          <a:p>
            <a:r>
              <a:t>      "ap_above_prevalence": true,</a:t>
            </a:r>
          </a:p>
          <a:p>
            <a:r>
              <a:t>      "auc_prc_above_half": false,</a:t>
            </a:r>
          </a:p>
          <a:p>
            <a:r>
              <a:t>      "passed": false,</a:t>
            </a:r>
          </a:p>
          <a:p>
            <a:r>
              <a:t>      "roc_above_half": true,</a:t>
            </a:r>
          </a:p>
          <a:p>
            <a:r>
              <a:t>      "valid": true</a:t>
            </a:r>
          </a:p>
          <a:p>
            <a:r>
              <a:t>    },</a:t>
            </a:r>
          </a:p>
          <a:p>
            <a:r>
              <a:t>    "level": 5,</a:t>
            </a:r>
          </a:p>
          <a:p>
            <a:r>
              <a:t>    "model": "qwen_embedding",</a:t>
            </a:r>
          </a:p>
          <a:p>
            <a:r>
              <a:t>    "project": "IntelDAOS",</a:t>
            </a:r>
          </a:p>
          <a:p>
            <a:r>
              <a:t>    "selection_sha256": "f0dcc67cf962726a5e7309db3b68018dab0d679150b7d85219d9140e4e69e11d",</a:t>
            </a:r>
          </a:p>
          <a:p>
            <a:r>
              <a:t>    "stage": "final-test",</a:t>
            </a:r>
          </a:p>
          <a:p>
            <a:r>
              <a:t>    "test": {</a:t>
            </a:r>
          </a:p>
          <a:p>
            <a:r>
              <a:t>      "accuracy": 0.7934131736526946,</a:t>
            </a:r>
          </a:p>
          <a:p>
            <a:r>
              <a:t>      "auc_prc": 0.27026694300575455,</a:t>
            </a:r>
          </a:p>
          <a:p>
            <a:r>
              <a:t>      "average_precision": 0.2887378003502482,</a:t>
            </a:r>
          </a:p>
          <a:p>
            <a:r>
              <a:t>      "balanced_accuracy": 0.6622516556291391,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249,</a:t>
            </a:r>
          </a:p>
          <a:p>
            <a:r>
              <a:t>          53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16,</a:t>
            </a:r>
          </a:p>
          <a:p>
            <a:r>
              <a:t>          16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0.31683168316831684,</a:t>
            </a:r>
          </a:p>
          <a:p>
            <a:r>
              <a:t>      "positive_count": 32,</a:t>
            </a:r>
          </a:p>
          <a:p>
            <a:r>
              <a:t>      "positive_rate": 0.09580838323353294,</a:t>
            </a:r>
          </a:p>
          <a:p>
            <a:r>
              <a:t>      "precision": 0.2318840579710145,</a:t>
            </a:r>
          </a:p>
          <a:p>
            <a:r>
              <a:t>      "recall": 0.5,</a:t>
            </a:r>
          </a:p>
          <a:p>
            <a:r>
              <a:t>      "roc_auc": 0.7228373344370861,</a:t>
            </a:r>
          </a:p>
          <a:p>
            <a:r>
              <a:t>      "row_count": 334,</a:t>
            </a:r>
          </a:p>
          <a:p>
            <a:r>
              <a:t>      "threshold": 0.27999999999999997</a:t>
            </a:r>
          </a:p>
          <a:p>
            <a:r>
              <a:t>    },</a:t>
            </a:r>
          </a:p>
          <a:p>
            <a:r>
              <a:t>    "test_predictions_sha256": "20bbd37e745659222630375324d9fed9ad0c0502ac34485e7879d80f5bea524c",</a:t>
            </a:r>
          </a:p>
          <a:p>
            <a:r>
              <a:t>    "uncertainty": {</a:t>
            </a:r>
          </a:p>
          <a:p>
            <a:r>
              <a:t>      "difference_95": {</a:t>
            </a:r>
          </a:p>
          <a:p>
            <a:r>
              <a:t>        "auc_prc": [</a:t>
            </a:r>
          </a:p>
          <a:p>
            <a:r>
              <a:t>          -0.007632962762468631,</a:t>
            </a:r>
          </a:p>
          <a:p>
            <a:r>
              <a:t>          0.2795260388752509</a:t>
            </a:r>
          </a:p>
          <a:p>
            <a:r>
              <a:t>        ],</a:t>
            </a:r>
          </a:p>
          <a:p>
            <a:r>
              <a:t>        "average_precision": [</a:t>
            </a:r>
          </a:p>
          <a:p>
            <a:r>
              <a:t>          -0.013101984990284862,</a:t>
            </a:r>
          </a:p>
          <a:p>
            <a:r>
              <a:t>          0.2777739319096881</a:t>
            </a:r>
          </a:p>
          <a:p>
            <a:r>
              <a:t>        ],</a:t>
            </a:r>
          </a:p>
          <a:p>
            <a:r>
              <a:t>        "roc_auc": [</a:t>
            </a:r>
          </a:p>
          <a:p>
            <a:r>
              <a:t>          -0.03444336569579285,</a:t>
            </a:r>
          </a:p>
          <a:p>
            <a:r>
              <a:t>          0.1616651884743988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"method": "paired issue bootstrap; does not model temporal dependence",</a:t>
            </a:r>
          </a:p>
          <a:p>
            <a:r>
              <a:t>      "metrics_95": {</a:t>
            </a:r>
          </a:p>
          <a:p>
            <a:r>
              <a:t>        "auc_prc": [</a:t>
            </a:r>
          </a:p>
          <a:p>
            <a:r>
              <a:t>          0.14693600673478466,</a:t>
            </a:r>
          </a:p>
          <a:p>
            <a:r>
              <a:t>          0.4512649903118119</a:t>
            </a:r>
          </a:p>
          <a:p>
            <a:r>
              <a:t>        ],</a:t>
            </a:r>
          </a:p>
          <a:p>
            <a:r>
              <a:t>        "average_precision": [</a:t>
            </a:r>
          </a:p>
          <a:p>
            <a:r>
              <a:t>          0.1688063455564027,</a:t>
            </a:r>
          </a:p>
          <a:p>
            <a:r>
              <a:t>          0.46348576393804747</a:t>
            </a:r>
          </a:p>
          <a:p>
            <a:r>
              <a:t>        ],</a:t>
            </a:r>
          </a:p>
          <a:p>
            <a:r>
              <a:t>        "roc_auc": [</a:t>
            </a:r>
          </a:p>
          <a:p>
            <a:r>
              <a:t>          0.6279235754704566,</a:t>
            </a:r>
          </a:p>
          <a:p>
            <a:r>
              <a:t>          0.8143372208353159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"requested_samples": 2000,</a:t>
            </a:r>
          </a:p>
          <a:p>
            <a:r>
              <a:t>      "valid_samples": 2000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"artifact_reference": {</a:t>
            </a:r>
          </a:p>
          <a:p>
            <a:r>
              <a:t>      "base": {</a:t>
            </a:r>
          </a:p>
          <a:p>
            <a:r>
              <a:t>        "id": "Qwen/Qwen3-Embedding-0.6B",</a:t>
            </a:r>
          </a:p>
          <a:p>
            <a:r>
              <a:t>        "license": "apache-2.0",</a:t>
            </a:r>
          </a:p>
          <a:p>
            <a:r>
              <a:t>        "lora_targets": [</a:t>
            </a:r>
          </a:p>
          <a:p>
            <a:r>
              <a:t>          "q_proj",</a:t>
            </a:r>
          </a:p>
          <a:p>
            <a:r>
              <a:t>          "v_proj"</a:t>
            </a:r>
          </a:p>
          <a:p>
            <a:r>
              <a:t>        ],</a:t>
            </a:r>
          </a:p>
          <a:p>
            <a:r>
              <a:t>        "parameters_billions": 0.6,</a:t>
            </a:r>
          </a:p>
          <a:p>
            <a:r>
              <a:t>        "pooling": "last",</a:t>
            </a:r>
          </a:p>
          <a:p>
            <a:r>
              <a:t>        "profile_vram_gib": [</a:t>
            </a:r>
          </a:p>
          <a:p>
            <a:r>
              <a:t>          12,</a:t>
            </a:r>
          </a:p>
          <a:p>
            <a:r>
              <a:t>          24</a:t>
            </a:r>
          </a:p>
          <a:p>
            <a:r>
              <a:t>        ],</a:t>
            </a:r>
          </a:p>
          <a:p>
            <a:r>
              <a:t>        "quantize": false,</a:t>
            </a:r>
          </a:p>
          <a:p>
            <a:r>
              <a:t>        "revision": "97b0c614be4d77ee51c0cef4e5f07c00f9eb65b3"</a:t>
            </a:r>
          </a:p>
          <a:p>
            <a:r>
              <a:t>      },</a:t>
            </a:r>
          </a:p>
          <a:p>
            <a:r>
              <a:t>      "config_sha256": "2bc94a1680d72c09dc8a1a93e4f0806cc6e558c7ad21cdf328626690c7b33440",</a:t>
            </a:r>
          </a:p>
          <a:p>
            <a:r>
              <a:t>      "source_sha256": "974b8eebd00626edaa8d1b985055722bdaf3dd4d428612dfa6d47863abe771fe",</a:t>
            </a:r>
          </a:p>
          <a:p>
            <a:r>
              <a:t>      "study_relative_checkpoint": "frozen/IntelDAOS/qwen_embedding/10/4472aaa46dad1ea1/checkpoint"</a:t>
            </a:r>
          </a:p>
          <a:p>
            <a:r>
              <a:t>    },</a:t>
            </a:r>
          </a:p>
          <a:p>
            <a:r>
              <a:t>    "baseline": {</a:t>
            </a:r>
          </a:p>
          <a:p>
            <a:r>
              <a:t>      "accuracy": 0.7664670658682635,</a:t>
            </a:r>
          </a:p>
          <a:p>
            <a:r>
              <a:t>      "auc_prc": 0.2060907279754762,</a:t>
            </a:r>
          </a:p>
          <a:p>
            <a:r>
              <a:t>      "average_precision": 0.21563174885998476,</a:t>
            </a:r>
          </a:p>
          <a:p>
            <a:r>
              <a:t>      "balanced_accuracy": 0.6224985867721877,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243,</a:t>
            </a:r>
          </a:p>
          <a:p>
            <a:r>
              <a:t>          62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16,</a:t>
            </a:r>
          </a:p>
          <a:p>
            <a:r>
              <a:t>          13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0.25,</a:t>
            </a:r>
          </a:p>
          <a:p>
            <a:r>
              <a:t>      "positive_count": 29,</a:t>
            </a:r>
          </a:p>
          <a:p>
            <a:r>
              <a:t>      "positive_rate": 0.08682634730538923,</a:t>
            </a:r>
          </a:p>
          <a:p>
            <a:r>
              <a:t>      "precision": 0.17333333333333334,</a:t>
            </a:r>
          </a:p>
          <a:p>
            <a:r>
              <a:t>      "recall": 0.4482758620689655,</a:t>
            </a:r>
          </a:p>
          <a:p>
            <a:r>
              <a:t>      "roc_auc": 0.7213114754098361,</a:t>
            </a:r>
          </a:p>
          <a:p>
            <a:r>
              <a:t>      "row_count": 334,</a:t>
            </a:r>
          </a:p>
          <a:p>
            <a:r>
              <a:t>      "threshold": 0.5</a:t>
            </a:r>
          </a:p>
          <a:p>
            <a:r>
              <a:t>    },</a:t>
            </a:r>
          </a:p>
          <a:p>
            <a:r>
              <a:t>    "baseline_identity": {</a:t>
            </a:r>
          </a:p>
          <a:p>
            <a:r>
              <a:t>      "model": "XGboost",</a:t>
            </a:r>
          </a:p>
          <a:p>
            <a:r>
              <a:t>      "variant": "baseline"</a:t>
            </a:r>
          </a:p>
          <a:p>
            <a:r>
              <a:t>    },</a:t>
            </a:r>
          </a:p>
          <a:p>
            <a:r>
              <a:t>    "checkpoint_files": {</a:t>
            </a:r>
          </a:p>
          <a:p>
            <a:r>
              <a:t>      "README.md": "ffc8fafa13ea9f677e0cc9556b8021ab2fca4d72703e1e46312158ebb225dc83",</a:t>
            </a:r>
          </a:p>
          <a:p>
            <a:r>
              <a:t>      "head.safetensors": "a4db8df6f7d15c5e8016e2cfdf969d6eb0d6095555b8ac74b0a1347b76609c51",</a:t>
            </a:r>
          </a:p>
          <a:p>
            <a:r>
              <a:t>      "inference.json": "53e75ab8ff642c5652f8bac61b1a998707be024af63027d373f28a7aee39bd3f"</a:t>
            </a:r>
          </a:p>
          <a:p>
            <a:r>
              <a:t>    },</a:t>
            </a:r>
          </a:p>
          <a:p>
            <a:r>
              <a:t>    "constant_score": {</a:t>
            </a:r>
          </a:p>
          <a:p>
            <a:r>
              <a:t>      "accuracy": 0.08682634730538923,</a:t>
            </a:r>
          </a:p>
          <a:p>
            <a:r>
              <a:t>      "auc_prc": 0.5434131736526946,</a:t>
            </a:r>
          </a:p>
          <a:p>
            <a:r>
              <a:t>      "average_precision": 0.08682634730538923,</a:t>
            </a:r>
          </a:p>
          <a:p>
            <a:r>
              <a:t>      "balanced_accuracy": 0.5,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305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29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0.15977961432506887,</a:t>
            </a:r>
          </a:p>
          <a:p>
            <a:r>
              <a:t>      "positive_count": 29,</a:t>
            </a:r>
          </a:p>
          <a:p>
            <a:r>
              <a:t>      "positive_rate": 0.08682634730538923,</a:t>
            </a:r>
          </a:p>
          <a:p>
            <a:r>
              <a:t>      "precision": 0.08682634730538923,</a:t>
            </a:r>
          </a:p>
          <a:p>
            <a:r>
              <a:t>      "recall": 1.0,</a:t>
            </a:r>
          </a:p>
          <a:p>
            <a:r>
              <a:t>      "roc_auc": 0.5,</a:t>
            </a:r>
          </a:p>
          <a:p>
            <a:r>
              <a:t>      "row_count": 334,</a:t>
            </a:r>
          </a:p>
          <a:p>
            <a:r>
              <a:t>      "threshold": 0.5</a:t>
            </a:r>
          </a:p>
          <a:p>
            <a:r>
              <a:t>    },</a:t>
            </a:r>
          </a:p>
          <a:p>
            <a:r>
              <a:t>    "gates": {</a:t>
            </a:r>
          </a:p>
          <a:p>
            <a:r>
              <a:t>      "ap_above_baseline": false,</a:t>
            </a:r>
          </a:p>
          <a:p>
            <a:r>
              <a:t>      "ap_above_prevalence": true,</a:t>
            </a:r>
          </a:p>
          <a:p>
            <a:r>
              <a:t>      "auc_prc_above_half": false,</a:t>
            </a:r>
          </a:p>
          <a:p>
            <a:r>
              <a:t>      "passed": false,</a:t>
            </a:r>
          </a:p>
          <a:p>
            <a:r>
              <a:t>      "roc_above_half": true,</a:t>
            </a:r>
          </a:p>
          <a:p>
            <a:r>
              <a:t>      "valid": true</a:t>
            </a:r>
          </a:p>
          <a:p>
            <a:r>
              <a:t>    },</a:t>
            </a:r>
          </a:p>
          <a:p>
            <a:r>
              <a:t>    "level": 10,</a:t>
            </a:r>
          </a:p>
          <a:p>
            <a:r>
              <a:t>    "model": "qwen_embedding",</a:t>
            </a:r>
          </a:p>
          <a:p>
            <a:r>
              <a:t>    "project": "IntelDAOS",</a:t>
            </a:r>
          </a:p>
          <a:p>
            <a:r>
              <a:t>    "selection_sha256": "a513dec6316263801f41cfba27750a232d49208f7f4b4aa094c54c8c029b4b97",</a:t>
            </a:r>
          </a:p>
          <a:p>
            <a:r>
              <a:t>    "stage": "final-test",</a:t>
            </a:r>
          </a:p>
          <a:p>
            <a:r>
              <a:t>    "test": {</a:t>
            </a:r>
          </a:p>
          <a:p>
            <a:r>
              <a:t>      "accuracy": 0.6796407185628742,</a:t>
            </a:r>
          </a:p>
          <a:p>
            <a:r>
              <a:t>      "auc_prc": 0.09708720606675181,</a:t>
            </a:r>
          </a:p>
          <a:p>
            <a:r>
              <a:t>      "average_precision": 0.10328342338207525,</a:t>
            </a:r>
          </a:p>
          <a:p>
            <a:r>
              <a:t>      "balanced_accuracy": 0.5281514980214811,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217,</a:t>
            </a:r>
          </a:p>
          <a:p>
            <a:r>
              <a:t>          88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19,</a:t>
            </a:r>
          </a:p>
          <a:p>
            <a:r>
              <a:t>          10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0.15748031496062995,</a:t>
            </a:r>
          </a:p>
          <a:p>
            <a:r>
              <a:t>      "positive_count": 29,</a:t>
            </a:r>
          </a:p>
          <a:p>
            <a:r>
              <a:t>      "positive_rate": 0.08682634730538923,</a:t>
            </a:r>
          </a:p>
          <a:p>
            <a:r>
              <a:t>      "precision": 0.10204081632653061,</a:t>
            </a:r>
          </a:p>
          <a:p>
            <a:r>
              <a:t>      "recall": 0.3448275862068966,</a:t>
            </a:r>
          </a:p>
          <a:p>
            <a:r>
              <a:t>      "roc_auc": 0.5700395703787451,</a:t>
            </a:r>
          </a:p>
          <a:p>
            <a:r>
              <a:t>      "row_count": 334,</a:t>
            </a:r>
          </a:p>
          <a:p>
            <a:r>
              <a:t>      "threshold": 0.5199999999999999</a:t>
            </a:r>
          </a:p>
          <a:p>
            <a:r>
              <a:t>    },</a:t>
            </a:r>
          </a:p>
          <a:p>
            <a:r>
              <a:t>    "test_predictions_sha256": "2a14f547da82c83a05e422fad28a3f7931ca7f3fd0bce0993065cfdabc1a76df",</a:t>
            </a:r>
          </a:p>
          <a:p>
            <a:r>
              <a:t>    "uncertainty": {</a:t>
            </a:r>
          </a:p>
          <a:p>
            <a:r>
              <a:t>      "difference_95": {</a:t>
            </a:r>
          </a:p>
          <a:p>
            <a:r>
              <a:t>        "auc_prc": [</a:t>
            </a:r>
          </a:p>
          <a:p>
            <a:r>
              <a:t>          -0.22690827630365393,</a:t>
            </a:r>
          </a:p>
          <a:p>
            <a:r>
              <a:t>          -0.02845720944658694</a:t>
            </a:r>
          </a:p>
          <a:p>
            <a:r>
              <a:t>        ],</a:t>
            </a:r>
          </a:p>
          <a:p>
            <a:r>
              <a:t>        "average_precision": [</a:t>
            </a:r>
          </a:p>
          <a:p>
            <a:r>
              <a:t>          -0.22912841536594974,</a:t>
            </a:r>
          </a:p>
          <a:p>
            <a:r>
              <a:t>          -0.030048898643007884</a:t>
            </a:r>
          </a:p>
          <a:p>
            <a:r>
              <a:t>        ],</a:t>
            </a:r>
          </a:p>
          <a:p>
            <a:r>
              <a:t>        "roc_auc": [</a:t>
            </a:r>
          </a:p>
          <a:p>
            <a:r>
              <a:t>          -0.26062972305900467,</a:t>
            </a:r>
          </a:p>
          <a:p>
            <a:r>
              <a:t>          -0.043312046590574936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"method": "paired issue bootstrap; does not model temporal dependence",</a:t>
            </a:r>
          </a:p>
          <a:p>
            <a:r>
              <a:t>      "metrics_95": {</a:t>
            </a:r>
          </a:p>
          <a:p>
            <a:r>
              <a:t>        "auc_prc": [</a:t>
            </a:r>
          </a:p>
          <a:p>
            <a:r>
              <a:t>          0.06057133360552632,</a:t>
            </a:r>
          </a:p>
          <a:p>
            <a:r>
              <a:t>          0.15208239976821616</a:t>
            </a:r>
          </a:p>
          <a:p>
            <a:r>
              <a:t>        ],</a:t>
            </a:r>
          </a:p>
          <a:p>
            <a:r>
              <a:t>        "average_precision": [</a:t>
            </a:r>
          </a:p>
          <a:p>
            <a:r>
              <a:t>          0.06808997291902331,</a:t>
            </a:r>
          </a:p>
          <a:p>
            <a:r>
              <a:t>          0.17062340315281166</a:t>
            </a:r>
          </a:p>
          <a:p>
            <a:r>
              <a:t>        ],</a:t>
            </a:r>
          </a:p>
          <a:p>
            <a:r>
              <a:t>        "roc_auc": [</a:t>
            </a:r>
          </a:p>
          <a:p>
            <a:r>
              <a:t>          0.471171955624355,</a:t>
            </a:r>
          </a:p>
          <a:p>
            <a:r>
              <a:t>          0.6695452916933701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"requested_samples": 2000,</a:t>
            </a:r>
          </a:p>
          <a:p>
            <a:r>
              <a:t>      "valid_samples": 2000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"artifact_reference": {</a:t>
            </a:r>
          </a:p>
          <a:p>
            <a:r>
              <a:t>      "base": {</a:t>
            </a:r>
          </a:p>
          <a:p>
            <a:r>
              <a:t>        "id": "Qwen/Qwen3-Embedding-0.6B",</a:t>
            </a:r>
          </a:p>
          <a:p>
            <a:r>
              <a:t>        "license": "apache-2.0",</a:t>
            </a:r>
          </a:p>
          <a:p>
            <a:r>
              <a:t>        "lora_targets": [</a:t>
            </a:r>
          </a:p>
          <a:p>
            <a:r>
              <a:t>          "q_proj",</a:t>
            </a:r>
          </a:p>
          <a:p>
            <a:r>
              <a:t>          "v_proj"</a:t>
            </a:r>
          </a:p>
          <a:p>
            <a:r>
              <a:t>        ],</a:t>
            </a:r>
          </a:p>
          <a:p>
            <a:r>
              <a:t>        "parameters_billions": 0.6,</a:t>
            </a:r>
          </a:p>
          <a:p>
            <a:r>
              <a:t>        "pooling": "last",</a:t>
            </a:r>
          </a:p>
          <a:p>
            <a:r>
              <a:t>        "profile_vram_gib": [</a:t>
            </a:r>
          </a:p>
          <a:p>
            <a:r>
              <a:t>          12,</a:t>
            </a:r>
          </a:p>
          <a:p>
            <a:r>
              <a:t>          24</a:t>
            </a:r>
          </a:p>
          <a:p>
            <a:r>
              <a:t>        ],</a:t>
            </a:r>
          </a:p>
          <a:p>
            <a:r>
              <a:t>        "quantize": false,</a:t>
            </a:r>
          </a:p>
          <a:p>
            <a:r>
              <a:t>        "revision": "97b0c614be4d77ee51c0cef4e5f07c00f9eb65b3"</a:t>
            </a:r>
          </a:p>
          <a:p>
            <a:r>
              <a:t>      },</a:t>
            </a:r>
          </a:p>
          <a:p>
            <a:r>
              <a:t>      "config_sha256": "2bc94a1680d72c09dc8a1a93e4f0806cc6e558c7ad21cdf328626690c7b33440",</a:t>
            </a:r>
          </a:p>
          <a:p>
            <a:r>
              <a:t>      "source_sha256": "974b8eebd00626edaa8d1b985055722bdaf3dd4d428612dfa6d47863abe771fe",</a:t>
            </a:r>
          </a:p>
          <a:p>
            <a:r>
              <a:t>      "study_relative_checkpoint": "frozen/IntelDAOS/qwen_embedding/15/4472aaa46dad1ea1/checkpoint"</a:t>
            </a:r>
          </a:p>
          <a:p>
            <a:r>
              <a:t>    },</a:t>
            </a:r>
          </a:p>
          <a:p>
            <a:r>
              <a:t>    "baseline": {</a:t>
            </a:r>
          </a:p>
          <a:p>
            <a:r>
              <a:t>      "accuracy": 0.7485029940119761,</a:t>
            </a:r>
          </a:p>
          <a:p>
            <a:r>
              <a:t>      "auc_prc": 0.24364200589496596,</a:t>
            </a:r>
          </a:p>
          <a:p>
            <a:r>
              <a:t>      "average_precision": 0.2524883734368554,</a:t>
            </a:r>
          </a:p>
          <a:p>
            <a:r>
              <a:t>      "balanced_accuracy": 0.6146505376344086,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239,</a:t>
            </a:r>
          </a:p>
          <a:p>
            <a:r>
              <a:t>          71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13,</a:t>
            </a:r>
          </a:p>
          <a:p>
            <a:r>
              <a:t>          11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0.20754716981132074,</a:t>
            </a:r>
          </a:p>
          <a:p>
            <a:r>
              <a:t>      "positive_count": 24,</a:t>
            </a:r>
          </a:p>
          <a:p>
            <a:r>
              <a:t>      "positive_rate": 0.0718562874251497,</a:t>
            </a:r>
          </a:p>
          <a:p>
            <a:r>
              <a:t>      "precision": 0.13414634146341464,</a:t>
            </a:r>
          </a:p>
          <a:p>
            <a:r>
              <a:t>      "recall": 0.4583333333333333,</a:t>
            </a:r>
          </a:p>
          <a:p>
            <a:r>
              <a:t>      "roc_auc": 0.690994623655914,</a:t>
            </a:r>
          </a:p>
          <a:p>
            <a:r>
              <a:t>      "row_count": 334,</a:t>
            </a:r>
          </a:p>
          <a:p>
            <a:r>
              <a:t>      "threshold": 0.5</a:t>
            </a:r>
          </a:p>
          <a:p>
            <a:r>
              <a:t>    },</a:t>
            </a:r>
          </a:p>
          <a:p>
            <a:r>
              <a:t>    "baseline_identity": {</a:t>
            </a:r>
          </a:p>
          <a:p>
            <a:r>
              <a:t>      "model": "XGboost",</a:t>
            </a:r>
          </a:p>
          <a:p>
            <a:r>
              <a:t>      "variant": "baseline"</a:t>
            </a:r>
          </a:p>
          <a:p>
            <a:r>
              <a:t>    },</a:t>
            </a:r>
          </a:p>
          <a:p>
            <a:r>
              <a:t>    "checkpoint_files": {</a:t>
            </a:r>
          </a:p>
          <a:p>
            <a:r>
              <a:t>      "README.md": "6582aa1a3b0bd2d604a5612ed231a8c222a02f6273743f05464e543a8b9370ef",</a:t>
            </a:r>
          </a:p>
          <a:p>
            <a:r>
              <a:t>      "head.safetensors": "994d28fc0c3b802275b55ac4ed33e9d4825a10c1923d3485b2b370f871540e58",</a:t>
            </a:r>
          </a:p>
          <a:p>
            <a:r>
              <a:t>      "inference.json": "4239878fe085b271905a5b6ac363158edeae7694e19df0d41fce106c69238cfa"</a:t>
            </a:r>
          </a:p>
          <a:p>
            <a:r>
              <a:t>    },</a:t>
            </a:r>
          </a:p>
          <a:p>
            <a:r>
              <a:t>    "constant_score": {</a:t>
            </a:r>
          </a:p>
          <a:p>
            <a:r>
              <a:t>      "accuracy": 0.0718562874251497,</a:t>
            </a:r>
          </a:p>
          <a:p>
            <a:r>
              <a:t>      "auc_prc": 0.5359281437125748,</a:t>
            </a:r>
          </a:p>
          <a:p>
            <a:r>
              <a:t>      "average_precision": 0.0718562874251497,</a:t>
            </a:r>
          </a:p>
          <a:p>
            <a:r>
              <a:t>      "balanced_accuracy": 0.5,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310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24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0.1340782122905028,</a:t>
            </a:r>
          </a:p>
          <a:p>
            <a:r>
              <a:t>      "positive_count": 24,</a:t>
            </a:r>
          </a:p>
          <a:p>
            <a:r>
              <a:t>      "positive_rate": 0.0718562874251497,</a:t>
            </a:r>
          </a:p>
          <a:p>
            <a:r>
              <a:t>      "precision": 0.0718562874251497,</a:t>
            </a:r>
          </a:p>
          <a:p>
            <a:r>
              <a:t>      "recall": 1.0,</a:t>
            </a:r>
          </a:p>
          <a:p>
            <a:r>
              <a:t>      "roc_auc": 0.5,</a:t>
            </a:r>
          </a:p>
          <a:p>
            <a:r>
              <a:t>      "row_count": 334,</a:t>
            </a:r>
          </a:p>
          <a:p>
            <a:r>
              <a:t>      "threshold": 0.5</a:t>
            </a:r>
          </a:p>
          <a:p>
            <a:r>
              <a:t>    },</a:t>
            </a:r>
          </a:p>
          <a:p>
            <a:r>
              <a:t>    "gates": {</a:t>
            </a:r>
          </a:p>
          <a:p>
            <a:r>
              <a:t>      "ap_above_baseline": false,</a:t>
            </a:r>
          </a:p>
          <a:p>
            <a:r>
              <a:t>      "ap_above_prevalence": true,</a:t>
            </a:r>
          </a:p>
          <a:p>
            <a:r>
              <a:t>      "auc_prc_above_half": false,</a:t>
            </a:r>
          </a:p>
          <a:p>
            <a:r>
              <a:t>      "passed": false,</a:t>
            </a:r>
          </a:p>
          <a:p>
            <a:r>
              <a:t>      "roc_above_half": true,</a:t>
            </a:r>
          </a:p>
          <a:p>
            <a:r>
              <a:t>      "valid": true</a:t>
            </a:r>
          </a:p>
          <a:p>
            <a:r>
              <a:t>    },</a:t>
            </a:r>
          </a:p>
          <a:p>
            <a:r>
              <a:t>    "level": 15,</a:t>
            </a:r>
          </a:p>
          <a:p>
            <a:r>
              <a:t>    "model": "qwen_embedding",</a:t>
            </a:r>
          </a:p>
          <a:p>
            <a:r>
              <a:t>    "project": "IntelDAOS",</a:t>
            </a:r>
          </a:p>
          <a:p>
            <a:r>
              <a:t>    "selection_sha256": "c62b036b59009d024ae490a1a542302dd6ef71a5957b758cf68c13813b974693",</a:t>
            </a:r>
          </a:p>
          <a:p>
            <a:r>
              <a:t>    "stage": "final-test",</a:t>
            </a:r>
          </a:p>
          <a:p>
            <a:r>
              <a:t>    "test": {</a:t>
            </a:r>
          </a:p>
          <a:p>
            <a:r>
              <a:t>      "accuracy": 0.7904191616766467,</a:t>
            </a:r>
          </a:p>
          <a:p>
            <a:r>
              <a:t>      "auc_prc": 0.08825267951039667,</a:t>
            </a:r>
          </a:p>
          <a:p>
            <a:r>
              <a:t>      "average_precision": 0.09522466895436131,</a:t>
            </a:r>
          </a:p>
          <a:p>
            <a:r>
              <a:t>      "balanced_accuracy": 0.5219086021505376,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259,</a:t>
            </a:r>
          </a:p>
          <a:p>
            <a:r>
              <a:t>          51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19,</a:t>
            </a:r>
          </a:p>
          <a:p>
            <a:r>
              <a:t>          5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0.125,</a:t>
            </a:r>
          </a:p>
          <a:p>
            <a:r>
              <a:t>      "positive_count": 24,</a:t>
            </a:r>
          </a:p>
          <a:p>
            <a:r>
              <a:t>      "positive_rate": 0.0718562874251497,</a:t>
            </a:r>
          </a:p>
          <a:p>
            <a:r>
              <a:t>      "precision": 0.08928571428571429,</a:t>
            </a:r>
          </a:p>
          <a:p>
            <a:r>
              <a:t>      "recall": 0.20833333333333334,</a:t>
            </a:r>
          </a:p>
          <a:p>
            <a:r>
              <a:t>      "roc_auc": 0.5790322580645161,</a:t>
            </a:r>
          </a:p>
          <a:p>
            <a:r>
              <a:t>      "row_count": 334,</a:t>
            </a:r>
          </a:p>
          <a:p>
            <a:r>
              <a:t>      "threshold": 0.62</a:t>
            </a:r>
          </a:p>
          <a:p>
            <a:r>
              <a:t>    },</a:t>
            </a:r>
          </a:p>
          <a:p>
            <a:r>
              <a:t>    "test_predictions_sha256": "0eb750b4438f31f1f714a9a547d2c8edfbbf443d97610153a8e20fbfa3cd9a65",</a:t>
            </a:r>
          </a:p>
          <a:p>
            <a:r>
              <a:t>    "uncertainty": {</a:t>
            </a:r>
          </a:p>
          <a:p>
            <a:r>
              <a:t>      "difference_95": {</a:t>
            </a:r>
          </a:p>
          <a:p>
            <a:r>
              <a:t>        "auc_prc": [</a:t>
            </a:r>
          </a:p>
          <a:p>
            <a:r>
              <a:t>          -0.322567918806113,</a:t>
            </a:r>
          </a:p>
          <a:p>
            <a:r>
              <a:t>          -0.026031495761039195</a:t>
            </a:r>
          </a:p>
          <a:p>
            <a:r>
              <a:t>        ],</a:t>
            </a:r>
          </a:p>
          <a:p>
            <a:r>
              <a:t>        "average_precision": [</a:t>
            </a:r>
          </a:p>
          <a:p>
            <a:r>
              <a:t>          -0.32075746628897783,</a:t>
            </a:r>
          </a:p>
          <a:p>
            <a:r>
              <a:t>          -0.030265828079000686</a:t>
            </a:r>
          </a:p>
          <a:p>
            <a:r>
              <a:t>        ],</a:t>
            </a:r>
          </a:p>
          <a:p>
            <a:r>
              <a:t>        "roc_auc": [</a:t>
            </a:r>
          </a:p>
          <a:p>
            <a:r>
              <a:t>          -0.2750867415924475,</a:t>
            </a:r>
          </a:p>
          <a:p>
            <a:r>
              <a:t>          0.032990521841647934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"method": "paired issue bootstrap; does not model temporal dependence",</a:t>
            </a:r>
          </a:p>
          <a:p>
            <a:r>
              <a:t>      "metrics_95": {</a:t>
            </a:r>
          </a:p>
          <a:p>
            <a:r>
              <a:t>        "auc_prc": [</a:t>
            </a:r>
          </a:p>
          <a:p>
            <a:r>
              <a:t>          0.0502134755047628,</a:t>
            </a:r>
          </a:p>
          <a:p>
            <a:r>
              <a:t>          0.14668805290151857</a:t>
            </a:r>
          </a:p>
          <a:p>
            <a:r>
              <a:t>        ],</a:t>
            </a:r>
          </a:p>
          <a:p>
            <a:r>
              <a:t>        "average_precision": [</a:t>
            </a:r>
          </a:p>
          <a:p>
            <a:r>
              <a:t>          0.057564036805210224,</a:t>
            </a:r>
          </a:p>
          <a:p>
            <a:r>
              <a:t>          0.16867714376702425</a:t>
            </a:r>
          </a:p>
          <a:p>
            <a:r>
              <a:t>        ],</a:t>
            </a:r>
          </a:p>
          <a:p>
            <a:r>
              <a:t>        "roc_auc": [</a:t>
            </a:r>
          </a:p>
          <a:p>
            <a:r>
              <a:t>          0.46434555597534366,</a:t>
            </a:r>
          </a:p>
          <a:p>
            <a:r>
              <a:t>          0.6918137181032751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"requested_samples": 2000,</a:t>
            </a:r>
          </a:p>
          <a:p>
            <a:r>
              <a:t>      "valid_samples": 2000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"artifact_reference": {</a:t>
            </a:r>
          </a:p>
          <a:p>
            <a:r>
              <a:t>      "base": {</a:t>
            </a:r>
          </a:p>
          <a:p>
            <a:r>
              <a:t>        "id": "Qwen/Qwen3-Embedding-0.6B",</a:t>
            </a:r>
          </a:p>
          <a:p>
            <a:r>
              <a:t>        "license": "apache-2.0",</a:t>
            </a:r>
          </a:p>
          <a:p>
            <a:r>
              <a:t>        "lora_targets": [</a:t>
            </a:r>
          </a:p>
          <a:p>
            <a:r>
              <a:t>          "q_proj",</a:t>
            </a:r>
          </a:p>
          <a:p>
            <a:r>
              <a:t>          "v_proj"</a:t>
            </a:r>
          </a:p>
          <a:p>
            <a:r>
              <a:t>        ],</a:t>
            </a:r>
          </a:p>
          <a:p>
            <a:r>
              <a:t>        "parameters_billions": 0.6,</a:t>
            </a:r>
          </a:p>
          <a:p>
            <a:r>
              <a:t>        "pooling": "last",</a:t>
            </a:r>
          </a:p>
          <a:p>
            <a:r>
              <a:t>        "profile_vram_gib": [</a:t>
            </a:r>
          </a:p>
          <a:p>
            <a:r>
              <a:t>          12,</a:t>
            </a:r>
          </a:p>
          <a:p>
            <a:r>
              <a:t>          24</a:t>
            </a:r>
          </a:p>
          <a:p>
            <a:r>
              <a:t>        ],</a:t>
            </a:r>
          </a:p>
          <a:p>
            <a:r>
              <a:t>        "quantize": false,</a:t>
            </a:r>
          </a:p>
          <a:p>
            <a:r>
              <a:t>        "revision": "97b0c614be4d77ee51c0cef4e5f07c00f9eb65b3"</a:t>
            </a:r>
          </a:p>
          <a:p>
            <a:r>
              <a:t>      },</a:t>
            </a:r>
          </a:p>
          <a:p>
            <a:r>
              <a:t>      "config_sha256": "2bc94a1680d72c09dc8a1a93e4f0806cc6e558c7ad21cdf328626690c7b33440",</a:t>
            </a:r>
          </a:p>
          <a:p>
            <a:r>
              <a:t>      "source_sha256": "974b8eebd00626edaa8d1b985055722bdaf3dd4d428612dfa6d47863abe771fe",</a:t>
            </a:r>
          </a:p>
          <a:p>
            <a:r>
              <a:t>      "study_relative_checkpoint": "frozen/IntelDAOS/qwen_embedding/20/b9d1876b234d8d9e/checkpoint"</a:t>
            </a:r>
          </a:p>
          <a:p>
            <a:r>
              <a:t>    },</a:t>
            </a:r>
          </a:p>
          <a:p>
            <a:r>
              <a:t>    "baseline": {</a:t>
            </a:r>
          </a:p>
          <a:p>
            <a:r>
              <a:t>      "accuracy": 0.9341317365269461,</a:t>
            </a:r>
          </a:p>
          <a:p>
            <a:r>
              <a:t>      "auc_prc": 0.10267715858007523,</a:t>
            </a:r>
          </a:p>
          <a:p>
            <a:r>
              <a:t>      "average_precision": 0.12024835361654783,</a:t>
            </a:r>
          </a:p>
          <a:p>
            <a:r>
              <a:t>      "balanced_accuracy": 0.5,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312,</a:t>
            </a:r>
          </a:p>
          <a:p>
            <a:r>
              <a:t>          0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22,</a:t>
            </a:r>
          </a:p>
          <a:p>
            <a:r>
              <a:t>          0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0.0,</a:t>
            </a:r>
          </a:p>
          <a:p>
            <a:r>
              <a:t>      "positive_count": 22,</a:t>
            </a:r>
          </a:p>
          <a:p>
            <a:r>
              <a:t>      "positive_rate": 0.0658682634730539,</a:t>
            </a:r>
          </a:p>
          <a:p>
            <a:r>
              <a:t>      "precision": 0.0,</a:t>
            </a:r>
          </a:p>
          <a:p>
            <a:r>
              <a:t>      "recall": 0.0,</a:t>
            </a:r>
          </a:p>
          <a:p>
            <a:r>
              <a:t>      "roc_auc": 0.6401515151515151,</a:t>
            </a:r>
          </a:p>
          <a:p>
            <a:r>
              <a:t>      "row_count": 334,</a:t>
            </a:r>
          </a:p>
          <a:p>
            <a:r>
              <a:t>      "threshold": 0.5</a:t>
            </a:r>
          </a:p>
          <a:p>
            <a:r>
              <a:t>    },</a:t>
            </a:r>
          </a:p>
          <a:p>
            <a:r>
              <a:t>    "baseline_identity": {</a:t>
            </a:r>
          </a:p>
          <a:p>
            <a:r>
              <a:t>      "model": "RF",</a:t>
            </a:r>
          </a:p>
          <a:p>
            <a:r>
              <a:t>      "variant": "baseline"</a:t>
            </a:r>
          </a:p>
          <a:p>
            <a:r>
              <a:t>    },</a:t>
            </a:r>
          </a:p>
          <a:p>
            <a:r>
              <a:t>    "checkpoint_files": {</a:t>
            </a:r>
          </a:p>
          <a:p>
            <a:r>
              <a:t>      "README.md": "6b197c248f9db577d60ac90f05e10ac6b4ffb5f9a420c15de7ec9b2ba5f06851",</a:t>
            </a:r>
          </a:p>
          <a:p>
            <a:r>
              <a:t>      "head.safetensors": "b5b1f8bc0301db1ffb254d47fad498f295b3108c391cfa933e9bf90b7f4ac259",</a:t>
            </a:r>
          </a:p>
          <a:p>
            <a:r>
              <a:t>      "inference.json": "a8df03ab3c294b0c181f2d3f4a2272276cf5c44b0b0b758ad96183220c7aa817"</a:t>
            </a:r>
          </a:p>
          <a:p>
            <a:r>
              <a:t>    },</a:t>
            </a:r>
          </a:p>
          <a:p>
            <a:r>
              <a:t>    "constant_score": {</a:t>
            </a:r>
          </a:p>
          <a:p>
            <a:r>
              <a:t>      "accuracy": 0.0658682634730539,</a:t>
            </a:r>
          </a:p>
          <a:p>
            <a:r>
              <a:t>      "auc_prc": 0.5329341317365269,</a:t>
            </a:r>
          </a:p>
          <a:p>
            <a:r>
              <a:t>      "average_precision": 0.0658682634730539,</a:t>
            </a:r>
          </a:p>
          <a:p>
            <a:r>
              <a:t>      "balanced_accuracy": 0.5,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312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22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0.12359550561797754,</a:t>
            </a:r>
          </a:p>
          <a:p>
            <a:r>
              <a:t>      "positive_count": 22,</a:t>
            </a:r>
          </a:p>
          <a:p>
            <a:r>
              <a:t>      "positive_rate": 0.0658682634730539,</a:t>
            </a:r>
          </a:p>
          <a:p>
            <a:r>
              <a:t>      "precision": 0.0658682634730539,</a:t>
            </a:r>
          </a:p>
          <a:p>
            <a:r>
              <a:t>      "recall": 1.0,</a:t>
            </a:r>
          </a:p>
          <a:p>
            <a:r>
              <a:t>      "roc_auc": 0.5,</a:t>
            </a:r>
          </a:p>
          <a:p>
            <a:r>
              <a:t>      "row_count": 334,</a:t>
            </a:r>
          </a:p>
          <a:p>
            <a:r>
              <a:t>      "threshold": 0.5</a:t>
            </a:r>
          </a:p>
          <a:p>
            <a:r>
              <a:t>    },</a:t>
            </a:r>
          </a:p>
          <a:p>
            <a:r>
              <a:t>    "gates": {</a:t>
            </a:r>
          </a:p>
          <a:p>
            <a:r>
              <a:t>      "ap_above_baseline": true,</a:t>
            </a:r>
          </a:p>
          <a:p>
            <a:r>
              <a:t>      "ap_above_prevalence": true,</a:t>
            </a:r>
          </a:p>
          <a:p>
            <a:r>
              <a:t>      "auc_prc_above_half": false,</a:t>
            </a:r>
          </a:p>
          <a:p>
            <a:r>
              <a:t>      "passed": false,</a:t>
            </a:r>
          </a:p>
          <a:p>
            <a:r>
              <a:t>      "roc_above_half": true,</a:t>
            </a:r>
          </a:p>
          <a:p>
            <a:r>
              <a:t>      "valid": true</a:t>
            </a:r>
          </a:p>
          <a:p>
            <a:r>
              <a:t>    },</a:t>
            </a:r>
          </a:p>
          <a:p>
            <a:r>
              <a:t>    "level": 20,</a:t>
            </a:r>
          </a:p>
          <a:p>
            <a:r>
              <a:t>    "model": "qwen_embedding",</a:t>
            </a:r>
          </a:p>
          <a:p>
            <a:r>
              <a:t>    "project": "IntelDAOS",</a:t>
            </a:r>
          </a:p>
          <a:p>
            <a:r>
              <a:t>    "selection_sha256": "5c0eb7733a957198f68a2fabc62aeb9cfc5cc7b2bff23969ab122f08e652e460",</a:t>
            </a:r>
          </a:p>
          <a:p>
            <a:r>
              <a:t>    "stage": "final-test",</a:t>
            </a:r>
          </a:p>
          <a:p>
            <a:r>
              <a:t>    "test": {</a:t>
            </a:r>
          </a:p>
          <a:p>
            <a:r>
              <a:t>      "accuracy": 0.9341317365269461,</a:t>
            </a:r>
          </a:p>
          <a:p>
            <a:r>
              <a:t>      "auc_prc": 0.11494928997175463,</a:t>
            </a:r>
          </a:p>
          <a:p>
            <a:r>
              <a:t>      "average_precision": 0.12334783891373455,</a:t>
            </a:r>
          </a:p>
          <a:p>
            <a:r>
              <a:t>      "balanced_accuracy": 0.5,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312,</a:t>
            </a:r>
          </a:p>
          <a:p>
            <a:r>
              <a:t>          0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22,</a:t>
            </a:r>
          </a:p>
          <a:p>
            <a:r>
              <a:t>          0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0.0,</a:t>
            </a:r>
          </a:p>
          <a:p>
            <a:r>
              <a:t>      "positive_count": 22,</a:t>
            </a:r>
          </a:p>
          <a:p>
            <a:r>
              <a:t>      "positive_rate": 0.0658682634730539,</a:t>
            </a:r>
          </a:p>
          <a:p>
            <a:r>
              <a:t>      "precision": 0.0,</a:t>
            </a:r>
          </a:p>
          <a:p>
            <a:r>
              <a:t>      "recall": 0.0,</a:t>
            </a:r>
          </a:p>
          <a:p>
            <a:r>
              <a:t>      "roc_auc": 0.6968240093240093,</a:t>
            </a:r>
          </a:p>
          <a:p>
            <a:r>
              <a:t>      "row_count": 334,</a:t>
            </a:r>
          </a:p>
          <a:p>
            <a:r>
              <a:t>      "threshold": 0.05</a:t>
            </a:r>
          </a:p>
          <a:p>
            <a:r>
              <a:t>    },</a:t>
            </a:r>
          </a:p>
          <a:p>
            <a:r>
              <a:t>    "test_predictions_sha256": "def42608ac6a7e282d51f007679452b91f0c8e4d223a801f893e1e609b04653d",</a:t>
            </a:r>
          </a:p>
          <a:p>
            <a:r>
              <a:t>    "uncertainty": {</a:t>
            </a:r>
          </a:p>
          <a:p>
            <a:r>
              <a:t>      "difference_95": {</a:t>
            </a:r>
          </a:p>
          <a:p>
            <a:r>
              <a:t>        "auc_prc": [</a:t>
            </a:r>
          </a:p>
          <a:p>
            <a:r>
              <a:t>          -0.09158380500851294,</a:t>
            </a:r>
          </a:p>
          <a:p>
            <a:r>
              <a:t>          0.05824737823476053</a:t>
            </a:r>
          </a:p>
          <a:p>
            <a:r>
              <a:t>        ],</a:t>
            </a:r>
          </a:p>
          <a:p>
            <a:r>
              <a:t>        "average_precision": [</a:t>
            </a:r>
          </a:p>
          <a:p>
            <a:r>
              <a:t>          -0.09708775702227004,</a:t>
            </a:r>
          </a:p>
          <a:p>
            <a:r>
              <a:t>          0.06361078566100851</a:t>
            </a:r>
          </a:p>
          <a:p>
            <a:r>
              <a:t>        ],</a:t>
            </a:r>
          </a:p>
          <a:p>
            <a:r>
              <a:t>        "roc_auc": [</a:t>
            </a:r>
          </a:p>
          <a:p>
            <a:r>
              <a:t>          -0.06570651294498381,</a:t>
            </a:r>
          </a:p>
          <a:p>
            <a:r>
              <a:t>          0.1850542427793133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"method": "paired issue bootstrap; does not model temporal dependence",</a:t>
            </a:r>
          </a:p>
          <a:p>
            <a:r>
              <a:t>      "metrics_95": {</a:t>
            </a:r>
          </a:p>
          <a:p>
            <a:r>
              <a:t>        "auc_prc": [</a:t>
            </a:r>
          </a:p>
          <a:p>
            <a:r>
              <a:t>          0.06545551813638606,</a:t>
            </a:r>
          </a:p>
          <a:p>
            <a:r>
              <a:t>          0.18641564902080518</a:t>
            </a:r>
          </a:p>
          <a:p>
            <a:r>
              <a:t>        ],</a:t>
            </a:r>
          </a:p>
          <a:p>
            <a:r>
              <a:t>        "average_precision": [</a:t>
            </a:r>
          </a:p>
          <a:p>
            <a:r>
              <a:t>          0.07547770494635613,</a:t>
            </a:r>
          </a:p>
          <a:p>
            <a:r>
              <a:t>          0.2096993703375439</a:t>
            </a:r>
          </a:p>
          <a:p>
            <a:r>
              <a:t>        ],</a:t>
            </a:r>
          </a:p>
          <a:p>
            <a:r>
              <a:t>        "roc_auc": [</a:t>
            </a:r>
          </a:p>
          <a:p>
            <a:r>
              <a:t>          0.5887292389042996,</a:t>
            </a:r>
          </a:p>
          <a:p>
            <a:r>
              <a:t>          0.7970090962229854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"requested_samples": 2000,</a:t>
            </a:r>
          </a:p>
          <a:p>
            <a:r>
              <a:t>      "valid_samples": 2000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Study: hf-20261008-modernbert-qwen. Report received October 19, 2026. Report SHA256: 7698fe31e652cc8d24fb2cc8ff8a443c2c1ec04ac3786cd9bf3dc0e6f4ec006a. Study SHA256: 111d8a78875a8263475514691b581904a9164855d91603ac7dc4e32f838a5095. Source: data/hf-20261008-report.json; counts from the frozen reference_contract.json. Reported metrics are not independently recomputed from raw predictions. Matched classical comparator selected by validation AUC-PRC in historical PR #357. Labels: &gt;= K changed words AND at least one summary/description/acceptance change. Test metrics are unweighted. Scores are retrospective; public-Jira pretraining contamination is possible. Paired issue bootstrap does not model temporal dependence.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"artifact_reference": {</a:t>
            </a:r>
          </a:p>
          <a:p>
            <a:r>
              <a:t>      "base": {</a:t>
            </a:r>
          </a:p>
          <a:p>
            <a:r>
              <a:t>        "id": "Qwen/Qwen3-Embedding-0.6B",</a:t>
            </a:r>
          </a:p>
          <a:p>
            <a:r>
              <a:t>        "license": "apache-2.0",</a:t>
            </a:r>
          </a:p>
          <a:p>
            <a:r>
              <a:t>        "lora_targets": [</a:t>
            </a:r>
          </a:p>
          <a:p>
            <a:r>
              <a:t>          "q_proj",</a:t>
            </a:r>
          </a:p>
          <a:p>
            <a:r>
              <a:t>          "v_proj"</a:t>
            </a:r>
          </a:p>
          <a:p>
            <a:r>
              <a:t>        ],</a:t>
            </a:r>
          </a:p>
          <a:p>
            <a:r>
              <a:t>        "parameters_billions": 0.6,</a:t>
            </a:r>
          </a:p>
          <a:p>
            <a:r>
              <a:t>        "pooling": "last",</a:t>
            </a:r>
          </a:p>
          <a:p>
            <a:r>
              <a:t>        "profile_vram_gib": [</a:t>
            </a:r>
          </a:p>
          <a:p>
            <a:r>
              <a:t>          12,</a:t>
            </a:r>
          </a:p>
          <a:p>
            <a:r>
              <a:t>          24</a:t>
            </a:r>
          </a:p>
          <a:p>
            <a:r>
              <a:t>        ],</a:t>
            </a:r>
          </a:p>
          <a:p>
            <a:r>
              <a:t>        "quantize": false,</a:t>
            </a:r>
          </a:p>
          <a:p>
            <a:r>
              <a:t>        "revision": "97b0c614be4d77ee51c0cef4e5f07c00f9eb65b3"</a:t>
            </a:r>
          </a:p>
          <a:p>
            <a:r>
              <a:t>      },</a:t>
            </a:r>
          </a:p>
          <a:p>
            <a:r>
              <a:t>      "config_sha256": "2bc94a1680d72c09dc8a1a93e4f0806cc6e558c7ad21cdf328626690c7b33440",</a:t>
            </a:r>
          </a:p>
          <a:p>
            <a:r>
              <a:t>      "source_sha256": "974b8eebd00626edaa8d1b985055722bdaf3dd4d428612dfa6d47863abe771fe",</a:t>
            </a:r>
          </a:p>
          <a:p>
            <a:r>
              <a:t>      "study_relative_checkpoint": "frozen/Jira/qwen_embedding/5/960e0f5859a4a3fd/checkpoint"</a:t>
            </a:r>
          </a:p>
          <a:p>
            <a:r>
              <a:t>    },</a:t>
            </a:r>
          </a:p>
          <a:p>
            <a:r>
              <a:t>    "baseline": {</a:t>
            </a:r>
          </a:p>
          <a:p>
            <a:r>
              <a:t>      "accuracy": 0.5221518987341772,</a:t>
            </a:r>
          </a:p>
          <a:p>
            <a:r>
              <a:t>      "auc_prc": 0.5753418831841499,</a:t>
            </a:r>
          </a:p>
          <a:p>
            <a:r>
              <a:t>      "average_precision": 0.5790822636139572,</a:t>
            </a:r>
          </a:p>
          <a:p>
            <a:r>
              <a:t>      "balanced_accuracy": 0.5326752618855761,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98,</a:t>
            </a:r>
          </a:p>
          <a:p>
            <a:r>
              <a:t>          48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103,</a:t>
            </a:r>
          </a:p>
          <a:p>
            <a:r>
              <a:t>          67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0.47017543859649125,</a:t>
            </a:r>
          </a:p>
          <a:p>
            <a:r>
              <a:t>      "positive_count": 170,</a:t>
            </a:r>
          </a:p>
          <a:p>
            <a:r>
              <a:t>      "positive_rate": 0.5379746835443038,</a:t>
            </a:r>
          </a:p>
          <a:p>
            <a:r>
              <a:t>      "precision": 0.5826086956521739,</a:t>
            </a:r>
          </a:p>
          <a:p>
            <a:r>
              <a:t>      "recall": 0.3941176470588235,</a:t>
            </a:r>
          </a:p>
          <a:p>
            <a:r>
              <a:t>      "roc_auc": 0.6402095084609186,</a:t>
            </a:r>
          </a:p>
          <a:p>
            <a:r>
              <a:t>      "row_count": 316,</a:t>
            </a:r>
          </a:p>
          <a:p>
            <a:r>
              <a:t>      "threshold": 0.5</a:t>
            </a:r>
          </a:p>
          <a:p>
            <a:r>
              <a:t>    },</a:t>
            </a:r>
          </a:p>
          <a:p>
            <a:r>
              <a:t>    "baseline_identity": {</a:t>
            </a:r>
          </a:p>
          <a:p>
            <a:r>
              <a:t>      "model": "XGboost",</a:t>
            </a:r>
          </a:p>
          <a:p>
            <a:r>
              <a:t>      "variant": "refactored"</a:t>
            </a:r>
          </a:p>
          <a:p>
            <a:r>
              <a:t>    },</a:t>
            </a:r>
          </a:p>
          <a:p>
            <a:r>
              <a:t>    "checkpoint_files": {</a:t>
            </a:r>
          </a:p>
          <a:p>
            <a:r>
              <a:t>      "README.md": "6d080608560867beb44a9dcd3bbc33ab111686d430cb9a1d1b231d91b64a5f6b",</a:t>
            </a:r>
          </a:p>
          <a:p>
            <a:r>
              <a:t>      "head.safetensors": "66b8b101cc945a2adefe402b956c746810de3d04426448e45c2966acd513ee41",</a:t>
            </a:r>
          </a:p>
          <a:p>
            <a:r>
              <a:t>      "inference.json": "20d8dc071e7823d12aa6e4bf185c27e5ab7a8d4e2ee416744061f454db5345f4"</a:t>
            </a:r>
          </a:p>
          <a:p>
            <a:r>
              <a:t>    },</a:t>
            </a:r>
          </a:p>
          <a:p>
            <a:r>
              <a:t>    "constant_score": {</a:t>
            </a:r>
          </a:p>
          <a:p>
            <a:r>
              <a:t>      "accuracy": 0.5379746835443038,</a:t>
            </a:r>
          </a:p>
          <a:p>
            <a:r>
              <a:t>      "auc_prc": 0.7689873417721519,</a:t>
            </a:r>
          </a:p>
          <a:p>
            <a:r>
              <a:t>      "average_precision": 0.5379746835443038,</a:t>
            </a:r>
          </a:p>
          <a:p>
            <a:r>
              <a:t>      "balanced_accuracy": 0.5,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146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170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0.6995884773662552,</a:t>
            </a:r>
          </a:p>
          <a:p>
            <a:r>
              <a:t>      "positive_count": 170,</a:t>
            </a:r>
          </a:p>
          <a:p>
            <a:r>
              <a:t>      "positive_rate": 0.5379746835443038,</a:t>
            </a:r>
          </a:p>
          <a:p>
            <a:r>
              <a:t>      "precision": 0.5379746835443038,</a:t>
            </a:r>
          </a:p>
          <a:p>
            <a:r>
              <a:t>      "recall": 1.0,</a:t>
            </a:r>
          </a:p>
          <a:p>
            <a:r>
              <a:t>      "roc_auc": 0.5,</a:t>
            </a:r>
          </a:p>
          <a:p>
            <a:r>
              <a:t>      "row_count": 316,</a:t>
            </a:r>
          </a:p>
          <a:p>
            <a:r>
              <a:t>      "threshold": 0.5</a:t>
            </a:r>
          </a:p>
          <a:p>
            <a:r>
              <a:t>    },</a:t>
            </a:r>
          </a:p>
          <a:p>
            <a:r>
              <a:t>    "gates": {</a:t>
            </a:r>
          </a:p>
          <a:p>
            <a:r>
              <a:t>      "ap_above_baseline": false,</a:t>
            </a:r>
          </a:p>
          <a:p>
            <a:r>
              <a:t>      "ap_above_prevalence": true,</a:t>
            </a:r>
          </a:p>
          <a:p>
            <a:r>
              <a:t>      "auc_prc_above_half": true,</a:t>
            </a:r>
          </a:p>
          <a:p>
            <a:r>
              <a:t>      "passed": false,</a:t>
            </a:r>
          </a:p>
          <a:p>
            <a:r>
              <a:t>      "roc_above_half": true,</a:t>
            </a:r>
          </a:p>
          <a:p>
            <a:r>
              <a:t>      "valid": true</a:t>
            </a:r>
          </a:p>
          <a:p>
            <a:r>
              <a:t>    },</a:t>
            </a:r>
          </a:p>
          <a:p>
            <a:r>
              <a:t>    "level": 5,</a:t>
            </a:r>
          </a:p>
          <a:p>
            <a:r>
              <a:t>    "model": "qwen_embedding",</a:t>
            </a:r>
          </a:p>
          <a:p>
            <a:r>
              <a:t>    "project": "Jira",</a:t>
            </a:r>
          </a:p>
          <a:p>
            <a:r>
              <a:t>    "selection_sha256": "e02337de599196f92c40ed09945d10845e9ae7b3e0b6f374b5bca77191ee3e72",</a:t>
            </a:r>
          </a:p>
          <a:p>
            <a:r>
              <a:t>    "stage": "final-test",</a:t>
            </a:r>
          </a:p>
          <a:p>
            <a:r>
              <a:t>    "test": {</a:t>
            </a:r>
          </a:p>
          <a:p>
            <a:r>
              <a:t>      "accuracy": 0.569620253164557,</a:t>
            </a:r>
          </a:p>
          <a:p>
            <a:r>
              <a:t>      "auc_prc": 0.5645963940223742,</a:t>
            </a:r>
          </a:p>
          <a:p>
            <a:r>
              <a:t>      "average_precision": 0.5680404912933061,</a:t>
            </a:r>
          </a:p>
          <a:p>
            <a:r>
              <a:t>      "balanced_accuracy": 0.5763094278807414,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97,</a:t>
            </a:r>
          </a:p>
          <a:p>
            <a:r>
              <a:t>          49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87,</a:t>
            </a:r>
          </a:p>
          <a:p>
            <a:r>
              <a:t>          83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0.5496688741721855,</a:t>
            </a:r>
          </a:p>
          <a:p>
            <a:r>
              <a:t>      "positive_count": 170,</a:t>
            </a:r>
          </a:p>
          <a:p>
            <a:r>
              <a:t>      "positive_rate": 0.5379746835443038,</a:t>
            </a:r>
          </a:p>
          <a:p>
            <a:r>
              <a:t>      "precision": 0.6287878787878788,</a:t>
            </a:r>
          </a:p>
          <a:p>
            <a:r>
              <a:t>      "recall": 0.48823529411764705,</a:t>
            </a:r>
          </a:p>
          <a:p>
            <a:r>
              <a:t>      "roc_auc": 0.6177276390008059,</a:t>
            </a:r>
          </a:p>
          <a:p>
            <a:r>
              <a:t>      "row_count": 316,</a:t>
            </a:r>
          </a:p>
          <a:p>
            <a:r>
              <a:t>      "threshold": 0.15999999999999998</a:t>
            </a:r>
          </a:p>
          <a:p>
            <a:r>
              <a:t>    },</a:t>
            </a:r>
          </a:p>
          <a:p>
            <a:r>
              <a:t>    "test_predictions_sha256": "72dfd21ecbdadbfca6b9c2b29ceb6d48f91c74e6a1b2642fbbaa19fea04d05e4",</a:t>
            </a:r>
          </a:p>
          <a:p>
            <a:r>
              <a:t>    "uncertainty": {</a:t>
            </a:r>
          </a:p>
          <a:p>
            <a:r>
              <a:t>      "difference_95": {</a:t>
            </a:r>
          </a:p>
          <a:p>
            <a:r>
              <a:t>        "auc_prc": [</a:t>
            </a:r>
          </a:p>
          <a:p>
            <a:r>
              <a:t>          -0.03837579252754468,</a:t>
            </a:r>
          </a:p>
          <a:p>
            <a:r>
              <a:t>          0.019918360064478297</a:t>
            </a:r>
          </a:p>
          <a:p>
            <a:r>
              <a:t>        ],</a:t>
            </a:r>
          </a:p>
          <a:p>
            <a:r>
              <a:t>        "average_precision": [</a:t>
            </a:r>
          </a:p>
          <a:p>
            <a:r>
              <a:t>          -0.03802276696804885,</a:t>
            </a:r>
          </a:p>
          <a:p>
            <a:r>
              <a:t>          0.018875612983334147</a:t>
            </a:r>
          </a:p>
          <a:p>
            <a:r>
              <a:t>        ],</a:t>
            </a:r>
          </a:p>
          <a:p>
            <a:r>
              <a:t>        "roc_auc": [</a:t>
            </a:r>
          </a:p>
          <a:p>
            <a:r>
              <a:t>          -0.05634362599206351,</a:t>
            </a:r>
          </a:p>
          <a:p>
            <a:r>
              <a:t>          0.010774457661023848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"method": "paired issue bootstrap; does not model temporal dependence",</a:t>
            </a:r>
          </a:p>
          <a:p>
            <a:r>
              <a:t>      "metrics_95": {</a:t>
            </a:r>
          </a:p>
          <a:p>
            <a:r>
              <a:t>        "auc_prc": [</a:t>
            </a:r>
          </a:p>
          <a:p>
            <a:r>
              <a:t>          0.4937389804959244,</a:t>
            </a:r>
          </a:p>
          <a:p>
            <a:r>
              <a:t>          0.6429221748418934</a:t>
            </a:r>
          </a:p>
          <a:p>
            <a:r>
              <a:t>        ],</a:t>
            </a:r>
          </a:p>
          <a:p>
            <a:r>
              <a:t>        "average_precision": [</a:t>
            </a:r>
          </a:p>
          <a:p>
            <a:r>
              <a:t>          0.5005655799004934,</a:t>
            </a:r>
          </a:p>
          <a:p>
            <a:r>
              <a:t>          0.6493495199762099</a:t>
            </a:r>
          </a:p>
          <a:p>
            <a:r>
              <a:t>        ],</a:t>
            </a:r>
          </a:p>
          <a:p>
            <a:r>
              <a:t>        "roc_auc": [</a:t>
            </a:r>
          </a:p>
          <a:p>
            <a:r>
              <a:t>          0.5478989489627788,</a:t>
            </a:r>
          </a:p>
          <a:p>
            <a:r>
              <a:t>          0.6883378556059183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"requested_samples": 2000,</a:t>
            </a:r>
          </a:p>
          <a:p>
            <a:r>
              <a:t>      "valid_samples": 2000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"artifact_reference": {</a:t>
            </a:r>
          </a:p>
          <a:p>
            <a:r>
              <a:t>      "base": {</a:t>
            </a:r>
          </a:p>
          <a:p>
            <a:r>
              <a:t>        "id": "Qwen/Qwen3-Embedding-0.6B",</a:t>
            </a:r>
          </a:p>
          <a:p>
            <a:r>
              <a:t>        "license": "apache-2.0",</a:t>
            </a:r>
          </a:p>
          <a:p>
            <a:r>
              <a:t>        "lora_targets": [</a:t>
            </a:r>
          </a:p>
          <a:p>
            <a:r>
              <a:t>          "q_proj",</a:t>
            </a:r>
          </a:p>
          <a:p>
            <a:r>
              <a:t>          "v_proj"</a:t>
            </a:r>
          </a:p>
          <a:p>
            <a:r>
              <a:t>        ],</a:t>
            </a:r>
          </a:p>
          <a:p>
            <a:r>
              <a:t>        "parameters_billions": 0.6,</a:t>
            </a:r>
          </a:p>
          <a:p>
            <a:r>
              <a:t>        "pooling": "last",</a:t>
            </a:r>
          </a:p>
          <a:p>
            <a:r>
              <a:t>        "profile_vram_gib": [</a:t>
            </a:r>
          </a:p>
          <a:p>
            <a:r>
              <a:t>          12,</a:t>
            </a:r>
          </a:p>
          <a:p>
            <a:r>
              <a:t>          24</a:t>
            </a:r>
          </a:p>
          <a:p>
            <a:r>
              <a:t>        ],</a:t>
            </a:r>
          </a:p>
          <a:p>
            <a:r>
              <a:t>        "quantize": false,</a:t>
            </a:r>
          </a:p>
          <a:p>
            <a:r>
              <a:t>        "revision": "97b0c614be4d77ee51c0cef4e5f07c00f9eb65b3"</a:t>
            </a:r>
          </a:p>
          <a:p>
            <a:r>
              <a:t>      },</a:t>
            </a:r>
          </a:p>
          <a:p>
            <a:r>
              <a:t>      "config_sha256": "2bc94a1680d72c09dc8a1a93e4f0806cc6e558c7ad21cdf328626690c7b33440",</a:t>
            </a:r>
          </a:p>
          <a:p>
            <a:r>
              <a:t>      "source_sha256": "974b8eebd00626edaa8d1b985055722bdaf3dd4d428612dfa6d47863abe771fe",</a:t>
            </a:r>
          </a:p>
          <a:p>
            <a:r>
              <a:t>      "study_relative_checkpoint": "frozen/Jira/qwen_embedding/10/38814b7cd5ea6942/checkpoint"</a:t>
            </a:r>
          </a:p>
          <a:p>
            <a:r>
              <a:t>    },</a:t>
            </a:r>
          </a:p>
          <a:p>
            <a:r>
              <a:t>    "baseline": {</a:t>
            </a:r>
          </a:p>
          <a:p>
            <a:r>
              <a:t>      "accuracy": 0.5158227848101266,</a:t>
            </a:r>
          </a:p>
          <a:p>
            <a:r>
              <a:t>      "auc_prc": 0.5661166448407884,</a:t>
            </a:r>
          </a:p>
          <a:p>
            <a:r>
              <a:t>      "average_precision": 0.5759045306249805,</a:t>
            </a:r>
          </a:p>
          <a:p>
            <a:r>
              <a:t>      "balanced_accuracy": 0.52102053915276,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100,</a:t>
            </a:r>
          </a:p>
          <a:p>
            <a:r>
              <a:t>          52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101,</a:t>
            </a:r>
          </a:p>
          <a:p>
            <a:r>
              <a:t>          63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0.45161290322580644,</a:t>
            </a:r>
          </a:p>
          <a:p>
            <a:r>
              <a:t>      "positive_count": 164,</a:t>
            </a:r>
          </a:p>
          <a:p>
            <a:r>
              <a:t>      "positive_rate": 0.5189873417721519,</a:t>
            </a:r>
          </a:p>
          <a:p>
            <a:r>
              <a:t>      "precision": 0.5478260869565217,</a:t>
            </a:r>
          </a:p>
          <a:p>
            <a:r>
              <a:t>      "recall": 0.38414634146341464,</a:t>
            </a:r>
          </a:p>
          <a:p>
            <a:r>
              <a:t>      "roc_auc": 0.6604621309370988,</a:t>
            </a:r>
          </a:p>
          <a:p>
            <a:r>
              <a:t>      "row_count": 316,</a:t>
            </a:r>
          </a:p>
          <a:p>
            <a:r>
              <a:t>      "threshold": 0.5</a:t>
            </a:r>
          </a:p>
          <a:p>
            <a:r>
              <a:t>    },</a:t>
            </a:r>
          </a:p>
          <a:p>
            <a:r>
              <a:t>    "baseline_identity": {</a:t>
            </a:r>
          </a:p>
          <a:p>
            <a:r>
              <a:t>      "model": "XGboost",</a:t>
            </a:r>
          </a:p>
          <a:p>
            <a:r>
              <a:t>      "variant": "refactored"</a:t>
            </a:r>
          </a:p>
          <a:p>
            <a:r>
              <a:t>    },</a:t>
            </a:r>
          </a:p>
          <a:p>
            <a:r>
              <a:t>    "checkpoint_files": {</a:t>
            </a:r>
          </a:p>
          <a:p>
            <a:r>
              <a:t>      "README.md": "a4a9732e24df32de177cb48788977881a4d4d96246abe1e3ec1715e083b0517e",</a:t>
            </a:r>
          </a:p>
          <a:p>
            <a:r>
              <a:t>      "head.safetensors": "a5739666b0bce5aacd2ff90988510d40cd00fb618066af690bdc605ccea0107d",</a:t>
            </a:r>
          </a:p>
          <a:p>
            <a:r>
              <a:t>      "inference.json": "d62cd5c058bf2b6ca136bdca76ee3d0467d1d94f96dc571475bdb8e0273708ef"</a:t>
            </a:r>
          </a:p>
          <a:p>
            <a:r>
              <a:t>    },</a:t>
            </a:r>
          </a:p>
          <a:p>
            <a:r>
              <a:t>    "constant_score": {</a:t>
            </a:r>
          </a:p>
          <a:p>
            <a:r>
              <a:t>      "accuracy": 0.5189873417721519,</a:t>
            </a:r>
          </a:p>
          <a:p>
            <a:r>
              <a:t>      "auc_prc": 0.759493670886076,</a:t>
            </a:r>
          </a:p>
          <a:p>
            <a:r>
              <a:t>      "average_precision": 0.5189873417721519,</a:t>
            </a:r>
          </a:p>
          <a:p>
            <a:r>
              <a:t>      "balanced_accuracy": 0.5,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152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164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0.6833333333333332,</a:t>
            </a:r>
          </a:p>
          <a:p>
            <a:r>
              <a:t>      "positive_count": 164,</a:t>
            </a:r>
          </a:p>
          <a:p>
            <a:r>
              <a:t>      "positive_rate": 0.5189873417721519,</a:t>
            </a:r>
          </a:p>
          <a:p>
            <a:r>
              <a:t>      "precision": 0.5189873417721519,</a:t>
            </a:r>
          </a:p>
          <a:p>
            <a:r>
              <a:t>      "recall": 1.0,</a:t>
            </a:r>
          </a:p>
          <a:p>
            <a:r>
              <a:t>      "roc_auc": 0.5,</a:t>
            </a:r>
          </a:p>
          <a:p>
            <a:r>
              <a:t>      "row_count": 316,</a:t>
            </a:r>
          </a:p>
          <a:p>
            <a:r>
              <a:t>      "threshold": 0.5</a:t>
            </a:r>
          </a:p>
          <a:p>
            <a:r>
              <a:t>    },</a:t>
            </a:r>
          </a:p>
          <a:p>
            <a:r>
              <a:t>    "gates": {</a:t>
            </a:r>
          </a:p>
          <a:p>
            <a:r>
              <a:t>      "ap_above_baseline": false,</a:t>
            </a:r>
          </a:p>
          <a:p>
            <a:r>
              <a:t>      "ap_above_prevalence": true,</a:t>
            </a:r>
          </a:p>
          <a:p>
            <a:r>
              <a:t>      "auc_prc_above_half": true,</a:t>
            </a:r>
          </a:p>
          <a:p>
            <a:r>
              <a:t>      "passed": false,</a:t>
            </a:r>
          </a:p>
          <a:p>
            <a:r>
              <a:t>      "roc_above_half": true,</a:t>
            </a:r>
          </a:p>
          <a:p>
            <a:r>
              <a:t>      "valid": true</a:t>
            </a:r>
          </a:p>
          <a:p>
            <a:r>
              <a:t>    },</a:t>
            </a:r>
          </a:p>
          <a:p>
            <a:r>
              <a:t>    "level": 10,</a:t>
            </a:r>
          </a:p>
          <a:p>
            <a:r>
              <a:t>    "model": "qwen_embedding",</a:t>
            </a:r>
          </a:p>
          <a:p>
            <a:r>
              <a:t>    "project": "Jira",</a:t>
            </a:r>
          </a:p>
          <a:p>
            <a:r>
              <a:t>    "selection_sha256": "8abc7ee4ba7bef72abdb588423e8f771020f7f7a23189ceb672da15e2b69df99",</a:t>
            </a:r>
          </a:p>
          <a:p>
            <a:r>
              <a:t>    "stage": "final-test",</a:t>
            </a:r>
          </a:p>
          <a:p>
            <a:r>
              <a:t>    "test": {</a:t>
            </a:r>
          </a:p>
          <a:p>
            <a:r>
              <a:t>      "accuracy": 0.5854430379746836,</a:t>
            </a:r>
          </a:p>
          <a:p>
            <a:r>
              <a:t>      "auc_prc": 0.562723736183248,</a:t>
            </a:r>
          </a:p>
          <a:p>
            <a:r>
              <a:t>      "average_precision": 0.566368823511834,</a:t>
            </a:r>
          </a:p>
          <a:p>
            <a:r>
              <a:t>      "balanced_accuracy": 0.5873716302952503,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97,</a:t>
            </a:r>
          </a:p>
          <a:p>
            <a:r>
              <a:t>          55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76,</a:t>
            </a:r>
          </a:p>
          <a:p>
            <a:r>
              <a:t>          88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0.5732899022801303,</a:t>
            </a:r>
          </a:p>
          <a:p>
            <a:r>
              <a:t>      "positive_count": 164,</a:t>
            </a:r>
          </a:p>
          <a:p>
            <a:r>
              <a:t>      "positive_rate": 0.5189873417721519,</a:t>
            </a:r>
          </a:p>
          <a:p>
            <a:r>
              <a:t>      "precision": 0.6153846153846154,</a:t>
            </a:r>
          </a:p>
          <a:p>
            <a:r>
              <a:t>      "recall": 0.5365853658536586,</a:t>
            </a:r>
          </a:p>
          <a:p>
            <a:r>
              <a:t>      "roc_auc": 0.6426107188703466,</a:t>
            </a:r>
          </a:p>
          <a:p>
            <a:r>
              <a:t>      "row_count": 316,</a:t>
            </a:r>
          </a:p>
          <a:p>
            <a:r>
              <a:t>      "threshold": 0.29</a:t>
            </a:r>
          </a:p>
          <a:p>
            <a:r>
              <a:t>    },</a:t>
            </a:r>
          </a:p>
          <a:p>
            <a:r>
              <a:t>    "test_predictions_sha256": "f78e0dcd26c5b43ed6c43db33ccbadca704f2602e3b87f3a57874f6fcdd4f43a",</a:t>
            </a:r>
          </a:p>
          <a:p>
            <a:r>
              <a:t>    "uncertainty": {</a:t>
            </a:r>
          </a:p>
          <a:p>
            <a:r>
              <a:t>      "difference_95": {</a:t>
            </a:r>
          </a:p>
          <a:p>
            <a:r>
              <a:t>        "auc_prc": [</a:t>
            </a:r>
          </a:p>
          <a:p>
            <a:r>
              <a:t>          -0.028640716891451173,</a:t>
            </a:r>
          </a:p>
          <a:p>
            <a:r>
              <a:t>          0.02448880594874722</a:t>
            </a:r>
          </a:p>
          <a:p>
            <a:r>
              <a:t>        ],</a:t>
            </a:r>
          </a:p>
          <a:p>
            <a:r>
              <a:t>        "average_precision": [</a:t>
            </a:r>
          </a:p>
          <a:p>
            <a:r>
              <a:t>          -0.03414914751427385,</a:t>
            </a:r>
          </a:p>
          <a:p>
            <a:r>
              <a:t>          0.01809255078585122</a:t>
            </a:r>
          </a:p>
          <a:p>
            <a:r>
              <a:t>        ],</a:t>
            </a:r>
          </a:p>
          <a:p>
            <a:r>
              <a:t>        "roc_auc": [</a:t>
            </a:r>
          </a:p>
          <a:p>
            <a:r>
              <a:t>          -0.04613401113881181,</a:t>
            </a:r>
          </a:p>
          <a:p>
            <a:r>
              <a:t>          0.008834948498719476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"method": "paired issue bootstrap; does not model temporal dependence",</a:t>
            </a:r>
          </a:p>
          <a:p>
            <a:r>
              <a:t>      "metrics_95": {</a:t>
            </a:r>
          </a:p>
          <a:p>
            <a:r>
              <a:t>        "auc_prc": [</a:t>
            </a:r>
          </a:p>
          <a:p>
            <a:r>
              <a:t>          0.49039198506428533,</a:t>
            </a:r>
          </a:p>
          <a:p>
            <a:r>
              <a:t>          0.6425727505352442</a:t>
            </a:r>
          </a:p>
          <a:p>
            <a:r>
              <a:t>        ],</a:t>
            </a:r>
          </a:p>
          <a:p>
            <a:r>
              <a:t>        "average_precision": [</a:t>
            </a:r>
          </a:p>
          <a:p>
            <a:r>
              <a:t>          0.4974031013297973,</a:t>
            </a:r>
          </a:p>
          <a:p>
            <a:r>
              <a:t>          0.6489790730699891</a:t>
            </a:r>
          </a:p>
          <a:p>
            <a:r>
              <a:t>        ],</a:t>
            </a:r>
          </a:p>
          <a:p>
            <a:r>
              <a:t>        "roc_auc": [</a:t>
            </a:r>
          </a:p>
          <a:p>
            <a:r>
              <a:t>          0.5728468782717587,</a:t>
            </a:r>
          </a:p>
          <a:p>
            <a:r>
              <a:t>          0.7100189093961665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"requested_samples": 2000,</a:t>
            </a:r>
          </a:p>
          <a:p>
            <a:r>
              <a:t>      "valid_samples": 2000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"artifact_reference": {</a:t>
            </a:r>
          </a:p>
          <a:p>
            <a:r>
              <a:t>      "base": {</a:t>
            </a:r>
          </a:p>
          <a:p>
            <a:r>
              <a:t>        "id": "Qwen/Qwen3-Embedding-0.6B",</a:t>
            </a:r>
          </a:p>
          <a:p>
            <a:r>
              <a:t>        "license": "apache-2.0",</a:t>
            </a:r>
          </a:p>
          <a:p>
            <a:r>
              <a:t>        "lora_targets": [</a:t>
            </a:r>
          </a:p>
          <a:p>
            <a:r>
              <a:t>          "q_proj",</a:t>
            </a:r>
          </a:p>
          <a:p>
            <a:r>
              <a:t>          "v_proj"</a:t>
            </a:r>
          </a:p>
          <a:p>
            <a:r>
              <a:t>        ],</a:t>
            </a:r>
          </a:p>
          <a:p>
            <a:r>
              <a:t>        "parameters_billions": 0.6,</a:t>
            </a:r>
          </a:p>
          <a:p>
            <a:r>
              <a:t>        "pooling": "last",</a:t>
            </a:r>
          </a:p>
          <a:p>
            <a:r>
              <a:t>        "profile_vram_gib": [</a:t>
            </a:r>
          </a:p>
          <a:p>
            <a:r>
              <a:t>          12,</a:t>
            </a:r>
          </a:p>
          <a:p>
            <a:r>
              <a:t>          24</a:t>
            </a:r>
          </a:p>
          <a:p>
            <a:r>
              <a:t>        ],</a:t>
            </a:r>
          </a:p>
          <a:p>
            <a:r>
              <a:t>        "quantize": false,</a:t>
            </a:r>
          </a:p>
          <a:p>
            <a:r>
              <a:t>        "revision": "97b0c614be4d77ee51c0cef4e5f07c00f9eb65b3"</a:t>
            </a:r>
          </a:p>
          <a:p>
            <a:r>
              <a:t>      },</a:t>
            </a:r>
          </a:p>
          <a:p>
            <a:r>
              <a:t>      "config_sha256": "2bc94a1680d72c09dc8a1a93e4f0806cc6e558c7ad21cdf328626690c7b33440",</a:t>
            </a:r>
          </a:p>
          <a:p>
            <a:r>
              <a:t>      "source_sha256": "974b8eebd00626edaa8d1b985055722bdaf3dd4d428612dfa6d47863abe771fe",</a:t>
            </a:r>
          </a:p>
          <a:p>
            <a:r>
              <a:t>      "study_relative_checkpoint": "frozen/Jira/qwen_embedding/15/960e0f5859a4a3fd/checkpoint"</a:t>
            </a:r>
          </a:p>
          <a:p>
            <a:r>
              <a:t>    },</a:t>
            </a:r>
          </a:p>
          <a:p>
            <a:r>
              <a:t>    "baseline": {</a:t>
            </a:r>
          </a:p>
          <a:p>
            <a:r>
              <a:t>      "accuracy": 0.5,</a:t>
            </a:r>
          </a:p>
          <a:p>
            <a:r>
              <a:t>      "auc_prc": 0.5472892979370305,</a:t>
            </a:r>
          </a:p>
          <a:p>
            <a:r>
              <a:t>      "average_precision": 0.5521474289143389,</a:t>
            </a:r>
          </a:p>
          <a:p>
            <a:r>
              <a:t>      "balanced_accuracy": 0.5022435897435897,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106,</a:t>
            </a:r>
          </a:p>
          <a:p>
            <a:r>
              <a:t>          50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108,</a:t>
            </a:r>
          </a:p>
          <a:p>
            <a:r>
              <a:t>          52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0.39694656488549623,</a:t>
            </a:r>
          </a:p>
          <a:p>
            <a:r>
              <a:t>      "positive_count": 160,</a:t>
            </a:r>
          </a:p>
          <a:p>
            <a:r>
              <a:t>      "positive_rate": 0.5063291139240507,</a:t>
            </a:r>
          </a:p>
          <a:p>
            <a:r>
              <a:t>      "precision": 0.5098039215686274,</a:t>
            </a:r>
          </a:p>
          <a:p>
            <a:r>
              <a:t>      "recall": 0.325,</a:t>
            </a:r>
          </a:p>
          <a:p>
            <a:r>
              <a:t>      "roc_auc": 0.6557892628205129,</a:t>
            </a:r>
          </a:p>
          <a:p>
            <a:r>
              <a:t>      "row_count": 316,</a:t>
            </a:r>
          </a:p>
          <a:p>
            <a:r>
              <a:t>      "threshold": 0.5</a:t>
            </a:r>
          </a:p>
          <a:p>
            <a:r>
              <a:t>    },</a:t>
            </a:r>
          </a:p>
          <a:p>
            <a:r>
              <a:t>    "baseline_identity": {</a:t>
            </a:r>
          </a:p>
          <a:p>
            <a:r>
              <a:t>      "model": "XGboost",</a:t>
            </a:r>
          </a:p>
          <a:p>
            <a:r>
              <a:t>      "variant": "refactored"</a:t>
            </a:r>
          </a:p>
          <a:p>
            <a:r>
              <a:t>    },</a:t>
            </a:r>
          </a:p>
          <a:p>
            <a:r>
              <a:t>    "checkpoint_files": {</a:t>
            </a:r>
          </a:p>
          <a:p>
            <a:r>
              <a:t>      "README.md": "ec633c85596252bd398b33c122fbf7650356744b9fed46af85c52fabbb1711f5",</a:t>
            </a:r>
          </a:p>
          <a:p>
            <a:r>
              <a:t>      "head.safetensors": "eb9bc784692da619aefd81c9a073c9d81642e804fe9a6b48893eaf8fd529582c",</a:t>
            </a:r>
          </a:p>
          <a:p>
            <a:r>
              <a:t>      "inference.json": "d455a6e5da8f643c4c99723838c8f07a648523c3f54f022f8f711a636d765bf5"</a:t>
            </a:r>
          </a:p>
          <a:p>
            <a:r>
              <a:t>    },</a:t>
            </a:r>
          </a:p>
          <a:p>
            <a:r>
              <a:t>    "constant_score": {</a:t>
            </a:r>
          </a:p>
          <a:p>
            <a:r>
              <a:t>      "accuracy": 0.5063291139240507,</a:t>
            </a:r>
          </a:p>
          <a:p>
            <a:r>
              <a:t>      "auc_prc": 0.7531645569620253,</a:t>
            </a:r>
          </a:p>
          <a:p>
            <a:r>
              <a:t>      "average_precision": 0.5063291139240507,</a:t>
            </a:r>
          </a:p>
          <a:p>
            <a:r>
              <a:t>      "balanced_accuracy": 0.5,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156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160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0.6722689075630253,</a:t>
            </a:r>
          </a:p>
          <a:p>
            <a:r>
              <a:t>      "positive_count": 160,</a:t>
            </a:r>
          </a:p>
          <a:p>
            <a:r>
              <a:t>      "positive_rate": 0.5063291139240507,</a:t>
            </a:r>
          </a:p>
          <a:p>
            <a:r>
              <a:t>      "precision": 0.5063291139240507,</a:t>
            </a:r>
          </a:p>
          <a:p>
            <a:r>
              <a:t>      "recall": 1.0,</a:t>
            </a:r>
          </a:p>
          <a:p>
            <a:r>
              <a:t>      "roc_auc": 0.5,</a:t>
            </a:r>
          </a:p>
          <a:p>
            <a:r>
              <a:t>      "row_count": 316,</a:t>
            </a:r>
          </a:p>
          <a:p>
            <a:r>
              <a:t>      "threshold": 0.5</a:t>
            </a:r>
          </a:p>
          <a:p>
            <a:r>
              <a:t>    },</a:t>
            </a:r>
          </a:p>
          <a:p>
            <a:r>
              <a:t>    "gates": {</a:t>
            </a:r>
          </a:p>
          <a:p>
            <a:r>
              <a:t>      "ap_above_baseline": false,</a:t>
            </a:r>
          </a:p>
          <a:p>
            <a:r>
              <a:t>      "ap_above_prevalence": true,</a:t>
            </a:r>
          </a:p>
          <a:p>
            <a:r>
              <a:t>      "auc_prc_above_half": true,</a:t>
            </a:r>
          </a:p>
          <a:p>
            <a:r>
              <a:t>      "passed": false,</a:t>
            </a:r>
          </a:p>
          <a:p>
            <a:r>
              <a:t>      "roc_above_half": true,</a:t>
            </a:r>
          </a:p>
          <a:p>
            <a:r>
              <a:t>      "valid": true</a:t>
            </a:r>
          </a:p>
          <a:p>
            <a:r>
              <a:t>    },</a:t>
            </a:r>
          </a:p>
          <a:p>
            <a:r>
              <a:t>    "level": 15,</a:t>
            </a:r>
          </a:p>
          <a:p>
            <a:r>
              <a:t>    "model": "qwen_embedding",</a:t>
            </a:r>
          </a:p>
          <a:p>
            <a:r>
              <a:t>    "project": "Jira",</a:t>
            </a:r>
          </a:p>
          <a:p>
            <a:r>
              <a:t>    "selection_sha256": "9d68a3f01f59f95c13f19e7deba5d181e4043d3af2d0fc6873a92ace8c36b5f6",</a:t>
            </a:r>
          </a:p>
          <a:p>
            <a:r>
              <a:t>    "stage": "final-test",</a:t>
            </a:r>
          </a:p>
          <a:p>
            <a:r>
              <a:t>    "test": {</a:t>
            </a:r>
          </a:p>
          <a:p>
            <a:r>
              <a:t>      "accuracy": 0.509493670886076,</a:t>
            </a:r>
          </a:p>
          <a:p>
            <a:r>
              <a:t>      "auc_prc": 0.5402581361162972,</a:t>
            </a:r>
          </a:p>
          <a:p>
            <a:r>
              <a:t>      "average_precision": 0.543939097345407,</a:t>
            </a:r>
          </a:p>
          <a:p>
            <a:r>
              <a:t>      "balanced_accuracy": 0.5120192307692308,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111,</a:t>
            </a:r>
          </a:p>
          <a:p>
            <a:r>
              <a:t>          45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110,</a:t>
            </a:r>
          </a:p>
          <a:p>
            <a:r>
              <a:t>          50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0.39215686274509803,</a:t>
            </a:r>
          </a:p>
          <a:p>
            <a:r>
              <a:t>      "positive_count": 160,</a:t>
            </a:r>
          </a:p>
          <a:p>
            <a:r>
              <a:t>      "positive_rate": 0.5063291139240507,</a:t>
            </a:r>
          </a:p>
          <a:p>
            <a:r>
              <a:t>      "precision": 0.5263157894736842,</a:t>
            </a:r>
          </a:p>
          <a:p>
            <a:r>
              <a:t>      "recall": 0.3125,</a:t>
            </a:r>
          </a:p>
          <a:p>
            <a:r>
              <a:t>      "roc_auc": 0.6260817307692308,</a:t>
            </a:r>
          </a:p>
          <a:p>
            <a:r>
              <a:t>      "row_count": 316,</a:t>
            </a:r>
          </a:p>
          <a:p>
            <a:r>
              <a:t>      "threshold": 0.24</a:t>
            </a:r>
          </a:p>
          <a:p>
            <a:r>
              <a:t>    },</a:t>
            </a:r>
          </a:p>
          <a:p>
            <a:r>
              <a:t>    "test_predictions_sha256": "9a4149e2edc30fb7c8e5656078d4b0473770e5418e9b32e40c9bdb37c22d3607",</a:t>
            </a:r>
          </a:p>
          <a:p>
            <a:r>
              <a:t>    "uncertainty": {</a:t>
            </a:r>
          </a:p>
          <a:p>
            <a:r>
              <a:t>      "difference_95": {</a:t>
            </a:r>
          </a:p>
          <a:p>
            <a:r>
              <a:t>        "auc_prc": [</a:t>
            </a:r>
          </a:p>
          <a:p>
            <a:r>
              <a:t>          -0.037327270015001204,</a:t>
            </a:r>
          </a:p>
          <a:p>
            <a:r>
              <a:t>          0.023177270883799762</a:t>
            </a:r>
          </a:p>
          <a:p>
            <a:r>
              <a:t>        ],</a:t>
            </a:r>
          </a:p>
          <a:p>
            <a:r>
              <a:t>        "average_precision": [</a:t>
            </a:r>
          </a:p>
          <a:p>
            <a:r>
              <a:t>          -0.038723701887904007,</a:t>
            </a:r>
          </a:p>
          <a:p>
            <a:r>
              <a:t>          0.02153041242961811</a:t>
            </a:r>
          </a:p>
          <a:p>
            <a:r>
              <a:t>        ],</a:t>
            </a:r>
          </a:p>
          <a:p>
            <a:r>
              <a:t>        "roc_auc": [</a:t>
            </a:r>
          </a:p>
          <a:p>
            <a:r>
              <a:t>          -0.06631963133920966,</a:t>
            </a:r>
          </a:p>
          <a:p>
            <a:r>
              <a:t>          0.0071226360288861095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"method": "paired issue bootstrap; does not model temporal dependence",</a:t>
            </a:r>
          </a:p>
          <a:p>
            <a:r>
              <a:t>      "metrics_95": {</a:t>
            </a:r>
          </a:p>
          <a:p>
            <a:r>
              <a:t>        "auc_prc": [</a:t>
            </a:r>
          </a:p>
          <a:p>
            <a:r>
              <a:t>          0.46794741299378373,</a:t>
            </a:r>
          </a:p>
          <a:p>
            <a:r>
              <a:t>          0.6199007222484768</a:t>
            </a:r>
          </a:p>
          <a:p>
            <a:r>
              <a:t>        ],</a:t>
            </a:r>
          </a:p>
          <a:p>
            <a:r>
              <a:t>        "average_precision": [</a:t>
            </a:r>
          </a:p>
          <a:p>
            <a:r>
              <a:t>          0.4744906167949574,</a:t>
            </a:r>
          </a:p>
          <a:p>
            <a:r>
              <a:t>          0.6275850410816877</a:t>
            </a:r>
          </a:p>
          <a:p>
            <a:r>
              <a:t>        ],</a:t>
            </a:r>
          </a:p>
          <a:p>
            <a:r>
              <a:t>        "roc_auc": [</a:t>
            </a:r>
          </a:p>
          <a:p>
            <a:r>
              <a:t>          0.5571181720847526,</a:t>
            </a:r>
          </a:p>
          <a:p>
            <a:r>
              <a:t>          0.692174226374508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"requested_samples": 2000,</a:t>
            </a:r>
          </a:p>
          <a:p>
            <a:r>
              <a:t>      "valid_samples": 2000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"artifact_reference": {</a:t>
            </a:r>
          </a:p>
          <a:p>
            <a:r>
              <a:t>      "base": {</a:t>
            </a:r>
          </a:p>
          <a:p>
            <a:r>
              <a:t>        "id": "answerdotai/ModernBERT-base",</a:t>
            </a:r>
          </a:p>
          <a:p>
            <a:r>
              <a:t>        "license": "apache-2.0",</a:t>
            </a:r>
          </a:p>
          <a:p>
            <a:r>
              <a:t>        "lora_targets": [</a:t>
            </a:r>
          </a:p>
          <a:p>
            <a:r>
              <a:t>          "Wqkv",</a:t>
            </a:r>
          </a:p>
          <a:p>
            <a:r>
              <a:t>          "Wo"</a:t>
            </a:r>
          </a:p>
          <a:p>
            <a:r>
              <a:t>        ],</a:t>
            </a:r>
          </a:p>
          <a:p>
            <a:r>
              <a:t>        "parameters_billions": 0.149,</a:t>
            </a:r>
          </a:p>
          <a:p>
            <a:r>
              <a:t>        "pooling": "mean",</a:t>
            </a:r>
          </a:p>
          <a:p>
            <a:r>
              <a:t>        "profile_vram_gib": [</a:t>
            </a:r>
          </a:p>
          <a:p>
            <a:r>
              <a:t>          16,</a:t>
            </a:r>
          </a:p>
          <a:p>
            <a:r>
              <a:t>          24</a:t>
            </a:r>
          </a:p>
          <a:p>
            <a:r>
              <a:t>        ],</a:t>
            </a:r>
          </a:p>
          <a:p>
            <a:r>
              <a:t>        "quantize": false,</a:t>
            </a:r>
          </a:p>
          <a:p>
            <a:r>
              <a:t>        "revision": "8949b909ec900327062f0ebf497f51aef5e6f0c8"</a:t>
            </a:r>
          </a:p>
          <a:p>
            <a:r>
              <a:t>      },</a:t>
            </a:r>
          </a:p>
          <a:p>
            <a:r>
              <a:t>      "config_sha256": "2bc94a1680d72c09dc8a1a93e4f0806cc6e558c7ad21cdf328626690c7b33440",</a:t>
            </a:r>
          </a:p>
          <a:p>
            <a:r>
              <a:t>      "source_sha256": "974b8eebd00626edaa8d1b985055722bdaf3dd4d428612dfa6d47863abe771fe",</a:t>
            </a:r>
          </a:p>
          <a:p>
            <a:r>
              <a:t>      "study_relative_checkpoint": "frozen/Jira/modernbert/20/e9dfa96dd64fd63b/checkpoint"</a:t>
            </a:r>
          </a:p>
          <a:p>
            <a:r>
              <a:t>    },</a:t>
            </a:r>
          </a:p>
          <a:p>
            <a:r>
              <a:t>    "baseline": {</a:t>
            </a:r>
          </a:p>
          <a:p>
            <a:r>
              <a:t>      "accuracy": 0.870253164556962,</a:t>
            </a:r>
          </a:p>
          <a:p>
            <a:r>
              <a:t>      "auc_prc": 0.19499981723367565,</a:t>
            </a:r>
          </a:p>
          <a:p>
            <a:r>
              <a:t>      "average_precision": 0.2075819328647004,</a:t>
            </a:r>
          </a:p>
          <a:p>
            <a:r>
              <a:t>      "balanced_accuracy": 0.5,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275,</a:t>
            </a:r>
          </a:p>
          <a:p>
            <a:r>
              <a:t>          0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41,</a:t>
            </a:r>
          </a:p>
          <a:p>
            <a:r>
              <a:t>          0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0.0,</a:t>
            </a:r>
          </a:p>
          <a:p>
            <a:r>
              <a:t>      "positive_count": 41,</a:t>
            </a:r>
          </a:p>
          <a:p>
            <a:r>
              <a:t>      "positive_rate": 0.12974683544303797,</a:t>
            </a:r>
          </a:p>
          <a:p>
            <a:r>
              <a:t>      "precision": 0.0,</a:t>
            </a:r>
          </a:p>
          <a:p>
            <a:r>
              <a:t>      "recall": 0.0,</a:t>
            </a:r>
          </a:p>
          <a:p>
            <a:r>
              <a:t>      "roc_auc": 0.5887361419068736,</a:t>
            </a:r>
          </a:p>
          <a:p>
            <a:r>
              <a:t>      "row_count": 316,</a:t>
            </a:r>
          </a:p>
          <a:p>
            <a:r>
              <a:t>      "threshold": 0.5</a:t>
            </a:r>
          </a:p>
          <a:p>
            <a:r>
              <a:t>    },</a:t>
            </a:r>
          </a:p>
          <a:p>
            <a:r>
              <a:t>    "baseline_identity": {</a:t>
            </a:r>
          </a:p>
          <a:p>
            <a:r>
              <a:t>      "model": "RF",</a:t>
            </a:r>
          </a:p>
          <a:p>
            <a:r>
              <a:t>      "variant": "baseline"</a:t>
            </a:r>
          </a:p>
          <a:p>
            <a:r>
              <a:t>    },</a:t>
            </a:r>
          </a:p>
          <a:p>
            <a:r>
              <a:t>    "checkpoint_files": {</a:t>
            </a:r>
          </a:p>
          <a:p>
            <a:r>
              <a:t>      "README.md": "f368747a08e43ab62a2408b190552f37d7fba51d95e006a4a18551afec678012",</a:t>
            </a:r>
          </a:p>
          <a:p>
            <a:r>
              <a:t>      "head.safetensors": "489ae15c097bead9d2dec4ef4c437ccf816d196673bb6313d611445db8032e7c",</a:t>
            </a:r>
          </a:p>
          <a:p>
            <a:r>
              <a:t>      "inference.json": "3f95115483b8e89d4ccf4cd396b8c0373ab3b91b5d6ac0bcd0bf155c8ad30f59"</a:t>
            </a:r>
          </a:p>
          <a:p>
            <a:r>
              <a:t>    },</a:t>
            </a:r>
          </a:p>
          <a:p>
            <a:r>
              <a:t>    "constant_score": {</a:t>
            </a:r>
          </a:p>
          <a:p>
            <a:r>
              <a:t>      "accuracy": 0.12974683544303797,</a:t>
            </a:r>
          </a:p>
          <a:p>
            <a:r>
              <a:t>      "auc_prc": 0.564873417721519,</a:t>
            </a:r>
          </a:p>
          <a:p>
            <a:r>
              <a:t>      "average_precision": 0.12974683544303797,</a:t>
            </a:r>
          </a:p>
          <a:p>
            <a:r>
              <a:t>      "balanced_accuracy": 0.5,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275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41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0.22969187675070027,</a:t>
            </a:r>
          </a:p>
          <a:p>
            <a:r>
              <a:t>      "positive_count": 41,</a:t>
            </a:r>
          </a:p>
          <a:p>
            <a:r>
              <a:t>      "positive_rate": 0.12974683544303797,</a:t>
            </a:r>
          </a:p>
          <a:p>
            <a:r>
              <a:t>      "precision": 0.12974683544303797,</a:t>
            </a:r>
          </a:p>
          <a:p>
            <a:r>
              <a:t>      "recall": 1.0,</a:t>
            </a:r>
          </a:p>
          <a:p>
            <a:r>
              <a:t>      "roc_auc": 0.5,</a:t>
            </a:r>
          </a:p>
          <a:p>
            <a:r>
              <a:t>      "row_count": 316,</a:t>
            </a:r>
          </a:p>
          <a:p>
            <a:r>
              <a:t>      "threshold": 0.5</a:t>
            </a:r>
          </a:p>
          <a:p>
            <a:r>
              <a:t>    },</a:t>
            </a:r>
          </a:p>
          <a:p>
            <a:r>
              <a:t>    "gates": {</a:t>
            </a:r>
          </a:p>
          <a:p>
            <a:r>
              <a:t>      "ap_above_baseline": true,</a:t>
            </a:r>
          </a:p>
          <a:p>
            <a:r>
              <a:t>      "ap_above_prevalence": true,</a:t>
            </a:r>
          </a:p>
          <a:p>
            <a:r>
              <a:t>      "auc_prc_above_half": false,</a:t>
            </a:r>
          </a:p>
          <a:p>
            <a:r>
              <a:t>      "passed": false,</a:t>
            </a:r>
          </a:p>
          <a:p>
            <a:r>
              <a:t>      "roc_above_half": true,</a:t>
            </a:r>
          </a:p>
          <a:p>
            <a:r>
              <a:t>      "valid": true</a:t>
            </a:r>
          </a:p>
          <a:p>
            <a:r>
              <a:t>    },</a:t>
            </a:r>
          </a:p>
          <a:p>
            <a:r>
              <a:t>    "level": 20,</a:t>
            </a:r>
          </a:p>
          <a:p>
            <a:r>
              <a:t>    "model": "modernbert",</a:t>
            </a:r>
          </a:p>
          <a:p>
            <a:r>
              <a:t>    "project": "Jira",</a:t>
            </a:r>
          </a:p>
          <a:p>
            <a:r>
              <a:t>    "selection_sha256": "c43fe3e7d53d09f2b0e4ab8ac83c84daa1c5dc4be578b6221c3e21bb89dcbc79",</a:t>
            </a:r>
          </a:p>
          <a:p>
            <a:r>
              <a:t>    "stage": "final-test",</a:t>
            </a:r>
          </a:p>
          <a:p>
            <a:r>
              <a:t>    "test": {</a:t>
            </a:r>
          </a:p>
          <a:p>
            <a:r>
              <a:t>      "accuracy": 0.7689873417721519,</a:t>
            </a:r>
          </a:p>
          <a:p>
            <a:r>
              <a:t>      "auc_prc": 0.2440756527180699,</a:t>
            </a:r>
          </a:p>
          <a:p>
            <a:r>
              <a:t>      "average_precision": 0.2509927972478988,</a:t>
            </a:r>
          </a:p>
          <a:p>
            <a:r>
              <a:t>      "balanced_accuracy": 0.5974722838137472,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228,</a:t>
            </a:r>
          </a:p>
          <a:p>
            <a:r>
              <a:t>          47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26,</a:t>
            </a:r>
          </a:p>
          <a:p>
            <a:r>
              <a:t>          15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0.29126213592233013,</a:t>
            </a:r>
          </a:p>
          <a:p>
            <a:r>
              <a:t>      "positive_count": 41,</a:t>
            </a:r>
          </a:p>
          <a:p>
            <a:r>
              <a:t>      "positive_rate": 0.12974683544303797,</a:t>
            </a:r>
          </a:p>
          <a:p>
            <a:r>
              <a:t>      "precision": 0.24193548387096775,</a:t>
            </a:r>
          </a:p>
          <a:p>
            <a:r>
              <a:t>      "recall": 0.36585365853658536,</a:t>
            </a:r>
          </a:p>
          <a:p>
            <a:r>
              <a:t>      "roc_auc": 0.5882926829268292,</a:t>
            </a:r>
          </a:p>
          <a:p>
            <a:r>
              <a:t>      "row_count": 316,</a:t>
            </a:r>
          </a:p>
          <a:p>
            <a:r>
              <a:t>      "threshold": 0.41999999999999993</a:t>
            </a:r>
          </a:p>
          <a:p>
            <a:r>
              <a:t>    },</a:t>
            </a:r>
          </a:p>
          <a:p>
            <a:r>
              <a:t>    "test_predictions_sha256": "e13bb8d73952280ac971852d73fc4def6e0cbb677c62772f3f83ffb2994aa96a",</a:t>
            </a:r>
          </a:p>
          <a:p>
            <a:r>
              <a:t>    "uncertainty": {</a:t>
            </a:r>
          </a:p>
          <a:p>
            <a:r>
              <a:t>      "difference_95": {</a:t>
            </a:r>
          </a:p>
          <a:p>
            <a:r>
              <a:t>        "auc_prc": [</a:t>
            </a:r>
          </a:p>
          <a:p>
            <a:r>
              <a:t>          -0.03261842410714551,</a:t>
            </a:r>
          </a:p>
          <a:p>
            <a:r>
              <a:t>          0.12064147173970617</a:t>
            </a:r>
          </a:p>
          <a:p>
            <a:r>
              <a:t>        ],</a:t>
            </a:r>
          </a:p>
          <a:p>
            <a:r>
              <a:t>        "average_precision": [</a:t>
            </a:r>
          </a:p>
          <a:p>
            <a:r>
              <a:t>          -0.0426867018590512,</a:t>
            </a:r>
          </a:p>
          <a:p>
            <a:r>
              <a:t>          0.11069404313997173</a:t>
            </a:r>
          </a:p>
          <a:p>
            <a:r>
              <a:t>        ],</a:t>
            </a:r>
          </a:p>
          <a:p>
            <a:r>
              <a:t>        "roc_auc": [</a:t>
            </a:r>
          </a:p>
          <a:p>
            <a:r>
              <a:t>          -0.05536604666980598,</a:t>
            </a:r>
          </a:p>
          <a:p>
            <a:r>
              <a:t>          0.05072066262534533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"method": "paired issue bootstrap; does not model temporal dependence",</a:t>
            </a:r>
          </a:p>
          <a:p>
            <a:r>
              <a:t>      "metrics_95": {</a:t>
            </a:r>
          </a:p>
          <a:p>
            <a:r>
              <a:t>        "auc_prc": [</a:t>
            </a:r>
          </a:p>
          <a:p>
            <a:r>
              <a:t>          0.1347676647092901,</a:t>
            </a:r>
          </a:p>
          <a:p>
            <a:r>
              <a:t>          0.36818606667319603</a:t>
            </a:r>
          </a:p>
          <a:p>
            <a:r>
              <a:t>        ],</a:t>
            </a:r>
          </a:p>
          <a:p>
            <a:r>
              <a:t>        "average_precision": [</a:t>
            </a:r>
          </a:p>
          <a:p>
            <a:r>
              <a:t>          0.14734950343371972,</a:t>
            </a:r>
          </a:p>
          <a:p>
            <a:r>
              <a:t>          0.38017307040886544</a:t>
            </a:r>
          </a:p>
          <a:p>
            <a:r>
              <a:t>        ],</a:t>
            </a:r>
          </a:p>
          <a:p>
            <a:r>
              <a:t>        "roc_auc": [</a:t>
            </a:r>
          </a:p>
          <a:p>
            <a:r>
              <a:t>          0.4877580783080386,</a:t>
            </a:r>
          </a:p>
          <a:p>
            <a:r>
              <a:t>          0.6901408001396183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"requested_samples": 2000,</a:t>
            </a:r>
          </a:p>
          <a:p>
            <a:r>
              <a:t>      "valid_samples": 2000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Study: hf-20261008-modernbert-qwen. Report received October 19, 2026. Report SHA256: 7698fe31e652cc8d24fb2cc8ff8a443c2c1ec04ac3786cd9bf3dc0e6f4ec006a. Study SHA256: 111d8a78875a8263475514691b581904a9164855d91603ac7dc4e32f838a5095. Source: data/hf-20261008-report.json; counts from the frozen reference_contract.json. Reported metrics are not independently recomputed from raw predictions. Matched classical comparator selected by validation AUC-PRC in historical PR #357. Labels: &gt;= K changed words AND at least one summary/description/acceptance change. Test metrics are unweighted. Scores are retrospective; public-Jira pretraining contamination is possible. Paired issue bootstrap does not model temporal dependence.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"artifact_reference": {</a:t>
            </a:r>
          </a:p>
          <a:p>
            <a:r>
              <a:t>      "base": {</a:t>
            </a:r>
          </a:p>
          <a:p>
            <a:r>
              <a:t>        "id": "Qwen/Qwen3-Embedding-0.6B",</a:t>
            </a:r>
          </a:p>
          <a:p>
            <a:r>
              <a:t>        "license": "apache-2.0",</a:t>
            </a:r>
          </a:p>
          <a:p>
            <a:r>
              <a:t>        "lora_targets": [</a:t>
            </a:r>
          </a:p>
          <a:p>
            <a:r>
              <a:t>          "q_proj",</a:t>
            </a:r>
          </a:p>
          <a:p>
            <a:r>
              <a:t>          "v_proj"</a:t>
            </a:r>
          </a:p>
          <a:p>
            <a:r>
              <a:t>        ],</a:t>
            </a:r>
          </a:p>
          <a:p>
            <a:r>
              <a:t>        "parameters_billions": 0.6,</a:t>
            </a:r>
          </a:p>
          <a:p>
            <a:r>
              <a:t>        "pooling": "last",</a:t>
            </a:r>
          </a:p>
          <a:p>
            <a:r>
              <a:t>        "profile_vram_gib": [</a:t>
            </a:r>
          </a:p>
          <a:p>
            <a:r>
              <a:t>          12,</a:t>
            </a:r>
          </a:p>
          <a:p>
            <a:r>
              <a:t>          24</a:t>
            </a:r>
          </a:p>
          <a:p>
            <a:r>
              <a:t>        ],</a:t>
            </a:r>
          </a:p>
          <a:p>
            <a:r>
              <a:t>        "quantize": false,</a:t>
            </a:r>
          </a:p>
          <a:p>
            <a:r>
              <a:t>        "revision": "97b0c614be4d77ee51c0cef4e5f07c00f9eb65b3"</a:t>
            </a:r>
          </a:p>
          <a:p>
            <a:r>
              <a:t>      },</a:t>
            </a:r>
          </a:p>
          <a:p>
            <a:r>
              <a:t>      "config_sha256": "2bc94a1680d72c09dc8a1a93e4f0806cc6e558c7ad21cdf328626690c7b33440",</a:t>
            </a:r>
          </a:p>
          <a:p>
            <a:r>
              <a:t>      "source_sha256": "974b8eebd00626edaa8d1b985055722bdaf3dd4d428612dfa6d47863abe771fe",</a:t>
            </a:r>
          </a:p>
          <a:p>
            <a:r>
              <a:t>      "study_relative_checkpoint": "frozen/MariaDB/qwen_embedding/5/4168c89e8b6b1cd5/checkpoint"</a:t>
            </a:r>
          </a:p>
          <a:p>
            <a:r>
              <a:t>    },</a:t>
            </a:r>
          </a:p>
          <a:p>
            <a:r>
              <a:t>    "baseline": {</a:t>
            </a:r>
          </a:p>
          <a:p>
            <a:r>
              <a:t>      "accuracy": 0.8467336683417085,</a:t>
            </a:r>
          </a:p>
          <a:p>
            <a:r>
              <a:t>      "auc_prc": 0.19484574838475716,</a:t>
            </a:r>
          </a:p>
          <a:p>
            <a:r>
              <a:t>      "average_precision": 0.20505354435535234,</a:t>
            </a:r>
          </a:p>
          <a:p>
            <a:r>
              <a:t>      "balanced_accuracy": 0.5,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337,</a:t>
            </a:r>
          </a:p>
          <a:p>
            <a:r>
              <a:t>          0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61,</a:t>
            </a:r>
          </a:p>
          <a:p>
            <a:r>
              <a:t>          0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0.0,</a:t>
            </a:r>
          </a:p>
          <a:p>
            <a:r>
              <a:t>      "positive_count": 61,</a:t>
            </a:r>
          </a:p>
          <a:p>
            <a:r>
              <a:t>      "positive_rate": 0.15326633165829145,</a:t>
            </a:r>
          </a:p>
          <a:p>
            <a:r>
              <a:t>      "precision": 0.0,</a:t>
            </a:r>
          </a:p>
          <a:p>
            <a:r>
              <a:t>      "recall": 0.0,</a:t>
            </a:r>
          </a:p>
          <a:p>
            <a:r>
              <a:t>      "roc_auc": 0.5828914724911223,</a:t>
            </a:r>
          </a:p>
          <a:p>
            <a:r>
              <a:t>      "row_count": 398,</a:t>
            </a:r>
          </a:p>
          <a:p>
            <a:r>
              <a:t>      "threshold": 0.5</a:t>
            </a:r>
          </a:p>
          <a:p>
            <a:r>
              <a:t>    },</a:t>
            </a:r>
          </a:p>
          <a:p>
            <a:r>
              <a:t>    "baseline_identity": {</a:t>
            </a:r>
          </a:p>
          <a:p>
            <a:r>
              <a:t>      "model": "RF",</a:t>
            </a:r>
          </a:p>
          <a:p>
            <a:r>
              <a:t>      "variant": "baseline"</a:t>
            </a:r>
          </a:p>
          <a:p>
            <a:r>
              <a:t>    },</a:t>
            </a:r>
          </a:p>
          <a:p>
            <a:r>
              <a:t>    "checkpoint_files": {</a:t>
            </a:r>
          </a:p>
          <a:p>
            <a:r>
              <a:t>      "README.md": "b9ca36f369be99ff385fad934f47c6aa709c5b52817b1b9aec1f36fcf88567f4",</a:t>
            </a:r>
          </a:p>
          <a:p>
            <a:r>
              <a:t>      "head.safetensors": "b3ab2f908220bee3e1a810e73aeaf6e831936225da99548c77d9b84789180b16",</a:t>
            </a:r>
          </a:p>
          <a:p>
            <a:r>
              <a:t>      "inference.json": "5c6c9ec7542eaee0b2dc975f8775e3db14f2d612cd0033e5cbbc1e1adf1ee532"</a:t>
            </a:r>
          </a:p>
          <a:p>
            <a:r>
              <a:t>    },</a:t>
            </a:r>
          </a:p>
          <a:p>
            <a:r>
              <a:t>    "constant_score": {</a:t>
            </a:r>
          </a:p>
          <a:p>
            <a:r>
              <a:t>      "accuracy": 0.15326633165829145,</a:t>
            </a:r>
          </a:p>
          <a:p>
            <a:r>
              <a:t>      "auc_prc": 0.5766331658291457,</a:t>
            </a:r>
          </a:p>
          <a:p>
            <a:r>
              <a:t>      "average_precision": 0.15326633165829145,</a:t>
            </a:r>
          </a:p>
          <a:p>
            <a:r>
              <a:t>      "balanced_accuracy": 0.5,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337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61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0.2657952069716776,</a:t>
            </a:r>
          </a:p>
          <a:p>
            <a:r>
              <a:t>      "positive_count": 61,</a:t>
            </a:r>
          </a:p>
          <a:p>
            <a:r>
              <a:t>      "positive_rate": 0.15326633165829145,</a:t>
            </a:r>
          </a:p>
          <a:p>
            <a:r>
              <a:t>      "precision": 0.15326633165829145,</a:t>
            </a:r>
          </a:p>
          <a:p>
            <a:r>
              <a:t>      "recall": 1.0,</a:t>
            </a:r>
          </a:p>
          <a:p>
            <a:r>
              <a:t>      "roc_auc": 0.5,</a:t>
            </a:r>
          </a:p>
          <a:p>
            <a:r>
              <a:t>      "row_count": 398,</a:t>
            </a:r>
          </a:p>
          <a:p>
            <a:r>
              <a:t>      "threshold": 0.5</a:t>
            </a:r>
          </a:p>
          <a:p>
            <a:r>
              <a:t>    },</a:t>
            </a:r>
          </a:p>
          <a:p>
            <a:r>
              <a:t>    "gates": {</a:t>
            </a:r>
          </a:p>
          <a:p>
            <a:r>
              <a:t>      "ap_above_baseline": false,</a:t>
            </a:r>
          </a:p>
          <a:p>
            <a:r>
              <a:t>      "ap_above_prevalence": true,</a:t>
            </a:r>
          </a:p>
          <a:p>
            <a:r>
              <a:t>      "auc_prc_above_half": false,</a:t>
            </a:r>
          </a:p>
          <a:p>
            <a:r>
              <a:t>      "passed": false,</a:t>
            </a:r>
          </a:p>
          <a:p>
            <a:r>
              <a:t>      "roc_above_half": true,</a:t>
            </a:r>
          </a:p>
          <a:p>
            <a:r>
              <a:t>      "valid": true</a:t>
            </a:r>
          </a:p>
          <a:p>
            <a:r>
              <a:t>    },</a:t>
            </a:r>
          </a:p>
          <a:p>
            <a:r>
              <a:t>    "level": 5,</a:t>
            </a:r>
          </a:p>
          <a:p>
            <a:r>
              <a:t>    "model": "qwen_embedding",</a:t>
            </a:r>
          </a:p>
          <a:p>
            <a:r>
              <a:t>    "project": "MariaDB",</a:t>
            </a:r>
          </a:p>
          <a:p>
            <a:r>
              <a:t>    "selection_sha256": "ea8613eae93340412a6d1f6dd7bf97ca4e79c07ea0410db1d745b13bcbecef77",</a:t>
            </a:r>
          </a:p>
          <a:p>
            <a:r>
              <a:t>    "stage": "final-test",</a:t>
            </a:r>
          </a:p>
          <a:p>
            <a:r>
              <a:t>    "test": {</a:t>
            </a:r>
          </a:p>
          <a:p>
            <a:r>
              <a:t>      "accuracy": 0.7386934673366834,</a:t>
            </a:r>
          </a:p>
          <a:p>
            <a:r>
              <a:t>      "auc_prc": 0.17224802731147648,</a:t>
            </a:r>
          </a:p>
          <a:p>
            <a:r>
              <a:t>      "average_precision": 0.17898146033852855,</a:t>
            </a:r>
          </a:p>
          <a:p>
            <a:r>
              <a:t>      "balanced_accuracy": 0.49661915649170596,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285,</a:t>
            </a:r>
          </a:p>
          <a:p>
            <a:r>
              <a:t>          52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52,</a:t>
            </a:r>
          </a:p>
          <a:p>
            <a:r>
              <a:t>          9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0.14754098360655737,</a:t>
            </a:r>
          </a:p>
          <a:p>
            <a:r>
              <a:t>      "positive_count": 61,</a:t>
            </a:r>
          </a:p>
          <a:p>
            <a:r>
              <a:t>      "positive_rate": 0.15326633165829145,</a:t>
            </a:r>
          </a:p>
          <a:p>
            <a:r>
              <a:t>      "precision": 0.14754098360655737,</a:t>
            </a:r>
          </a:p>
          <a:p>
            <a:r>
              <a:t>      "recall": 0.14754098360655737,</a:t>
            </a:r>
          </a:p>
          <a:p>
            <a:r>
              <a:t>      "roc_auc": 0.542151092085421,</a:t>
            </a:r>
          </a:p>
          <a:p>
            <a:r>
              <a:t>      "row_count": 398,</a:t>
            </a:r>
          </a:p>
          <a:p>
            <a:r>
              <a:t>      "threshold": 0.48999999999999994</a:t>
            </a:r>
          </a:p>
          <a:p>
            <a:r>
              <a:t>    },</a:t>
            </a:r>
          </a:p>
          <a:p>
            <a:r>
              <a:t>    "test_predictions_sha256": "bbc7000a1aae5164bc361585de1cb0d82100167c8a0b3513dc0b55bc60ed4d3d",</a:t>
            </a:r>
          </a:p>
          <a:p>
            <a:r>
              <a:t>    "uncertainty": {</a:t>
            </a:r>
          </a:p>
          <a:p>
            <a:r>
              <a:t>      "difference_95": {</a:t>
            </a:r>
          </a:p>
          <a:p>
            <a:r>
              <a:t>        "auc_prc": [</a:t>
            </a:r>
          </a:p>
          <a:p>
            <a:r>
              <a:t>          -0.09719879757920633,</a:t>
            </a:r>
          </a:p>
          <a:p>
            <a:r>
              <a:t>          0.033430449203013496</a:t>
            </a:r>
          </a:p>
          <a:p>
            <a:r>
              <a:t>        ],</a:t>
            </a:r>
          </a:p>
          <a:p>
            <a:r>
              <a:t>        "average_precision": [</a:t>
            </a:r>
          </a:p>
          <a:p>
            <a:r>
              <a:t>          -0.10024187603180736,</a:t>
            </a:r>
          </a:p>
          <a:p>
            <a:r>
              <a:t>          0.035777854878510804</a:t>
            </a:r>
          </a:p>
          <a:p>
            <a:r>
              <a:t>        ],</a:t>
            </a:r>
          </a:p>
          <a:p>
            <a:r>
              <a:t>        "roc_auc": [</a:t>
            </a:r>
          </a:p>
          <a:p>
            <a:r>
              <a:t>          -0.13661909089540666,</a:t>
            </a:r>
          </a:p>
          <a:p>
            <a:r>
              <a:t>          0.05853150992676257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"method": "paired issue bootstrap; does not model temporal dependence",</a:t>
            </a:r>
          </a:p>
          <a:p>
            <a:r>
              <a:t>      "metrics_95": {</a:t>
            </a:r>
          </a:p>
          <a:p>
            <a:r>
              <a:t>        "auc_prc": [</a:t>
            </a:r>
          </a:p>
          <a:p>
            <a:r>
              <a:t>          0.12394252483232751,</a:t>
            </a:r>
          </a:p>
          <a:p>
            <a:r>
              <a:t>          0.24359575899054053</a:t>
            </a:r>
          </a:p>
          <a:p>
            <a:r>
              <a:t>        ],</a:t>
            </a:r>
          </a:p>
          <a:p>
            <a:r>
              <a:t>        "average_precision": [</a:t>
            </a:r>
          </a:p>
          <a:p>
            <a:r>
              <a:t>          0.1319648785910342,</a:t>
            </a:r>
          </a:p>
          <a:p>
            <a:r>
              <a:t>          0.26020904622021634</a:t>
            </a:r>
          </a:p>
          <a:p>
            <a:r>
              <a:t>        ],</a:t>
            </a:r>
          </a:p>
          <a:p>
            <a:r>
              <a:t>        "roc_auc": [</a:t>
            </a:r>
          </a:p>
          <a:p>
            <a:r>
              <a:t>          0.465700948616549,</a:t>
            </a:r>
          </a:p>
          <a:p>
            <a:r>
              <a:t>          0.6242777795210251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"requested_samples": 2000,</a:t>
            </a:r>
          </a:p>
          <a:p>
            <a:r>
              <a:t>      "valid_samples": 2000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"artifact_reference": {</a:t>
            </a:r>
          </a:p>
          <a:p>
            <a:r>
              <a:t>      "base": {</a:t>
            </a:r>
          </a:p>
          <a:p>
            <a:r>
              <a:t>        "id": "Qwen/Qwen3-Embedding-0.6B",</a:t>
            </a:r>
          </a:p>
          <a:p>
            <a:r>
              <a:t>        "license": "apache-2.0",</a:t>
            </a:r>
          </a:p>
          <a:p>
            <a:r>
              <a:t>        "lora_targets": [</a:t>
            </a:r>
          </a:p>
          <a:p>
            <a:r>
              <a:t>          "q_proj",</a:t>
            </a:r>
          </a:p>
          <a:p>
            <a:r>
              <a:t>          "v_proj"</a:t>
            </a:r>
          </a:p>
          <a:p>
            <a:r>
              <a:t>        ],</a:t>
            </a:r>
          </a:p>
          <a:p>
            <a:r>
              <a:t>        "parameters_billions": 0.6,</a:t>
            </a:r>
          </a:p>
          <a:p>
            <a:r>
              <a:t>        "pooling": "last",</a:t>
            </a:r>
          </a:p>
          <a:p>
            <a:r>
              <a:t>        "profile_vram_gib": [</a:t>
            </a:r>
          </a:p>
          <a:p>
            <a:r>
              <a:t>          12,</a:t>
            </a:r>
          </a:p>
          <a:p>
            <a:r>
              <a:t>          24</a:t>
            </a:r>
          </a:p>
          <a:p>
            <a:r>
              <a:t>        ],</a:t>
            </a:r>
          </a:p>
          <a:p>
            <a:r>
              <a:t>        "quantize": false,</a:t>
            </a:r>
          </a:p>
          <a:p>
            <a:r>
              <a:t>        "revision": "97b0c614be4d77ee51c0cef4e5f07c00f9eb65b3"</a:t>
            </a:r>
          </a:p>
          <a:p>
            <a:r>
              <a:t>      },</a:t>
            </a:r>
          </a:p>
          <a:p>
            <a:r>
              <a:t>      "config_sha256": "2bc94a1680d72c09dc8a1a93e4f0806cc6e558c7ad21cdf328626690c7b33440",</a:t>
            </a:r>
          </a:p>
          <a:p>
            <a:r>
              <a:t>      "source_sha256": "974b8eebd00626edaa8d1b985055722bdaf3dd4d428612dfa6d47863abe771fe",</a:t>
            </a:r>
          </a:p>
          <a:p>
            <a:r>
              <a:t>      "study_relative_checkpoint": "finetune/MariaDB/qwen_embedding/10/92ad5a79985a51fb/checkpoint"</a:t>
            </a:r>
          </a:p>
          <a:p>
            <a:r>
              <a:t>    },</a:t>
            </a:r>
          </a:p>
          <a:p>
            <a:r>
              <a:t>    "baseline": {</a:t>
            </a:r>
          </a:p>
          <a:p>
            <a:r>
              <a:t>      "accuracy": 0.8894472361809045,</a:t>
            </a:r>
          </a:p>
          <a:p>
            <a:r>
              <a:t>      "auc_prc": 0.155084524931062,</a:t>
            </a:r>
          </a:p>
          <a:p>
            <a:r>
              <a:t>      "average_precision": 0.16548126800780694,</a:t>
            </a:r>
          </a:p>
          <a:p>
            <a:r>
              <a:t>      "balanced_accuracy": 0.5,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354,</a:t>
            </a:r>
          </a:p>
          <a:p>
            <a:r>
              <a:t>          0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44,</a:t>
            </a:r>
          </a:p>
          <a:p>
            <a:r>
              <a:t>          0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0.0,</a:t>
            </a:r>
          </a:p>
          <a:p>
            <a:r>
              <a:t>      "positive_count": 44,</a:t>
            </a:r>
          </a:p>
          <a:p>
            <a:r>
              <a:t>      "positive_rate": 0.11055276381909548,</a:t>
            </a:r>
          </a:p>
          <a:p>
            <a:r>
              <a:t>      "precision": 0.0,</a:t>
            </a:r>
          </a:p>
          <a:p>
            <a:r>
              <a:t>      "recall": 0.0,</a:t>
            </a:r>
          </a:p>
          <a:p>
            <a:r>
              <a:t>      "roc_auc": 0.6271828454031844,</a:t>
            </a:r>
          </a:p>
          <a:p>
            <a:r>
              <a:t>      "row_count": 398,</a:t>
            </a:r>
          </a:p>
          <a:p>
            <a:r>
              <a:t>      "threshold": 0.5</a:t>
            </a:r>
          </a:p>
          <a:p>
            <a:r>
              <a:t>    },</a:t>
            </a:r>
          </a:p>
          <a:p>
            <a:r>
              <a:t>    "baseline_identity": {</a:t>
            </a:r>
          </a:p>
          <a:p>
            <a:r>
              <a:t>      "model": "RF",</a:t>
            </a:r>
          </a:p>
          <a:p>
            <a:r>
              <a:t>      "variant": "baseline"</a:t>
            </a:r>
          </a:p>
          <a:p>
            <a:r>
              <a:t>    },</a:t>
            </a:r>
          </a:p>
          <a:p>
            <a:r>
              <a:t>    "checkpoint_files": {</a:t>
            </a:r>
          </a:p>
          <a:p>
            <a:r>
              <a:t>      "README.md": "53f4ffe7c04f3137cb8ccac9a68df5cf80fcde38be178734cbde41eba90bb8b6",</a:t>
            </a:r>
          </a:p>
          <a:p>
            <a:r>
              <a:t>      "adapter/README.md": "2b259ec9b5799fd1e7da6813a1a008293163ac0d5b6be0eb53454a512e57e06a",</a:t>
            </a:r>
          </a:p>
          <a:p>
            <a:r>
              <a:t>      "adapter/adapter_config.json": "99fa5eb9f7d31210f53d3d34e75da168eb5316200f9fd08f3c0967ecdad46276",</a:t>
            </a:r>
          </a:p>
          <a:p>
            <a:r>
              <a:t>      "adapter/adapter_model.safetensors": "ca5aa71873a13ee0a257776f0a6086ed2b2bea61ca3e5f016af404e0227e7123",</a:t>
            </a:r>
          </a:p>
          <a:p>
            <a:r>
              <a:t>      "head.safetensors": "f370a4435de0be1b3f2e019720bab495ef014721568b9375e027c6289588c1d0",</a:t>
            </a:r>
          </a:p>
          <a:p>
            <a:r>
              <a:t>      "inference.json": "61403c6871050f090dbd58c340cc6bf1ef5a4b7b165dc3f0b50fd31fb3990502"</a:t>
            </a:r>
          </a:p>
          <a:p>
            <a:r>
              <a:t>    },</a:t>
            </a:r>
          </a:p>
          <a:p>
            <a:r>
              <a:t>    "constant_score": {</a:t>
            </a:r>
          </a:p>
          <a:p>
            <a:r>
              <a:t>      "accuracy": 0.11055276381909548,</a:t>
            </a:r>
          </a:p>
          <a:p>
            <a:r>
              <a:t>      "auc_prc": 0.5552763819095478,</a:t>
            </a:r>
          </a:p>
          <a:p>
            <a:r>
              <a:t>      "average_precision": 0.11055276381909548,</a:t>
            </a:r>
          </a:p>
          <a:p>
            <a:r>
              <a:t>      "balanced_accuracy": 0.5,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354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44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0.1990950226244344,</a:t>
            </a:r>
          </a:p>
          <a:p>
            <a:r>
              <a:t>      "positive_count": 44,</a:t>
            </a:r>
          </a:p>
          <a:p>
            <a:r>
              <a:t>      "positive_rate": 0.11055276381909548,</a:t>
            </a:r>
          </a:p>
          <a:p>
            <a:r>
              <a:t>      "precision": 0.11055276381909548,</a:t>
            </a:r>
          </a:p>
          <a:p>
            <a:r>
              <a:t>      "recall": 1.0,</a:t>
            </a:r>
          </a:p>
          <a:p>
            <a:r>
              <a:t>      "roc_auc": 0.5,</a:t>
            </a:r>
          </a:p>
          <a:p>
            <a:r>
              <a:t>      "row_count": 398,</a:t>
            </a:r>
          </a:p>
          <a:p>
            <a:r>
              <a:t>      "threshold": 0.5</a:t>
            </a:r>
          </a:p>
          <a:p>
            <a:r>
              <a:t>    },</a:t>
            </a:r>
          </a:p>
          <a:p>
            <a:r>
              <a:t>    "gates": {</a:t>
            </a:r>
          </a:p>
          <a:p>
            <a:r>
              <a:t>      "ap_above_baseline": true,</a:t>
            </a:r>
          </a:p>
          <a:p>
            <a:r>
              <a:t>      "ap_above_prevalence": true,</a:t>
            </a:r>
          </a:p>
          <a:p>
            <a:r>
              <a:t>      "auc_prc_above_half": false,</a:t>
            </a:r>
          </a:p>
          <a:p>
            <a:r>
              <a:t>      "passed": false,</a:t>
            </a:r>
          </a:p>
          <a:p>
            <a:r>
              <a:t>      "roc_above_half": true,</a:t>
            </a:r>
          </a:p>
          <a:p>
            <a:r>
              <a:t>      "valid": true</a:t>
            </a:r>
          </a:p>
          <a:p>
            <a:r>
              <a:t>    },</a:t>
            </a:r>
          </a:p>
          <a:p>
            <a:r>
              <a:t>    "level": 10,</a:t>
            </a:r>
          </a:p>
          <a:p>
            <a:r>
              <a:t>    "model": "qwen_embedding",</a:t>
            </a:r>
          </a:p>
          <a:p>
            <a:r>
              <a:t>    "project": "MariaDB",</a:t>
            </a:r>
          </a:p>
          <a:p>
            <a:r>
              <a:t>    "selection_sha256": "1f4b00f41e0beed130a0f30667899212eaa8ebe8bde81b8755683bf723fce380",</a:t>
            </a:r>
          </a:p>
          <a:p>
            <a:r>
              <a:t>    "stage": "final-test",</a:t>
            </a:r>
          </a:p>
          <a:p>
            <a:r>
              <a:t>    "test": {</a:t>
            </a:r>
          </a:p>
          <a:p>
            <a:r>
              <a:t>      "accuracy": 0.8442211055276382,</a:t>
            </a:r>
          </a:p>
          <a:p>
            <a:r>
              <a:t>      "auc_prc": 0.1973851461124036,</a:t>
            </a:r>
          </a:p>
          <a:p>
            <a:r>
              <a:t>      "average_precision": 0.20288695245090116,</a:t>
            </a:r>
          </a:p>
          <a:p>
            <a:r>
              <a:t>      "balanced_accuracy": 0.48452747817154596,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335,</a:t>
            </a:r>
          </a:p>
          <a:p>
            <a:r>
              <a:t>          19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43,</a:t>
            </a:r>
          </a:p>
          <a:p>
            <a:r>
              <a:t>          1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0.03125000000000001,</a:t>
            </a:r>
          </a:p>
          <a:p>
            <a:r>
              <a:t>      "positive_count": 44,</a:t>
            </a:r>
          </a:p>
          <a:p>
            <a:r>
              <a:t>      "positive_rate": 0.11055276381909548,</a:t>
            </a:r>
          </a:p>
          <a:p>
            <a:r>
              <a:t>      "precision": 0.05,</a:t>
            </a:r>
          </a:p>
          <a:p>
            <a:r>
              <a:t>      "recall": 0.022727272727272728,</a:t>
            </a:r>
          </a:p>
          <a:p>
            <a:r>
              <a:t>      "roc_auc": 0.6836800205444273,</a:t>
            </a:r>
          </a:p>
          <a:p>
            <a:r>
              <a:t>      "row_count": 398,</a:t>
            </a:r>
          </a:p>
          <a:p>
            <a:r>
              <a:t>      "threshold": 0.06</a:t>
            </a:r>
          </a:p>
          <a:p>
            <a:r>
              <a:t>    },</a:t>
            </a:r>
          </a:p>
          <a:p>
            <a:r>
              <a:t>    "test_predictions_sha256": "e142588b65ca8307de9a87bf068235bfd768a3d0b752e3eff8ee14ba227428b9",</a:t>
            </a:r>
          </a:p>
          <a:p>
            <a:r>
              <a:t>    "uncertainty": {</a:t>
            </a:r>
          </a:p>
          <a:p>
            <a:r>
              <a:t>      "difference_95": {</a:t>
            </a:r>
          </a:p>
          <a:p>
            <a:r>
              <a:t>        "auc_prc": [</a:t>
            </a:r>
          </a:p>
          <a:p>
            <a:r>
              <a:t>          -0.03765389019560562,</a:t>
            </a:r>
          </a:p>
          <a:p>
            <a:r>
              <a:t>          0.1095432255686863</a:t>
            </a:r>
          </a:p>
          <a:p>
            <a:r>
              <a:t>        ],</a:t>
            </a:r>
          </a:p>
          <a:p>
            <a:r>
              <a:t>        "average_precision": [</a:t>
            </a:r>
          </a:p>
          <a:p>
            <a:r>
              <a:t>          -0.05268205953481223,</a:t>
            </a:r>
          </a:p>
          <a:p>
            <a:r>
              <a:t>          0.10679253074226538</a:t>
            </a:r>
          </a:p>
          <a:p>
            <a:r>
              <a:t>        ],</a:t>
            </a:r>
          </a:p>
          <a:p>
            <a:r>
              <a:t>        "roc_auc": [</a:t>
            </a:r>
          </a:p>
          <a:p>
            <a:r>
              <a:t>          -0.001312812579360736,</a:t>
            </a:r>
          </a:p>
          <a:p>
            <a:r>
              <a:t>          0.11331291694183628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"method": "paired issue bootstrap; does not model temporal dependence",</a:t>
            </a:r>
          </a:p>
          <a:p>
            <a:r>
              <a:t>      "metrics_95": {</a:t>
            </a:r>
          </a:p>
          <a:p>
            <a:r>
              <a:t>        "auc_prc": [</a:t>
            </a:r>
          </a:p>
          <a:p>
            <a:r>
              <a:t>          0.12528601082804086,</a:t>
            </a:r>
          </a:p>
          <a:p>
            <a:r>
              <a:t>          0.28879254245764946</a:t>
            </a:r>
          </a:p>
          <a:p>
            <a:r>
              <a:t>        ],</a:t>
            </a:r>
          </a:p>
          <a:p>
            <a:r>
              <a:t>        "average_precision": [</a:t>
            </a:r>
          </a:p>
          <a:p>
            <a:r>
              <a:t>          0.13479110102534186,</a:t>
            </a:r>
          </a:p>
          <a:p>
            <a:r>
              <a:t>          0.30064446213338664</a:t>
            </a:r>
          </a:p>
          <a:p>
            <a:r>
              <a:t>        ],</a:t>
            </a:r>
          </a:p>
          <a:p>
            <a:r>
              <a:t>        "roc_auc": [</a:t>
            </a:r>
          </a:p>
          <a:p>
            <a:r>
              <a:t>          0.6096036515679898,</a:t>
            </a:r>
          </a:p>
          <a:p>
            <a:r>
              <a:t>          0.7543912432539737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"requested_samples": 2000,</a:t>
            </a:r>
          </a:p>
          <a:p>
            <a:r>
              <a:t>      "valid_samples": 2000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"artifact_reference": {</a:t>
            </a:r>
          </a:p>
          <a:p>
            <a:r>
              <a:t>      "base": {</a:t>
            </a:r>
          </a:p>
          <a:p>
            <a:r>
              <a:t>        "id": "Qwen/Qwen3-Embedding-0.6B",</a:t>
            </a:r>
          </a:p>
          <a:p>
            <a:r>
              <a:t>        "license": "apache-2.0",</a:t>
            </a:r>
          </a:p>
          <a:p>
            <a:r>
              <a:t>        "lora_targets": [</a:t>
            </a:r>
          </a:p>
          <a:p>
            <a:r>
              <a:t>          "q_proj",</a:t>
            </a:r>
          </a:p>
          <a:p>
            <a:r>
              <a:t>          "v_proj"</a:t>
            </a:r>
          </a:p>
          <a:p>
            <a:r>
              <a:t>        ],</a:t>
            </a:r>
          </a:p>
          <a:p>
            <a:r>
              <a:t>        "parameters_billions": 0.6,</a:t>
            </a:r>
          </a:p>
          <a:p>
            <a:r>
              <a:t>        "pooling": "last",</a:t>
            </a:r>
          </a:p>
          <a:p>
            <a:r>
              <a:t>        "profile_vram_gib": [</a:t>
            </a:r>
          </a:p>
          <a:p>
            <a:r>
              <a:t>          12,</a:t>
            </a:r>
          </a:p>
          <a:p>
            <a:r>
              <a:t>          24</a:t>
            </a:r>
          </a:p>
          <a:p>
            <a:r>
              <a:t>        ],</a:t>
            </a:r>
          </a:p>
          <a:p>
            <a:r>
              <a:t>        "quantize": false,</a:t>
            </a:r>
          </a:p>
          <a:p>
            <a:r>
              <a:t>        "revision": "97b0c614be4d77ee51c0cef4e5f07c00f9eb65b3"</a:t>
            </a:r>
          </a:p>
          <a:p>
            <a:r>
              <a:t>      },</a:t>
            </a:r>
          </a:p>
          <a:p>
            <a:r>
              <a:t>      "config_sha256": "2bc94a1680d72c09dc8a1a93e4f0806cc6e558c7ad21cdf328626690c7b33440",</a:t>
            </a:r>
          </a:p>
          <a:p>
            <a:r>
              <a:t>      "source_sha256": "974b8eebd00626edaa8d1b985055722bdaf3dd4d428612dfa6d47863abe771fe",</a:t>
            </a:r>
          </a:p>
          <a:p>
            <a:r>
              <a:t>      "study_relative_checkpoint": "frozen/MariaDB/qwen_embedding/15/38814b7cd5ea6942/checkpoint"</a:t>
            </a:r>
          </a:p>
          <a:p>
            <a:r>
              <a:t>    },</a:t>
            </a:r>
          </a:p>
          <a:p>
            <a:r>
              <a:t>    "baseline": {</a:t>
            </a:r>
          </a:p>
          <a:p>
            <a:r>
              <a:t>      "accuracy": 0.8442211055276382,</a:t>
            </a:r>
          </a:p>
          <a:p>
            <a:r>
              <a:t>      "auc_prc": 0.10881496705402251,</a:t>
            </a:r>
          </a:p>
          <a:p>
            <a:r>
              <a:t>      "average_precision": 0.11289825475418147,</a:t>
            </a:r>
          </a:p>
          <a:p>
            <a:r>
              <a:t>      "balanced_accuracy": 0.5154005811540059,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332,</a:t>
            </a:r>
          </a:p>
          <a:p>
            <a:r>
              <a:t>          33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29,</a:t>
            </a:r>
          </a:p>
          <a:p>
            <a:r>
              <a:t>          4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0.11428571428571428,</a:t>
            </a:r>
          </a:p>
          <a:p>
            <a:r>
              <a:t>      "positive_count": 33,</a:t>
            </a:r>
          </a:p>
          <a:p>
            <a:r>
              <a:t>      "positive_rate": 0.0829145728643216,</a:t>
            </a:r>
          </a:p>
          <a:p>
            <a:r>
              <a:t>      "precision": 0.10810810810810811,</a:t>
            </a:r>
          </a:p>
          <a:p>
            <a:r>
              <a:t>      "recall": 0.12121212121212122,</a:t>
            </a:r>
          </a:p>
          <a:p>
            <a:r>
              <a:t>      "roc_auc": 0.4899128268991283,</a:t>
            </a:r>
          </a:p>
          <a:p>
            <a:r>
              <a:t>      "row_count": 398,</a:t>
            </a:r>
          </a:p>
          <a:p>
            <a:r>
              <a:t>      "threshold": 0.5</a:t>
            </a:r>
          </a:p>
          <a:p>
            <a:r>
              <a:t>    },</a:t>
            </a:r>
          </a:p>
          <a:p>
            <a:r>
              <a:t>    "baseline_identity": {</a:t>
            </a:r>
          </a:p>
          <a:p>
            <a:r>
              <a:t>      "model": "NN",</a:t>
            </a:r>
          </a:p>
          <a:p>
            <a:r>
              <a:t>      "variant": "baseline"</a:t>
            </a:r>
          </a:p>
          <a:p>
            <a:r>
              <a:t>    },</a:t>
            </a:r>
          </a:p>
          <a:p>
            <a:r>
              <a:t>    "checkpoint_files": {</a:t>
            </a:r>
          </a:p>
          <a:p>
            <a:r>
              <a:t>      "README.md": "126b5f067a6261501a42990a518a7686a7e5a6ed7f9070569944dac9bb988392",</a:t>
            </a:r>
          </a:p>
          <a:p>
            <a:r>
              <a:t>      "head.safetensors": "69d0ff51540dedaa4bfd8bb23d2c9ba2d3af216b220195c512918bd1067dc2e5",</a:t>
            </a:r>
          </a:p>
          <a:p>
            <a:r>
              <a:t>      "inference.json": "fd523f63c27f536a507420e696134fa9036d2e65c4e80b28f53b550051df6280"</a:t>
            </a:r>
          </a:p>
          <a:p>
            <a:r>
              <a:t>    },</a:t>
            </a:r>
          </a:p>
          <a:p>
            <a:r>
              <a:t>    "constant_score": {</a:t>
            </a:r>
          </a:p>
          <a:p>
            <a:r>
              <a:t>      "accuracy": 0.0829145728643216,</a:t>
            </a:r>
          </a:p>
          <a:p>
            <a:r>
              <a:t>      "auc_prc": 0.5414572864321608,</a:t>
            </a:r>
          </a:p>
          <a:p>
            <a:r>
              <a:t>      "average_precision": 0.0829145728643216,</a:t>
            </a:r>
          </a:p>
          <a:p>
            <a:r>
              <a:t>      "balanced_accuracy": 0.5,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365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33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0.1531322505800464,</a:t>
            </a:r>
          </a:p>
          <a:p>
            <a:r>
              <a:t>      "positive_count": 33,</a:t>
            </a:r>
          </a:p>
          <a:p>
            <a:r>
              <a:t>      "positive_rate": 0.0829145728643216,</a:t>
            </a:r>
          </a:p>
          <a:p>
            <a:r>
              <a:t>      "precision": 0.0829145728643216,</a:t>
            </a:r>
          </a:p>
          <a:p>
            <a:r>
              <a:t>      "recall": 1.0,</a:t>
            </a:r>
          </a:p>
          <a:p>
            <a:r>
              <a:t>      "roc_auc": 0.5,</a:t>
            </a:r>
          </a:p>
          <a:p>
            <a:r>
              <a:t>      "row_count": 398,</a:t>
            </a:r>
          </a:p>
          <a:p>
            <a:r>
              <a:t>      "threshold": 0.5</a:t>
            </a:r>
          </a:p>
          <a:p>
            <a:r>
              <a:t>    },</a:t>
            </a:r>
          </a:p>
          <a:p>
            <a:r>
              <a:t>    "gates": {</a:t>
            </a:r>
          </a:p>
          <a:p>
            <a:r>
              <a:t>      "ap_above_baseline": true,</a:t>
            </a:r>
          </a:p>
          <a:p>
            <a:r>
              <a:t>      "ap_above_prevalence": true,</a:t>
            </a:r>
          </a:p>
          <a:p>
            <a:r>
              <a:t>      "auc_prc_above_half": false,</a:t>
            </a:r>
          </a:p>
          <a:p>
            <a:r>
              <a:t>      "passed": false,</a:t>
            </a:r>
          </a:p>
          <a:p>
            <a:r>
              <a:t>      "roc_above_half": true,</a:t>
            </a:r>
          </a:p>
          <a:p>
            <a:r>
              <a:t>      "valid": true</a:t>
            </a:r>
          </a:p>
          <a:p>
            <a:r>
              <a:t>    },</a:t>
            </a:r>
          </a:p>
          <a:p>
            <a:r>
              <a:t>    "level": 15,</a:t>
            </a:r>
          </a:p>
          <a:p>
            <a:r>
              <a:t>    "model": "qwen_embedding",</a:t>
            </a:r>
          </a:p>
          <a:p>
            <a:r>
              <a:t>    "project": "MariaDB",</a:t>
            </a:r>
          </a:p>
          <a:p>
            <a:r>
              <a:t>    "selection_sha256": "c211432f8e92f0c853a9d0cf0a8df1f7f6748bd12f144d5954605408cbe2d0ef",</a:t>
            </a:r>
          </a:p>
          <a:p>
            <a:r>
              <a:t>    "stage": "final-test",</a:t>
            </a:r>
          </a:p>
          <a:p>
            <a:r>
              <a:t>    "test": {</a:t>
            </a:r>
          </a:p>
          <a:p>
            <a:r>
              <a:t>      "accuracy": 0.6809045226130653,</a:t>
            </a:r>
          </a:p>
          <a:p>
            <a:r>
              <a:t>      "auc_prc": 0.13460626189726138,</a:t>
            </a:r>
          </a:p>
          <a:p>
            <a:r>
              <a:t>      "average_precision": 0.1462048489230392,</a:t>
            </a:r>
          </a:p>
          <a:p>
            <a:r>
              <a:t>      "balanced_accuracy": 0.6330842673308428,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252,</a:t>
            </a:r>
          </a:p>
          <a:p>
            <a:r>
              <a:t>          113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14,</a:t>
            </a:r>
          </a:p>
          <a:p>
            <a:r>
              <a:t>          19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0.23030303030303034,</a:t>
            </a:r>
          </a:p>
          <a:p>
            <a:r>
              <a:t>      "positive_count": 33,</a:t>
            </a:r>
          </a:p>
          <a:p>
            <a:r>
              <a:t>      "positive_rate": 0.0829145728643216,</a:t>
            </a:r>
          </a:p>
          <a:p>
            <a:r>
              <a:t>      "precision": 0.14393939393939395,</a:t>
            </a:r>
          </a:p>
          <a:p>
            <a:r>
              <a:t>      "recall": 0.5757575757575758,</a:t>
            </a:r>
          </a:p>
          <a:p>
            <a:r>
              <a:t>      "roc_auc": 0.6503113325031133,</a:t>
            </a:r>
          </a:p>
          <a:p>
            <a:r>
              <a:t>      "row_count": 398,</a:t>
            </a:r>
          </a:p>
          <a:p>
            <a:r>
              <a:t>      "threshold": 0.22999999999999998</a:t>
            </a:r>
          </a:p>
          <a:p>
            <a:r>
              <a:t>    },</a:t>
            </a:r>
          </a:p>
          <a:p>
            <a:r>
              <a:t>    "test_predictions_sha256": "5d6df11a6ae3bc54d294a45d21693bf44665829b73d8a810a9799ec7b59d51e2",</a:t>
            </a:r>
          </a:p>
          <a:p>
            <a:r>
              <a:t>    "uncertainty": {</a:t>
            </a:r>
          </a:p>
          <a:p>
            <a:r>
              <a:t>      "difference_95": {</a:t>
            </a:r>
          </a:p>
          <a:p>
            <a:r>
              <a:t>        "auc_prc": [</a:t>
            </a:r>
          </a:p>
          <a:p>
            <a:r>
              <a:t>          -0.048469636987044054,</a:t>
            </a:r>
          </a:p>
          <a:p>
            <a:r>
              <a:t>          0.11105694411136025</a:t>
            </a:r>
          </a:p>
          <a:p>
            <a:r>
              <a:t>        ],</a:t>
            </a:r>
          </a:p>
          <a:p>
            <a:r>
              <a:t>        "average_precision": [</a:t>
            </a:r>
          </a:p>
          <a:p>
            <a:r>
              <a:t>          -0.03877521175802753,</a:t>
            </a:r>
          </a:p>
          <a:p>
            <a:r>
              <a:t>          0.13127442509976026</a:t>
            </a:r>
          </a:p>
          <a:p>
            <a:r>
              <a:t>        ],</a:t>
            </a:r>
          </a:p>
          <a:p>
            <a:r>
              <a:t>        "roc_auc": [</a:t>
            </a:r>
          </a:p>
          <a:p>
            <a:r>
              <a:t>          0.08682725985585978,</a:t>
            </a:r>
          </a:p>
          <a:p>
            <a:r>
              <a:t>          0.24001765127846597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"method": "paired issue bootstrap; does not model temporal dependence",</a:t>
            </a:r>
          </a:p>
          <a:p>
            <a:r>
              <a:t>      "metrics_95": {</a:t>
            </a:r>
          </a:p>
          <a:p>
            <a:r>
              <a:t>        "auc_prc": [</a:t>
            </a:r>
          </a:p>
          <a:p>
            <a:r>
              <a:t>          0.08150119157441411,</a:t>
            </a:r>
          </a:p>
          <a:p>
            <a:r>
              <a:t>          0.23037020130150426</a:t>
            </a:r>
          </a:p>
          <a:p>
            <a:r>
              <a:t>        ],</a:t>
            </a:r>
          </a:p>
          <a:p>
            <a:r>
              <a:t>        "average_precision": [</a:t>
            </a:r>
          </a:p>
          <a:p>
            <a:r>
              <a:t>          0.09178246909229279,</a:t>
            </a:r>
          </a:p>
          <a:p>
            <a:r>
              <a:t>          0.258447368827194</a:t>
            </a:r>
          </a:p>
          <a:p>
            <a:r>
              <a:t>        ],</a:t>
            </a:r>
          </a:p>
          <a:p>
            <a:r>
              <a:t>        "roc_auc": [</a:t>
            </a:r>
          </a:p>
          <a:p>
            <a:r>
              <a:t>          0.55125,</a:t>
            </a:r>
          </a:p>
          <a:p>
            <a:r>
              <a:t>          0.7423885507408234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"requested_samples": 2000,</a:t>
            </a:r>
          </a:p>
          <a:p>
            <a:r>
              <a:t>      "valid_samples": 2000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"artifact_reference": {</a:t>
            </a:r>
          </a:p>
          <a:p>
            <a:r>
              <a:t>      "base": {</a:t>
            </a:r>
          </a:p>
          <a:p>
            <a:r>
              <a:t>        "id": "Qwen/Qwen3-Embedding-0.6B",</a:t>
            </a:r>
          </a:p>
          <a:p>
            <a:r>
              <a:t>        "license": "apache-2.0",</a:t>
            </a:r>
          </a:p>
          <a:p>
            <a:r>
              <a:t>        "lora_targets": [</a:t>
            </a:r>
          </a:p>
          <a:p>
            <a:r>
              <a:t>          "q_proj",</a:t>
            </a:r>
          </a:p>
          <a:p>
            <a:r>
              <a:t>          "v_proj"</a:t>
            </a:r>
          </a:p>
          <a:p>
            <a:r>
              <a:t>        ],</a:t>
            </a:r>
          </a:p>
          <a:p>
            <a:r>
              <a:t>        "parameters_billions": 0.6,</a:t>
            </a:r>
          </a:p>
          <a:p>
            <a:r>
              <a:t>        "pooling": "last",</a:t>
            </a:r>
          </a:p>
          <a:p>
            <a:r>
              <a:t>        "profile_vram_gib": [</a:t>
            </a:r>
          </a:p>
          <a:p>
            <a:r>
              <a:t>          12,</a:t>
            </a:r>
          </a:p>
          <a:p>
            <a:r>
              <a:t>          24</a:t>
            </a:r>
          </a:p>
          <a:p>
            <a:r>
              <a:t>        ],</a:t>
            </a:r>
          </a:p>
          <a:p>
            <a:r>
              <a:t>        "quantize": false,</a:t>
            </a:r>
          </a:p>
          <a:p>
            <a:r>
              <a:t>        "revision": "97b0c614be4d77ee51c0cef4e5f07c00f9eb65b3"</a:t>
            </a:r>
          </a:p>
          <a:p>
            <a:r>
              <a:t>      },</a:t>
            </a:r>
          </a:p>
          <a:p>
            <a:r>
              <a:t>      "config_sha256": "2bc94a1680d72c09dc8a1a93e4f0806cc6e558c7ad21cdf328626690c7b33440",</a:t>
            </a:r>
          </a:p>
          <a:p>
            <a:r>
              <a:t>      "source_sha256": "974b8eebd00626edaa8d1b985055722bdaf3dd4d428612dfa6d47863abe771fe",</a:t>
            </a:r>
          </a:p>
          <a:p>
            <a:r>
              <a:t>      "study_relative_checkpoint": "frozen/MariaDB/qwen_embedding/20/960e0f5859a4a3fd/checkpoint"</a:t>
            </a:r>
          </a:p>
          <a:p>
            <a:r>
              <a:t>    },</a:t>
            </a:r>
          </a:p>
          <a:p>
            <a:r>
              <a:t>    "baseline": {</a:t>
            </a:r>
          </a:p>
          <a:p>
            <a:r>
              <a:t>      "accuracy": 0.9296482412060302,</a:t>
            </a:r>
          </a:p>
          <a:p>
            <a:r>
              <a:t>      "auc_prc": 0.12182267085738707,</a:t>
            </a:r>
          </a:p>
          <a:p>
            <a:r>
              <a:t>      "average_precision": 0.133107696306499,</a:t>
            </a:r>
          </a:p>
          <a:p>
            <a:r>
              <a:t>      "balanced_accuracy": 0.5,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370,</a:t>
            </a:r>
          </a:p>
          <a:p>
            <a:r>
              <a:t>          0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28,</a:t>
            </a:r>
          </a:p>
          <a:p>
            <a:r>
              <a:t>          0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0.0,</a:t>
            </a:r>
          </a:p>
          <a:p>
            <a:r>
              <a:t>      "positive_count": 28,</a:t>
            </a:r>
          </a:p>
          <a:p>
            <a:r>
              <a:t>      "positive_rate": 0.07035175879396985,</a:t>
            </a:r>
          </a:p>
          <a:p>
            <a:r>
              <a:t>      "precision": 0.0,</a:t>
            </a:r>
          </a:p>
          <a:p>
            <a:r>
              <a:t>      "recall": 0.0,</a:t>
            </a:r>
          </a:p>
          <a:p>
            <a:r>
              <a:t>      "roc_auc": 0.6720559845559846,</a:t>
            </a:r>
          </a:p>
          <a:p>
            <a:r>
              <a:t>      "row_count": 398,</a:t>
            </a:r>
          </a:p>
          <a:p>
            <a:r>
              <a:t>      "threshold": 0.5</a:t>
            </a:r>
          </a:p>
          <a:p>
            <a:r>
              <a:t>    },</a:t>
            </a:r>
          </a:p>
          <a:p>
            <a:r>
              <a:t>    "baseline_identity": {</a:t>
            </a:r>
          </a:p>
          <a:p>
            <a:r>
              <a:t>      "model": "RF",</a:t>
            </a:r>
          </a:p>
          <a:p>
            <a:r>
              <a:t>      "variant": "refactored"</a:t>
            </a:r>
          </a:p>
          <a:p>
            <a:r>
              <a:t>    },</a:t>
            </a:r>
          </a:p>
          <a:p>
            <a:r>
              <a:t>    "checkpoint_files": {</a:t>
            </a:r>
          </a:p>
          <a:p>
            <a:r>
              <a:t>      "README.md": "4fa0a9977de2c8d2c3a0fa6c84f44b5bbdfd066f31c8e05c295192f8820a9dc1",</a:t>
            </a:r>
          </a:p>
          <a:p>
            <a:r>
              <a:t>      "head.safetensors": "801b81e69684c586a76f563898ad0e8609fb18a8b6f1da81c084f89f1fbb55d1",</a:t>
            </a:r>
          </a:p>
          <a:p>
            <a:r>
              <a:t>      "inference.json": "e341ba58913363120efc2281f3c005812706bb815c3b07db99e629b15a22aa59"</a:t>
            </a:r>
          </a:p>
          <a:p>
            <a:r>
              <a:t>    },</a:t>
            </a:r>
          </a:p>
          <a:p>
            <a:r>
              <a:t>    "constant_score": {</a:t>
            </a:r>
          </a:p>
          <a:p>
            <a:r>
              <a:t>      "accuracy": 0.07035175879396985,</a:t>
            </a:r>
          </a:p>
          <a:p>
            <a:r>
              <a:t>      "auc_prc": 0.535175879396985,</a:t>
            </a:r>
          </a:p>
          <a:p>
            <a:r>
              <a:t>      "average_precision": 0.07035175879396985,</a:t>
            </a:r>
          </a:p>
          <a:p>
            <a:r>
              <a:t>      "balanced_accuracy": 0.5,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370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28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0.13145539906103285,</a:t>
            </a:r>
          </a:p>
          <a:p>
            <a:r>
              <a:t>      "positive_count": 28,</a:t>
            </a:r>
          </a:p>
          <a:p>
            <a:r>
              <a:t>      "positive_rate": 0.07035175879396985,</a:t>
            </a:r>
          </a:p>
          <a:p>
            <a:r>
              <a:t>      "precision": 0.07035175879396985,</a:t>
            </a:r>
          </a:p>
          <a:p>
            <a:r>
              <a:t>      "recall": 1.0,</a:t>
            </a:r>
          </a:p>
          <a:p>
            <a:r>
              <a:t>      "roc_auc": 0.5,</a:t>
            </a:r>
          </a:p>
          <a:p>
            <a:r>
              <a:t>      "row_count": 398,</a:t>
            </a:r>
          </a:p>
          <a:p>
            <a:r>
              <a:t>      "threshold": 0.5</a:t>
            </a:r>
          </a:p>
          <a:p>
            <a:r>
              <a:t>    },</a:t>
            </a:r>
          </a:p>
          <a:p>
            <a:r>
              <a:t>    "gates": {</a:t>
            </a:r>
          </a:p>
          <a:p>
            <a:r>
              <a:t>      "ap_above_baseline": true,</a:t>
            </a:r>
          </a:p>
          <a:p>
            <a:r>
              <a:t>      "ap_above_prevalence": true,</a:t>
            </a:r>
          </a:p>
          <a:p>
            <a:r>
              <a:t>      "auc_prc_above_half": false,</a:t>
            </a:r>
          </a:p>
          <a:p>
            <a:r>
              <a:t>      "passed": false,</a:t>
            </a:r>
          </a:p>
          <a:p>
            <a:r>
              <a:t>      "roc_above_half": true,</a:t>
            </a:r>
          </a:p>
          <a:p>
            <a:r>
              <a:t>      "valid": true</a:t>
            </a:r>
          </a:p>
          <a:p>
            <a:r>
              <a:t>    },</a:t>
            </a:r>
          </a:p>
          <a:p>
            <a:r>
              <a:t>    "level": 20,</a:t>
            </a:r>
          </a:p>
          <a:p>
            <a:r>
              <a:t>    "model": "qwen_embedding",</a:t>
            </a:r>
          </a:p>
          <a:p>
            <a:r>
              <a:t>    "project": "MariaDB",</a:t>
            </a:r>
          </a:p>
          <a:p>
            <a:r>
              <a:t>    "selection_sha256": "0a23b3d08999e9d4fbe36be3c6da5b502a31f60a7888bd59e8bc522ceae474e9",</a:t>
            </a:r>
          </a:p>
          <a:p>
            <a:r>
              <a:t>    "stage": "final-test",</a:t>
            </a:r>
          </a:p>
          <a:p>
            <a:r>
              <a:t>    "test": {</a:t>
            </a:r>
          </a:p>
          <a:p>
            <a:r>
              <a:t>      "accuracy": 0.7914572864321608,</a:t>
            </a:r>
          </a:p>
          <a:p>
            <a:r>
              <a:t>      "auc_prc": 0.1833078226395442,</a:t>
            </a:r>
          </a:p>
          <a:p>
            <a:r>
              <a:t>      "average_precision": 0.20318727651072696,</a:t>
            </a:r>
          </a:p>
          <a:p>
            <a:r>
              <a:t>      "balanced_accuracy": 0.5907335907335908,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305,</a:t>
            </a:r>
          </a:p>
          <a:p>
            <a:r>
              <a:t>          65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18,</a:t>
            </a:r>
          </a:p>
          <a:p>
            <a:r>
              <a:t>          10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0.19417475728155337,</a:t>
            </a:r>
          </a:p>
          <a:p>
            <a:r>
              <a:t>      "positive_count": 28,</a:t>
            </a:r>
          </a:p>
          <a:p>
            <a:r>
              <a:t>      "positive_rate": 0.07035175879396985,</a:t>
            </a:r>
          </a:p>
          <a:p>
            <a:r>
              <a:t>      "precision": 0.13333333333333333,</a:t>
            </a:r>
          </a:p>
          <a:p>
            <a:r>
              <a:t>      "recall": 0.35714285714285715,</a:t>
            </a:r>
          </a:p>
          <a:p>
            <a:r>
              <a:t>      "roc_auc": 0.7377413127413127,</a:t>
            </a:r>
          </a:p>
          <a:p>
            <a:r>
              <a:t>      "row_count": 398,</a:t>
            </a:r>
          </a:p>
          <a:p>
            <a:r>
              <a:t>      "threshold": 0.05</a:t>
            </a:r>
          </a:p>
          <a:p>
            <a:r>
              <a:t>    },</a:t>
            </a:r>
          </a:p>
          <a:p>
            <a:r>
              <a:t>    "test_predictions_sha256": "51c3c7c893d10e6eb5fdf365f47102bf5c0d9a31467e21837d80a3fd31b022a0",</a:t>
            </a:r>
          </a:p>
          <a:p>
            <a:r>
              <a:t>    "uncertainty": {</a:t>
            </a:r>
          </a:p>
          <a:p>
            <a:r>
              <a:t>      "difference_95": {</a:t>
            </a:r>
          </a:p>
          <a:p>
            <a:r>
              <a:t>        "auc_prc": [</a:t>
            </a:r>
          </a:p>
          <a:p>
            <a:r>
              <a:t>          -0.021968740152905505,</a:t>
            </a:r>
          </a:p>
          <a:p>
            <a:r>
              <a:t>          0.19680681996154412</a:t>
            </a:r>
          </a:p>
          <a:p>
            <a:r>
              <a:t>        ],</a:t>
            </a:r>
          </a:p>
          <a:p>
            <a:r>
              <a:t>        "average_precision": [</a:t>
            </a:r>
          </a:p>
          <a:p>
            <a:r>
              <a:t>          -0.032996225107459906,</a:t>
            </a:r>
          </a:p>
          <a:p>
            <a:r>
              <a:t>          0.19865410115030177</a:t>
            </a:r>
          </a:p>
          <a:p>
            <a:r>
              <a:t>        ],</a:t>
            </a:r>
          </a:p>
          <a:p>
            <a:r>
              <a:t>        "roc_auc": [</a:t>
            </a:r>
          </a:p>
          <a:p>
            <a:r>
              <a:t>          -0.01535299806576396,</a:t>
            </a:r>
          </a:p>
          <a:p>
            <a:r>
              <a:t>          0.1423322261685521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"method": "paired issue bootstrap; does not model temporal dependence",</a:t>
            </a:r>
          </a:p>
          <a:p>
            <a:r>
              <a:t>      "metrics_95": {</a:t>
            </a:r>
          </a:p>
          <a:p>
            <a:r>
              <a:t>        "auc_prc": [</a:t>
            </a:r>
          </a:p>
          <a:p>
            <a:r>
              <a:t>          0.09850997634521859,</a:t>
            </a:r>
          </a:p>
          <a:p>
            <a:r>
              <a:t>          0.3454877464882493</a:t>
            </a:r>
          </a:p>
          <a:p>
            <a:r>
              <a:t>        ],</a:t>
            </a:r>
          </a:p>
          <a:p>
            <a:r>
              <a:t>        "average_precision": [</a:t>
            </a:r>
          </a:p>
          <a:p>
            <a:r>
              <a:t>          0.11505529471063236,</a:t>
            </a:r>
          </a:p>
          <a:p>
            <a:r>
              <a:t>          0.37286718808514663</a:t>
            </a:r>
          </a:p>
          <a:p>
            <a:r>
              <a:t>        ],</a:t>
            </a:r>
          </a:p>
          <a:p>
            <a:r>
              <a:t>        "roc_auc": [</a:t>
            </a:r>
          </a:p>
          <a:p>
            <a:r>
              <a:t>          0.6506093854341509,</a:t>
            </a:r>
          </a:p>
          <a:p>
            <a:r>
              <a:t>          0.8189320011028985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"requested_samples": 2000,</a:t>
            </a:r>
          </a:p>
          <a:p>
            <a:r>
              <a:t>      "valid_samples": 2000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Study: hf-20261008-modernbert-qwen. Report received October 19, 2026. Report SHA256: 7698fe31e652cc8d24fb2cc8ff8a443c2c1ec04ac3786cd9bf3dc0e6f4ec006a. Study SHA256: 111d8a78875a8263475514691b581904a9164855d91603ac7dc4e32f838a5095. Source: data/hf-20261008-report.json; counts from the frozen reference_contract.json. Reported metrics are not independently recomputed from raw predictions. Matched classical comparator selected by validation AUC-PRC in historical PR #357. Labels: &gt;= K changed words AND at least one summary/description/acceptance change. Test metrics are unweighted. Scores are retrospective; public-Jira pretraining contamination is possible. Paired issue bootstrap does not model temporal dependence.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"artifact_reference": {</a:t>
            </a:r>
          </a:p>
          <a:p>
            <a:r>
              <a:t>      "base": {</a:t>
            </a:r>
          </a:p>
          <a:p>
            <a:r>
              <a:t>        "id": "answerdotai/ModernBERT-base",</a:t>
            </a:r>
          </a:p>
          <a:p>
            <a:r>
              <a:t>        "license": "apache-2.0",</a:t>
            </a:r>
          </a:p>
          <a:p>
            <a:r>
              <a:t>        "lora_targets": [</a:t>
            </a:r>
          </a:p>
          <a:p>
            <a:r>
              <a:t>          "Wqkv",</a:t>
            </a:r>
          </a:p>
          <a:p>
            <a:r>
              <a:t>          "Wo"</a:t>
            </a:r>
          </a:p>
          <a:p>
            <a:r>
              <a:t>        ],</a:t>
            </a:r>
          </a:p>
          <a:p>
            <a:r>
              <a:t>        "parameters_billions": 0.149,</a:t>
            </a:r>
          </a:p>
          <a:p>
            <a:r>
              <a:t>        "pooling": "mean",</a:t>
            </a:r>
          </a:p>
          <a:p>
            <a:r>
              <a:t>        "profile_vram_gib": [</a:t>
            </a:r>
          </a:p>
          <a:p>
            <a:r>
              <a:t>          16,</a:t>
            </a:r>
          </a:p>
          <a:p>
            <a:r>
              <a:t>          24</a:t>
            </a:r>
          </a:p>
          <a:p>
            <a:r>
              <a:t>        ],</a:t>
            </a:r>
          </a:p>
          <a:p>
            <a:r>
              <a:t>        "quantize": false,</a:t>
            </a:r>
          </a:p>
          <a:p>
            <a:r>
              <a:t>        "revision": "8949b909ec900327062f0ebf497f51aef5e6f0c8"</a:t>
            </a:r>
          </a:p>
          <a:p>
            <a:r>
              <a:t>      },</a:t>
            </a:r>
          </a:p>
          <a:p>
            <a:r>
              <a:t>      "config_sha256": "2bc94a1680d72c09dc8a1a93e4f0806cc6e558c7ad21cdf328626690c7b33440",</a:t>
            </a:r>
          </a:p>
          <a:p>
            <a:r>
              <a:t>      "source_sha256": "974b8eebd00626edaa8d1b985055722bdaf3dd4d428612dfa6d47863abe771fe",</a:t>
            </a:r>
          </a:p>
          <a:p>
            <a:r>
              <a:t>      "study_relative_checkpoint": "frozen/Qt/modernbert/5/4472aaa46dad1ea1/checkpoint"</a:t>
            </a:r>
          </a:p>
          <a:p>
            <a:r>
              <a:t>    },</a:t>
            </a:r>
          </a:p>
          <a:p>
            <a:r>
              <a:t>    "baseline": {</a:t>
            </a:r>
          </a:p>
          <a:p>
            <a:r>
              <a:t>      "accuracy": 0.9035159443990188,</a:t>
            </a:r>
          </a:p>
          <a:p>
            <a:r>
              <a:t>      "auc_prc": 0.18974342862675092,</a:t>
            </a:r>
          </a:p>
          <a:p>
            <a:r>
              <a:t>      "average_precision": 0.1949165780791524,</a:t>
            </a:r>
          </a:p>
          <a:p>
            <a:r>
              <a:t>      "balanced_accuracy": 0.5,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1105,</a:t>
            </a:r>
          </a:p>
          <a:p>
            <a:r>
              <a:t>          0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118,</a:t>
            </a:r>
          </a:p>
          <a:p>
            <a:r>
              <a:t>          0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0.0,</a:t>
            </a:r>
          </a:p>
          <a:p>
            <a:r>
              <a:t>      "positive_count": 118,</a:t>
            </a:r>
          </a:p>
          <a:p>
            <a:r>
              <a:t>      "positive_rate": 0.0964840556009812,</a:t>
            </a:r>
          </a:p>
          <a:p>
            <a:r>
              <a:t>      "precision": 0.0,</a:t>
            </a:r>
          </a:p>
          <a:p>
            <a:r>
              <a:t>      "recall": 0.0,</a:t>
            </a:r>
          </a:p>
          <a:p>
            <a:r>
              <a:t>      "roc_auc": 0.689911036122402,</a:t>
            </a:r>
          </a:p>
          <a:p>
            <a:r>
              <a:t>      "row_count": 1223,</a:t>
            </a:r>
          </a:p>
          <a:p>
            <a:r>
              <a:t>      "threshold": 0.5</a:t>
            </a:r>
          </a:p>
          <a:p>
            <a:r>
              <a:t>    },</a:t>
            </a:r>
          </a:p>
          <a:p>
            <a:r>
              <a:t>    "baseline_identity": {</a:t>
            </a:r>
          </a:p>
          <a:p>
            <a:r>
              <a:t>      "model": "XGboost",</a:t>
            </a:r>
          </a:p>
          <a:p>
            <a:r>
              <a:t>      "variant": "baseline"</a:t>
            </a:r>
          </a:p>
          <a:p>
            <a:r>
              <a:t>    },</a:t>
            </a:r>
          </a:p>
          <a:p>
            <a:r>
              <a:t>    "checkpoint_files": {</a:t>
            </a:r>
          </a:p>
          <a:p>
            <a:r>
              <a:t>      "README.md": "0b1bf56f4073d47dcffe12a784a9f46b7a5c94a2379f7cba3d6ebda97226ecb3",</a:t>
            </a:r>
          </a:p>
          <a:p>
            <a:r>
              <a:t>      "head.safetensors": "7c6f82c82613bb00cffd6ed0fee6e276f6ccce25e4828ff1802d9846a22c0439",</a:t>
            </a:r>
          </a:p>
          <a:p>
            <a:r>
              <a:t>      "inference.json": "c121cc7df30c93e6066b966869e921dd506d1e45823bc49a1557cfd9ea054343"</a:t>
            </a:r>
          </a:p>
          <a:p>
            <a:r>
              <a:t>    },</a:t>
            </a:r>
          </a:p>
          <a:p>
            <a:r>
              <a:t>    "constant_score": {</a:t>
            </a:r>
          </a:p>
          <a:p>
            <a:r>
              <a:t>      "accuracy": 0.0964840556009812,</a:t>
            </a:r>
          </a:p>
          <a:p>
            <a:r>
              <a:t>      "auc_prc": 0.5482420278004906,</a:t>
            </a:r>
          </a:p>
          <a:p>
            <a:r>
              <a:t>      "average_precision": 0.0964840556009812,</a:t>
            </a:r>
          </a:p>
          <a:p>
            <a:r>
              <a:t>      "balanced_accuracy": 0.5,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1105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118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0.17598806860551827,</a:t>
            </a:r>
          </a:p>
          <a:p>
            <a:r>
              <a:t>      "positive_count": 118,</a:t>
            </a:r>
          </a:p>
          <a:p>
            <a:r>
              <a:t>      "positive_rate": 0.0964840556009812,</a:t>
            </a:r>
          </a:p>
          <a:p>
            <a:r>
              <a:t>      "precision": 0.0964840556009812,</a:t>
            </a:r>
          </a:p>
          <a:p>
            <a:r>
              <a:t>      "recall": 1.0,</a:t>
            </a:r>
          </a:p>
          <a:p>
            <a:r>
              <a:t>      "roc_auc": 0.5,</a:t>
            </a:r>
          </a:p>
          <a:p>
            <a:r>
              <a:t>      "row_count": 1223,</a:t>
            </a:r>
          </a:p>
          <a:p>
            <a:r>
              <a:t>      "threshold": 0.5</a:t>
            </a:r>
          </a:p>
          <a:p>
            <a:r>
              <a:t>    },</a:t>
            </a:r>
          </a:p>
          <a:p>
            <a:r>
              <a:t>    "gates": {</a:t>
            </a:r>
          </a:p>
          <a:p>
            <a:r>
              <a:t>      "ap_above_baseline": true,</a:t>
            </a:r>
          </a:p>
          <a:p>
            <a:r>
              <a:t>      "ap_above_prevalence": true,</a:t>
            </a:r>
          </a:p>
          <a:p>
            <a:r>
              <a:t>      "auc_prc_above_half": false,</a:t>
            </a:r>
          </a:p>
          <a:p>
            <a:r>
              <a:t>      "passed": false,</a:t>
            </a:r>
          </a:p>
          <a:p>
            <a:r>
              <a:t>      "roc_above_half": true,</a:t>
            </a:r>
          </a:p>
          <a:p>
            <a:r>
              <a:t>      "valid": true</a:t>
            </a:r>
          </a:p>
          <a:p>
            <a:r>
              <a:t>    },</a:t>
            </a:r>
          </a:p>
          <a:p>
            <a:r>
              <a:t>    "level": 5,</a:t>
            </a:r>
          </a:p>
          <a:p>
            <a:r>
              <a:t>    "model": "modernbert",</a:t>
            </a:r>
          </a:p>
          <a:p>
            <a:r>
              <a:t>    "project": "Qt",</a:t>
            </a:r>
          </a:p>
          <a:p>
            <a:r>
              <a:t>    "selection_sha256": "3c7f0a2c4410e452740d3ea1101442e3b1518c4719a2fe5439570c3eef17c6b1",</a:t>
            </a:r>
          </a:p>
          <a:p>
            <a:r>
              <a:t>    "stage": "final-test",</a:t>
            </a:r>
          </a:p>
          <a:p>
            <a:r>
              <a:t>    "test": {</a:t>
            </a:r>
          </a:p>
          <a:p>
            <a:r>
              <a:t>      "accuracy": 0.7072771872444807,</a:t>
            </a:r>
          </a:p>
          <a:p>
            <a:r>
              <a:t>      "auc_prc": 0.2304647670912897,</a:t>
            </a:r>
          </a:p>
          <a:p>
            <a:r>
              <a:t>      "average_precision": 0.23591981132571813,</a:t>
            </a:r>
          </a:p>
          <a:p>
            <a:r>
              <a:t>      "balanced_accuracy": 0.6033514840095099,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809,</a:t>
            </a:r>
          </a:p>
          <a:p>
            <a:r>
              <a:t>          296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62,</a:t>
            </a:r>
          </a:p>
          <a:p>
            <a:r>
              <a:t>          56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0.23829787234042552,</a:t>
            </a:r>
          </a:p>
          <a:p>
            <a:r>
              <a:t>      "positive_count": 118,</a:t>
            </a:r>
          </a:p>
          <a:p>
            <a:r>
              <a:t>      "positive_rate": 0.0964840556009812,</a:t>
            </a:r>
          </a:p>
          <a:p>
            <a:r>
              <a:t>      "precision": 0.1590909090909091,</a:t>
            </a:r>
          </a:p>
          <a:p>
            <a:r>
              <a:t>      "recall": 0.4745762711864407,</a:t>
            </a:r>
          </a:p>
          <a:p>
            <a:r>
              <a:t>      "roc_auc": 0.6875910729350411,</a:t>
            </a:r>
          </a:p>
          <a:p>
            <a:r>
              <a:t>      "row_count": 1223,</a:t>
            </a:r>
          </a:p>
          <a:p>
            <a:r>
              <a:t>      "threshold": 0.5099999999999999</a:t>
            </a:r>
          </a:p>
          <a:p>
            <a:r>
              <a:t>    },</a:t>
            </a:r>
          </a:p>
          <a:p>
            <a:r>
              <a:t>    "test_predictions_sha256": "0fc240e7c0aad94d8250065e69b9d7195917c3b6d06e7582fe262673624326cd",</a:t>
            </a:r>
          </a:p>
          <a:p>
            <a:r>
              <a:t>    "uncertainty": {</a:t>
            </a:r>
          </a:p>
          <a:p>
            <a:r>
              <a:t>      "difference_95": {</a:t>
            </a:r>
          </a:p>
          <a:p>
            <a:r>
              <a:t>        "auc_prc": [</a:t>
            </a:r>
          </a:p>
          <a:p>
            <a:r>
              <a:t>          -0.02248335685846941,</a:t>
            </a:r>
          </a:p>
          <a:p>
            <a:r>
              <a:t>          0.10925779761044793</a:t>
            </a:r>
          </a:p>
          <a:p>
            <a:r>
              <a:t>        ],</a:t>
            </a:r>
          </a:p>
          <a:p>
            <a:r>
              <a:t>        "average_precision": [</a:t>
            </a:r>
          </a:p>
          <a:p>
            <a:r>
              <a:t>          -0.022107228658031858,</a:t>
            </a:r>
          </a:p>
          <a:p>
            <a:r>
              <a:t>          0.1102428359813442</a:t>
            </a:r>
          </a:p>
          <a:p>
            <a:r>
              <a:t>        ],</a:t>
            </a:r>
          </a:p>
          <a:p>
            <a:r>
              <a:t>        "roc_auc": [</a:t>
            </a:r>
          </a:p>
          <a:p>
            <a:r>
              <a:t>          -0.039749128848601975,</a:t>
            </a:r>
          </a:p>
          <a:p>
            <a:r>
              <a:t>          0.0352658720883429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"method": "paired issue bootstrap; does not model temporal dependence",</a:t>
            </a:r>
          </a:p>
          <a:p>
            <a:r>
              <a:t>      "metrics_95": {</a:t>
            </a:r>
          </a:p>
          <a:p>
            <a:r>
              <a:t>        "auc_prc": [</a:t>
            </a:r>
          </a:p>
          <a:p>
            <a:r>
              <a:t>          0.1651278783343117,</a:t>
            </a:r>
          </a:p>
          <a:p>
            <a:r>
              <a:t>          0.315245736589785</a:t>
            </a:r>
          </a:p>
          <a:p>
            <a:r>
              <a:t>        ],</a:t>
            </a:r>
          </a:p>
          <a:p>
            <a:r>
              <a:t>        "average_precision": [</a:t>
            </a:r>
          </a:p>
          <a:p>
            <a:r>
              <a:t>          0.1724839465333573,</a:t>
            </a:r>
          </a:p>
          <a:p>
            <a:r>
              <a:t>          0.3219338815115939</a:t>
            </a:r>
          </a:p>
          <a:p>
            <a:r>
              <a:t>        ],</a:t>
            </a:r>
          </a:p>
          <a:p>
            <a:r>
              <a:t>        "roc_auc": [</a:t>
            </a:r>
          </a:p>
          <a:p>
            <a:r>
              <a:t>          0.6391078452242854,</a:t>
            </a:r>
          </a:p>
          <a:p>
            <a:r>
              <a:t>          0.7341193163079862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"requested_samples": 2000,</a:t>
            </a:r>
          </a:p>
          <a:p>
            <a:r>
              <a:t>      "valid_samples": 2000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"artifact_reference": {</a:t>
            </a:r>
          </a:p>
          <a:p>
            <a:r>
              <a:t>      "base": {</a:t>
            </a:r>
          </a:p>
          <a:p>
            <a:r>
              <a:t>        "id": "Qwen/Qwen3-Embedding-0.6B",</a:t>
            </a:r>
          </a:p>
          <a:p>
            <a:r>
              <a:t>        "license": "apache-2.0",</a:t>
            </a:r>
          </a:p>
          <a:p>
            <a:r>
              <a:t>        "lora_targets": [</a:t>
            </a:r>
          </a:p>
          <a:p>
            <a:r>
              <a:t>          "q_proj",</a:t>
            </a:r>
          </a:p>
          <a:p>
            <a:r>
              <a:t>          "v_proj"</a:t>
            </a:r>
          </a:p>
          <a:p>
            <a:r>
              <a:t>        ],</a:t>
            </a:r>
          </a:p>
          <a:p>
            <a:r>
              <a:t>        "parameters_billions": 0.6,</a:t>
            </a:r>
          </a:p>
          <a:p>
            <a:r>
              <a:t>        "pooling": "last",</a:t>
            </a:r>
          </a:p>
          <a:p>
            <a:r>
              <a:t>        "profile_vram_gib": [</a:t>
            </a:r>
          </a:p>
          <a:p>
            <a:r>
              <a:t>          12,</a:t>
            </a:r>
          </a:p>
          <a:p>
            <a:r>
              <a:t>          24</a:t>
            </a:r>
          </a:p>
          <a:p>
            <a:r>
              <a:t>        ],</a:t>
            </a:r>
          </a:p>
          <a:p>
            <a:r>
              <a:t>        "quantize": false,</a:t>
            </a:r>
          </a:p>
          <a:p>
            <a:r>
              <a:t>        "revision": "97b0c614be4d77ee51c0cef4e5f07c00f9eb65b3"</a:t>
            </a:r>
          </a:p>
          <a:p>
            <a:r>
              <a:t>      },</a:t>
            </a:r>
          </a:p>
          <a:p>
            <a:r>
              <a:t>      "config_sha256": "2bc94a1680d72c09dc8a1a93e4f0806cc6e558c7ad21cdf328626690c7b33440",</a:t>
            </a:r>
          </a:p>
          <a:p>
            <a:r>
              <a:t>      "source_sha256": "974b8eebd00626edaa8d1b985055722bdaf3dd4d428612dfa6d47863abe771fe",</a:t>
            </a:r>
          </a:p>
          <a:p>
            <a:r>
              <a:t>      "study_relative_checkpoint": "finetune/Qt/qwen_embedding/10/3fcda3a886efcc78/checkpoint"</a:t>
            </a:r>
          </a:p>
          <a:p>
            <a:r>
              <a:t>    },</a:t>
            </a:r>
          </a:p>
          <a:p>
            <a:r>
              <a:t>    "baseline": {</a:t>
            </a:r>
          </a:p>
          <a:p>
            <a:r>
              <a:t>      "accuracy": 0.7931316434995912,</a:t>
            </a:r>
          </a:p>
          <a:p>
            <a:r>
              <a:t>      "auc_prc": 0.17394196940901607,</a:t>
            </a:r>
          </a:p>
          <a:p>
            <a:r>
              <a:t>      "average_precision": 0.1784419161306906,</a:t>
            </a:r>
          </a:p>
          <a:p>
            <a:r>
              <a:t>      "balanced_accuracy": 0.5988033820578963,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947,</a:t>
            </a:r>
          </a:p>
          <a:p>
            <a:r>
              <a:t>          216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37,</a:t>
            </a:r>
          </a:p>
          <a:p>
            <a:r>
              <a:t>          23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0.15384615384615383,</a:t>
            </a:r>
          </a:p>
          <a:p>
            <a:r>
              <a:t>      "positive_count": 60,</a:t>
            </a:r>
          </a:p>
          <a:p>
            <a:r>
              <a:t>      "positive_rate": 0.04905968928863451,</a:t>
            </a:r>
          </a:p>
          <a:p>
            <a:r>
              <a:t>      "precision": 0.09623430962343096,</a:t>
            </a:r>
          </a:p>
          <a:p>
            <a:r>
              <a:t>      "recall": 0.38333333333333336,</a:t>
            </a:r>
          </a:p>
          <a:p>
            <a:r>
              <a:t>      "roc_auc": 0.7276153625680711,</a:t>
            </a:r>
          </a:p>
          <a:p>
            <a:r>
              <a:t>      "row_count": 1223,</a:t>
            </a:r>
          </a:p>
          <a:p>
            <a:r>
              <a:t>      "threshold": 0.5</a:t>
            </a:r>
          </a:p>
          <a:p>
            <a:r>
              <a:t>    },</a:t>
            </a:r>
          </a:p>
          <a:p>
            <a:r>
              <a:t>    "baseline_identity": {</a:t>
            </a:r>
          </a:p>
          <a:p>
            <a:r>
              <a:t>      "model": "XGboost",</a:t>
            </a:r>
          </a:p>
          <a:p>
            <a:r>
              <a:t>      "variant": "refactored"</a:t>
            </a:r>
          </a:p>
          <a:p>
            <a:r>
              <a:t>    },</a:t>
            </a:r>
          </a:p>
          <a:p>
            <a:r>
              <a:t>    "checkpoint_files": {</a:t>
            </a:r>
          </a:p>
          <a:p>
            <a:r>
              <a:t>      "README.md": "f41645d8780b5bbbee4683e4478b84c4e27d753ad375d39f4eeefc19ef413a3e",</a:t>
            </a:r>
          </a:p>
          <a:p>
            <a:r>
              <a:t>      "adapter/README.md": "2b259ec9b5799fd1e7da6813a1a008293163ac0d5b6be0eb53454a512e57e06a",</a:t>
            </a:r>
          </a:p>
          <a:p>
            <a:r>
              <a:t>      "adapter/adapter_config.json": "99fa5eb9f7d31210f53d3d34e75da168eb5316200f9fd08f3c0967ecdad46276",</a:t>
            </a:r>
          </a:p>
          <a:p>
            <a:r>
              <a:t>      "adapter/adapter_model.safetensors": "5346b696627f877e9a580bd4cd6d9fdd8f8220709f35d971407651dee73e3d43",</a:t>
            </a:r>
          </a:p>
          <a:p>
            <a:r>
              <a:t>      "head.safetensors": "2caaa1d61d21a52e2be5ad6356b99e674b81c58eec9320d3e8ce284ccc00b2b5",</a:t>
            </a:r>
          </a:p>
          <a:p>
            <a:r>
              <a:t>      "inference.json": "592ae2e91c2b720fcfa501f32f048902eff4a44f2ae1e86fea6529337f35930a"</a:t>
            </a:r>
          </a:p>
          <a:p>
            <a:r>
              <a:t>    },</a:t>
            </a:r>
          </a:p>
          <a:p>
            <a:r>
              <a:t>    "constant_score": {</a:t>
            </a:r>
          </a:p>
          <a:p>
            <a:r>
              <a:t>      "accuracy": 0.04905968928863451,</a:t>
            </a:r>
          </a:p>
          <a:p>
            <a:r>
              <a:t>      "auc_prc": 0.5245298446443173,</a:t>
            </a:r>
          </a:p>
          <a:p>
            <a:r>
              <a:t>      "average_precision": 0.04905968928863451,</a:t>
            </a:r>
          </a:p>
          <a:p>
            <a:r>
              <a:t>      "balanced_accuracy": 0.5,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1163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60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0.09353078721745908,</a:t>
            </a:r>
          </a:p>
          <a:p>
            <a:r>
              <a:t>      "positive_count": 60,</a:t>
            </a:r>
          </a:p>
          <a:p>
            <a:r>
              <a:t>      "positive_rate": 0.04905968928863451,</a:t>
            </a:r>
          </a:p>
          <a:p>
            <a:r>
              <a:t>      "precision": 0.04905968928863451,</a:t>
            </a:r>
          </a:p>
          <a:p>
            <a:r>
              <a:t>      "recall": 1.0,</a:t>
            </a:r>
          </a:p>
          <a:p>
            <a:r>
              <a:t>      "roc_auc": 0.5,</a:t>
            </a:r>
          </a:p>
          <a:p>
            <a:r>
              <a:t>      "row_count": 1223,</a:t>
            </a:r>
          </a:p>
          <a:p>
            <a:r>
              <a:t>      "threshold": 0.5</a:t>
            </a:r>
          </a:p>
          <a:p>
            <a:r>
              <a:t>    },</a:t>
            </a:r>
          </a:p>
          <a:p>
            <a:r>
              <a:t>    "gates": {</a:t>
            </a:r>
          </a:p>
          <a:p>
            <a:r>
              <a:t>      "ap_above_baseline": true,</a:t>
            </a:r>
          </a:p>
          <a:p>
            <a:r>
              <a:t>      "ap_above_prevalence": true,</a:t>
            </a:r>
          </a:p>
          <a:p>
            <a:r>
              <a:t>      "auc_prc_above_half": false,</a:t>
            </a:r>
          </a:p>
          <a:p>
            <a:r>
              <a:t>      "passed": false,</a:t>
            </a:r>
          </a:p>
          <a:p>
            <a:r>
              <a:t>      "roc_above_half": true,</a:t>
            </a:r>
          </a:p>
          <a:p>
            <a:r>
              <a:t>      "valid": true</a:t>
            </a:r>
          </a:p>
          <a:p>
            <a:r>
              <a:t>    },</a:t>
            </a:r>
          </a:p>
          <a:p>
            <a:r>
              <a:t>    "level": 10,</a:t>
            </a:r>
          </a:p>
          <a:p>
            <a:r>
              <a:t>    "model": "qwen_embedding",</a:t>
            </a:r>
          </a:p>
          <a:p>
            <a:r>
              <a:t>    "project": "Qt",</a:t>
            </a:r>
          </a:p>
          <a:p>
            <a:r>
              <a:t>    "selection_sha256": "a5c3df04ae804415b9232fe8c421d9b832c45aa67082c09f4f000e533143230b",</a:t>
            </a:r>
          </a:p>
          <a:p>
            <a:r>
              <a:t>    "stage": "final-test",</a:t>
            </a:r>
          </a:p>
          <a:p>
            <a:r>
              <a:t>    "test": {</a:t>
            </a:r>
          </a:p>
          <a:p>
            <a:r>
              <a:t>      "accuracy": 0.8798037612428454,</a:t>
            </a:r>
          </a:p>
          <a:p>
            <a:r>
              <a:t>      "auc_prc": 0.17808884719141882,</a:t>
            </a:r>
          </a:p>
          <a:p>
            <a:r>
              <a:t>      "average_precision": 0.18428668296360734,</a:t>
            </a:r>
          </a:p>
          <a:p>
            <a:r>
              <a:t>      "balanced_accuracy": 0.6364717684150186,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1054,</a:t>
            </a:r>
          </a:p>
          <a:p>
            <a:r>
              <a:t>          109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38,</a:t>
            </a:r>
          </a:p>
          <a:p>
            <a:r>
              <a:t>          22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0.23036649214659685,</a:t>
            </a:r>
          </a:p>
          <a:p>
            <a:r>
              <a:t>      "positive_count": 60,</a:t>
            </a:r>
          </a:p>
          <a:p>
            <a:r>
              <a:t>      "positive_rate": 0.04905968928863451,</a:t>
            </a:r>
          </a:p>
          <a:p>
            <a:r>
              <a:t>      "precision": 0.16793893129770993,</a:t>
            </a:r>
          </a:p>
          <a:p>
            <a:r>
              <a:t>      "recall": 0.36666666666666664,</a:t>
            </a:r>
          </a:p>
          <a:p>
            <a:r>
              <a:t>      "roc_auc": 0.7483018056749785,</a:t>
            </a:r>
          </a:p>
          <a:p>
            <a:r>
              <a:t>      "row_count": 1223,</a:t>
            </a:r>
          </a:p>
          <a:p>
            <a:r>
              <a:t>      "threshold": 0.13999999999999999</a:t>
            </a:r>
          </a:p>
          <a:p>
            <a:r>
              <a:t>    },</a:t>
            </a:r>
          </a:p>
          <a:p>
            <a:r>
              <a:t>    "test_predictions_sha256": "c5821dcb1e7dd46a6dfa7751b5dab41b4adad110a9688c4c5dd07eece3a8a84b",</a:t>
            </a:r>
          </a:p>
          <a:p>
            <a:r>
              <a:t>    "uncertainty": {</a:t>
            </a:r>
          </a:p>
          <a:p>
            <a:r>
              <a:t>      "difference_95": {</a:t>
            </a:r>
          </a:p>
          <a:p>
            <a:r>
              <a:t>        "auc_prc": [</a:t>
            </a:r>
          </a:p>
          <a:p>
            <a:r>
              <a:t>          -0.09297876236315608,</a:t>
            </a:r>
          </a:p>
          <a:p>
            <a:r>
              <a:t>          0.1062724426543999</a:t>
            </a:r>
          </a:p>
          <a:p>
            <a:r>
              <a:t>        ],</a:t>
            </a:r>
          </a:p>
          <a:p>
            <a:r>
              <a:t>        "average_precision": [</a:t>
            </a:r>
          </a:p>
          <a:p>
            <a:r>
              <a:t>          -0.08960500659963994,</a:t>
            </a:r>
          </a:p>
          <a:p>
            <a:r>
              <a:t>          0.1078200874871837</a:t>
            </a:r>
          </a:p>
          <a:p>
            <a:r>
              <a:t>        ],</a:t>
            </a:r>
          </a:p>
          <a:p>
            <a:r>
              <a:t>        "roc_auc": [</a:t>
            </a:r>
          </a:p>
          <a:p>
            <a:r>
              <a:t>          -0.04355216073133632,</a:t>
            </a:r>
          </a:p>
          <a:p>
            <a:r>
              <a:t>          0.08023956371746646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"method": "paired issue bootstrap; does not model temporal dependence",</a:t>
            </a:r>
          </a:p>
          <a:p>
            <a:r>
              <a:t>      "metrics_95": {</a:t>
            </a:r>
          </a:p>
          <a:p>
            <a:r>
              <a:t>        "auc_prc": [</a:t>
            </a:r>
          </a:p>
          <a:p>
            <a:r>
              <a:t>          0.10534403545239394,</a:t>
            </a:r>
          </a:p>
          <a:p>
            <a:r>
              <a:t>          0.2772237933199474</a:t>
            </a:r>
          </a:p>
          <a:p>
            <a:r>
              <a:t>        ],</a:t>
            </a:r>
          </a:p>
          <a:p>
            <a:r>
              <a:t>        "average_precision": [</a:t>
            </a:r>
          </a:p>
          <a:p>
            <a:r>
              <a:t>          0.11488685468175609,</a:t>
            </a:r>
          </a:p>
          <a:p>
            <a:r>
              <a:t>          0.2886747199451196</a:t>
            </a:r>
          </a:p>
          <a:p>
            <a:r>
              <a:t>        ],</a:t>
            </a:r>
          </a:p>
          <a:p>
            <a:r>
              <a:t>        "roc_auc": [</a:t>
            </a:r>
          </a:p>
          <a:p>
            <a:r>
              <a:t>          0.685083884734382,</a:t>
            </a:r>
          </a:p>
          <a:p>
            <a:r>
              <a:t>          0.8072391949548886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"requested_samples": 2000,</a:t>
            </a:r>
          </a:p>
          <a:p>
            <a:r>
              <a:t>      "valid_samples": 2000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"artifact_reference": {</a:t>
            </a:r>
          </a:p>
          <a:p>
            <a:r>
              <a:t>      "base": {</a:t>
            </a:r>
          </a:p>
          <a:p>
            <a:r>
              <a:t>        "id": "Qwen/Qwen3-Embedding-0.6B",</a:t>
            </a:r>
          </a:p>
          <a:p>
            <a:r>
              <a:t>        "license": "apache-2.0",</a:t>
            </a:r>
          </a:p>
          <a:p>
            <a:r>
              <a:t>        "lora_targets": [</a:t>
            </a:r>
          </a:p>
          <a:p>
            <a:r>
              <a:t>          "q_proj",</a:t>
            </a:r>
          </a:p>
          <a:p>
            <a:r>
              <a:t>          "v_proj"</a:t>
            </a:r>
          </a:p>
          <a:p>
            <a:r>
              <a:t>        ],</a:t>
            </a:r>
          </a:p>
          <a:p>
            <a:r>
              <a:t>        "parameters_billions": 0.6,</a:t>
            </a:r>
          </a:p>
          <a:p>
            <a:r>
              <a:t>        "pooling": "last",</a:t>
            </a:r>
          </a:p>
          <a:p>
            <a:r>
              <a:t>        "profile_vram_gib": [</a:t>
            </a:r>
          </a:p>
          <a:p>
            <a:r>
              <a:t>          12,</a:t>
            </a:r>
          </a:p>
          <a:p>
            <a:r>
              <a:t>          24</a:t>
            </a:r>
          </a:p>
          <a:p>
            <a:r>
              <a:t>        ],</a:t>
            </a:r>
          </a:p>
          <a:p>
            <a:r>
              <a:t>        "quantize": false,</a:t>
            </a:r>
          </a:p>
          <a:p>
            <a:r>
              <a:t>        "revision": "97b0c614be4d77ee51c0cef4e5f07c00f9eb65b3"</a:t>
            </a:r>
          </a:p>
          <a:p>
            <a:r>
              <a:t>      },</a:t>
            </a:r>
          </a:p>
          <a:p>
            <a:r>
              <a:t>      "config_sha256": "2bc94a1680d72c09dc8a1a93e4f0806cc6e558c7ad21cdf328626690c7b33440",</a:t>
            </a:r>
          </a:p>
          <a:p>
            <a:r>
              <a:t>      "source_sha256": "974b8eebd00626edaa8d1b985055722bdaf3dd4d428612dfa6d47863abe771fe",</a:t>
            </a:r>
          </a:p>
          <a:p>
            <a:r>
              <a:t>      "study_relative_checkpoint": "finetune/Qt/qwen_embedding/15/3fcda3a886efcc78/checkpoint"</a:t>
            </a:r>
          </a:p>
          <a:p>
            <a:r>
              <a:t>    },</a:t>
            </a:r>
          </a:p>
          <a:p>
            <a:r>
              <a:t>    "baseline": {</a:t>
            </a:r>
          </a:p>
          <a:p>
            <a:r>
              <a:t>      "accuracy": 0.964022894521668,</a:t>
            </a:r>
          </a:p>
          <a:p>
            <a:r>
              <a:t>      "auc_prc": 0.13670706740744334,</a:t>
            </a:r>
          </a:p>
          <a:p>
            <a:r>
              <a:t>      "average_precision": 0.1493418412262666,</a:t>
            </a:r>
          </a:p>
          <a:p>
            <a:r>
              <a:t>      "balanced_accuracy": 0.5107804493496255,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1178,</a:t>
            </a:r>
          </a:p>
          <a:p>
            <a:r>
              <a:t>          2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42,</a:t>
            </a:r>
          </a:p>
          <a:p>
            <a:r>
              <a:t>          1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0.04347826086956522,</a:t>
            </a:r>
          </a:p>
          <a:p>
            <a:r>
              <a:t>      "positive_count": 43,</a:t>
            </a:r>
          </a:p>
          <a:p>
            <a:r>
              <a:t>      "positive_rate": 0.03515944399018806,</a:t>
            </a:r>
          </a:p>
          <a:p>
            <a:r>
              <a:t>      "precision": 0.3333333333333333,</a:t>
            </a:r>
          </a:p>
          <a:p>
            <a:r>
              <a:t>      "recall": 0.023255813953488372,</a:t>
            </a:r>
          </a:p>
          <a:p>
            <a:r>
              <a:t>      "roc_auc": 0.7926487977926685,</a:t>
            </a:r>
          </a:p>
          <a:p>
            <a:r>
              <a:t>      "row_count": 1223,</a:t>
            </a:r>
          </a:p>
          <a:p>
            <a:r>
              <a:t>      "threshold": 0.5</a:t>
            </a:r>
          </a:p>
          <a:p>
            <a:r>
              <a:t>    },</a:t>
            </a:r>
          </a:p>
          <a:p>
            <a:r>
              <a:t>    "baseline_identity": {</a:t>
            </a:r>
          </a:p>
          <a:p>
            <a:r>
              <a:t>      "model": "XGboost",</a:t>
            </a:r>
          </a:p>
          <a:p>
            <a:r>
              <a:t>      "variant": "baseline"</a:t>
            </a:r>
          </a:p>
          <a:p>
            <a:r>
              <a:t>    },</a:t>
            </a:r>
          </a:p>
          <a:p>
            <a:r>
              <a:t>    "checkpoint_files": {</a:t>
            </a:r>
          </a:p>
          <a:p>
            <a:r>
              <a:t>      "README.md": "623b32da637c01d81a3e941e83c2cfc8b877b05f9cfefc6c27cb4898967ff6f6",</a:t>
            </a:r>
          </a:p>
          <a:p>
            <a:r>
              <a:t>      "adapter/README.md": "2b259ec9b5799fd1e7da6813a1a008293163ac0d5b6be0eb53454a512e57e06a",</a:t>
            </a:r>
          </a:p>
          <a:p>
            <a:r>
              <a:t>      "adapter/adapter_config.json": "99fa5eb9f7d31210f53d3d34e75da168eb5316200f9fd08f3c0967ecdad46276",</a:t>
            </a:r>
          </a:p>
          <a:p>
            <a:r>
              <a:t>      "adapter/adapter_model.safetensors": "0dbd651d883a5a4166dccbc26c62861689051ed641d6cfba3161f80f6ad58294",</a:t>
            </a:r>
          </a:p>
          <a:p>
            <a:r>
              <a:t>      "head.safetensors": "83ae0a0841546292dcf44917094a0ea3571f2d178132d566dd568fe0c6668254",</a:t>
            </a:r>
          </a:p>
          <a:p>
            <a:r>
              <a:t>      "inference.json": "4ac0c2fef2577d7fdfd099386aa7c4ce7eeb1896c08ab434840fc7adae9b9c80"</a:t>
            </a:r>
          </a:p>
          <a:p>
            <a:r>
              <a:t>    },</a:t>
            </a:r>
          </a:p>
          <a:p>
            <a:r>
              <a:t>    "constant_score": {</a:t>
            </a:r>
          </a:p>
          <a:p>
            <a:r>
              <a:t>      "accuracy": 0.03515944399018806,</a:t>
            </a:r>
          </a:p>
          <a:p>
            <a:r>
              <a:t>      "auc_prc": 0.517579721995094,</a:t>
            </a:r>
          </a:p>
          <a:p>
            <a:r>
              <a:t>      "average_precision": 0.03515944399018806,</a:t>
            </a:r>
          </a:p>
          <a:p>
            <a:r>
              <a:t>      "balanced_accuracy": 0.5,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1180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43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0.0679304897314376,</a:t>
            </a:r>
          </a:p>
          <a:p>
            <a:r>
              <a:t>      "positive_count": 43,</a:t>
            </a:r>
          </a:p>
          <a:p>
            <a:r>
              <a:t>      "positive_rate": 0.03515944399018806,</a:t>
            </a:r>
          </a:p>
          <a:p>
            <a:r>
              <a:t>      "precision": 0.03515944399018806,</a:t>
            </a:r>
          </a:p>
          <a:p>
            <a:r>
              <a:t>      "recall": 1.0,</a:t>
            </a:r>
          </a:p>
          <a:p>
            <a:r>
              <a:t>      "roc_auc": 0.5,</a:t>
            </a:r>
          </a:p>
          <a:p>
            <a:r>
              <a:t>      "row_count": 1223,</a:t>
            </a:r>
          </a:p>
          <a:p>
            <a:r>
              <a:t>      "threshold": 0.5</a:t>
            </a:r>
          </a:p>
          <a:p>
            <a:r>
              <a:t>    },</a:t>
            </a:r>
          </a:p>
          <a:p>
            <a:r>
              <a:t>    "gates": {</a:t>
            </a:r>
          </a:p>
          <a:p>
            <a:r>
              <a:t>      "ap_above_baseline": true,</a:t>
            </a:r>
          </a:p>
          <a:p>
            <a:r>
              <a:t>      "ap_above_prevalence": true,</a:t>
            </a:r>
          </a:p>
          <a:p>
            <a:r>
              <a:t>      "auc_prc_above_half": false,</a:t>
            </a:r>
          </a:p>
          <a:p>
            <a:r>
              <a:t>      "passed": false,</a:t>
            </a:r>
          </a:p>
          <a:p>
            <a:r>
              <a:t>      "roc_above_half": true,</a:t>
            </a:r>
          </a:p>
          <a:p>
            <a:r>
              <a:t>      "valid": true</a:t>
            </a:r>
          </a:p>
          <a:p>
            <a:r>
              <a:t>    },</a:t>
            </a:r>
          </a:p>
          <a:p>
            <a:r>
              <a:t>    "level": 15,</a:t>
            </a:r>
          </a:p>
          <a:p>
            <a:r>
              <a:t>    "model": "qwen_embedding",</a:t>
            </a:r>
          </a:p>
          <a:p>
            <a:r>
              <a:t>    "project": "Qt",</a:t>
            </a:r>
          </a:p>
          <a:p>
            <a:r>
              <a:t>    "selection_sha256": "fe62a936b9742deb6c1af6a2ac972a87f8c3f1a2f93a7cfc65915346f826ba7d",</a:t>
            </a:r>
          </a:p>
          <a:p>
            <a:r>
              <a:t>    "stage": "final-test",</a:t>
            </a:r>
          </a:p>
          <a:p>
            <a:r>
              <a:t>    "test": {</a:t>
            </a:r>
          </a:p>
          <a:p>
            <a:r>
              <a:t>      "accuracy": 0.9542109566639412,</a:t>
            </a:r>
          </a:p>
          <a:p>
            <a:r>
              <a:t>      "auc_prc": 0.14709102890848116,</a:t>
            </a:r>
          </a:p>
          <a:p>
            <a:r>
              <a:t>      "average_precision": 0.16037742968796803,</a:t>
            </a:r>
          </a:p>
          <a:p>
            <a:r>
              <a:t>      "balanced_accuracy": 0.5841249507292077,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1159,</a:t>
            </a:r>
          </a:p>
          <a:p>
            <a:r>
              <a:t>          21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35,</a:t>
            </a:r>
          </a:p>
          <a:p>
            <a:r>
              <a:t>          8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0.2222222222222222,</a:t>
            </a:r>
          </a:p>
          <a:p>
            <a:r>
              <a:t>      "positive_count": 43,</a:t>
            </a:r>
          </a:p>
          <a:p>
            <a:r>
              <a:t>      "positive_rate": 0.03515944399018806,</a:t>
            </a:r>
          </a:p>
          <a:p>
            <a:r>
              <a:t>      "precision": 0.27586206896551724,</a:t>
            </a:r>
          </a:p>
          <a:p>
            <a:r>
              <a:t>      "recall": 0.18604651162790697,</a:t>
            </a:r>
          </a:p>
          <a:p>
            <a:r>
              <a:t>      "roc_auc": 0.7751970831690974,</a:t>
            </a:r>
          </a:p>
          <a:p>
            <a:r>
              <a:t>      "row_count": 1223,</a:t>
            </a:r>
          </a:p>
          <a:p>
            <a:r>
              <a:t>      "threshold": 0.13999999999999999</a:t>
            </a:r>
          </a:p>
          <a:p>
            <a:r>
              <a:t>    },</a:t>
            </a:r>
          </a:p>
          <a:p>
            <a:r>
              <a:t>    "test_predictions_sha256": "d5d62b64595568818382ad48472ce3b4fcecb6041ae16a18a22ac93e1c4a36af",</a:t>
            </a:r>
          </a:p>
          <a:p>
            <a:r>
              <a:t>    "uncertainty": {</a:t>
            </a:r>
          </a:p>
          <a:p>
            <a:r>
              <a:t>      "difference_95": {</a:t>
            </a:r>
          </a:p>
          <a:p>
            <a:r>
              <a:t>        "auc_prc": [</a:t>
            </a:r>
          </a:p>
          <a:p>
            <a:r>
              <a:t>          -0.10106851820718532,</a:t>
            </a:r>
          </a:p>
          <a:p>
            <a:r>
              <a:t>          0.12267641367259303</a:t>
            </a:r>
          </a:p>
          <a:p>
            <a:r>
              <a:t>        ],</a:t>
            </a:r>
          </a:p>
          <a:p>
            <a:r>
              <a:t>        "average_precision": [</a:t>
            </a:r>
          </a:p>
          <a:p>
            <a:r>
              <a:t>          -0.10478721436555959,</a:t>
            </a:r>
          </a:p>
          <a:p>
            <a:r>
              <a:t>          0.1270739017022876</a:t>
            </a:r>
          </a:p>
          <a:p>
            <a:r>
              <a:t>        ],</a:t>
            </a:r>
          </a:p>
          <a:p>
            <a:r>
              <a:t>        "roc_auc": [</a:t>
            </a:r>
          </a:p>
          <a:p>
            <a:r>
              <a:t>          -0.08328590302488921,</a:t>
            </a:r>
          </a:p>
          <a:p>
            <a:r>
              <a:t>          0.04408158153428318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"method": "paired issue bootstrap; does not model temporal dependence",</a:t>
            </a:r>
          </a:p>
          <a:p>
            <a:r>
              <a:t>      "metrics_95": {</a:t>
            </a:r>
          </a:p>
          <a:p>
            <a:r>
              <a:t>        "auc_prc": [</a:t>
            </a:r>
          </a:p>
          <a:p>
            <a:r>
              <a:t>          0.07631286975027933,</a:t>
            </a:r>
          </a:p>
          <a:p>
            <a:r>
              <a:t>          0.2635012768988673</a:t>
            </a:r>
          </a:p>
          <a:p>
            <a:r>
              <a:t>        ],</a:t>
            </a:r>
          </a:p>
          <a:p>
            <a:r>
              <a:t>        "average_precision": [</a:t>
            </a:r>
          </a:p>
          <a:p>
            <a:r>
              <a:t>          0.08817679490164654,</a:t>
            </a:r>
          </a:p>
          <a:p>
            <a:r>
              <a:t>          0.2825690692613693</a:t>
            </a:r>
          </a:p>
          <a:p>
            <a:r>
              <a:t>        ],</a:t>
            </a:r>
          </a:p>
          <a:p>
            <a:r>
              <a:t>        "roc_auc": [</a:t>
            </a:r>
          </a:p>
          <a:p>
            <a:r>
              <a:t>          0.7083922051734395,</a:t>
            </a:r>
          </a:p>
          <a:p>
            <a:r>
              <a:t>          0.8388075082304954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"requested_samples": 2000,</a:t>
            </a:r>
          </a:p>
          <a:p>
            <a:r>
              <a:t>      "valid_samples": 2000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"artifact_reference": {</a:t>
            </a:r>
          </a:p>
          <a:p>
            <a:r>
              <a:t>      "base": {</a:t>
            </a:r>
          </a:p>
          <a:p>
            <a:r>
              <a:t>        "id": "Qwen/Qwen3-Embedding-0.6B",</a:t>
            </a:r>
          </a:p>
          <a:p>
            <a:r>
              <a:t>        "license": "apache-2.0",</a:t>
            </a:r>
          </a:p>
          <a:p>
            <a:r>
              <a:t>        "lora_targets": [</a:t>
            </a:r>
          </a:p>
          <a:p>
            <a:r>
              <a:t>          "q_proj",</a:t>
            </a:r>
          </a:p>
          <a:p>
            <a:r>
              <a:t>          "v_proj"</a:t>
            </a:r>
          </a:p>
          <a:p>
            <a:r>
              <a:t>        ],</a:t>
            </a:r>
          </a:p>
          <a:p>
            <a:r>
              <a:t>        "parameters_billions": 0.6,</a:t>
            </a:r>
          </a:p>
          <a:p>
            <a:r>
              <a:t>        "pooling": "last",</a:t>
            </a:r>
          </a:p>
          <a:p>
            <a:r>
              <a:t>        "profile_vram_gib": [</a:t>
            </a:r>
          </a:p>
          <a:p>
            <a:r>
              <a:t>          12,</a:t>
            </a:r>
          </a:p>
          <a:p>
            <a:r>
              <a:t>          24</a:t>
            </a:r>
          </a:p>
          <a:p>
            <a:r>
              <a:t>        ],</a:t>
            </a:r>
          </a:p>
          <a:p>
            <a:r>
              <a:t>        "quantize": false,</a:t>
            </a:r>
          </a:p>
          <a:p>
            <a:r>
              <a:t>        "revision": "97b0c614be4d77ee51c0cef4e5f07c00f9eb65b3"</a:t>
            </a:r>
          </a:p>
          <a:p>
            <a:r>
              <a:t>      },</a:t>
            </a:r>
          </a:p>
          <a:p>
            <a:r>
              <a:t>      "config_sha256": "2bc94a1680d72c09dc8a1a93e4f0806cc6e558c7ad21cdf328626690c7b33440",</a:t>
            </a:r>
          </a:p>
          <a:p>
            <a:r>
              <a:t>      "source_sha256": "974b8eebd00626edaa8d1b985055722bdaf3dd4d428612dfa6d47863abe771fe",</a:t>
            </a:r>
          </a:p>
          <a:p>
            <a:r>
              <a:t>      "study_relative_checkpoint": "finetune/Qt/qwen_embedding/20/11da968cf4352788/checkpoint"</a:t>
            </a:r>
          </a:p>
          <a:p>
            <a:r>
              <a:t>    },</a:t>
            </a:r>
          </a:p>
          <a:p>
            <a:r>
              <a:t>    "baseline": {</a:t>
            </a:r>
          </a:p>
          <a:p>
            <a:r>
              <a:t>      "accuracy": 0.9721995094031071,</a:t>
            </a:r>
          </a:p>
          <a:p>
            <a:r>
              <a:t>      "auc_prc": 0.11893583301874244,</a:t>
            </a:r>
          </a:p>
          <a:p>
            <a:r>
              <a:t>      "average_precision": 0.1251974969883866,</a:t>
            </a:r>
          </a:p>
          <a:p>
            <a:r>
              <a:t>      "balanced_accuracy": 0.5,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1189,</a:t>
            </a:r>
          </a:p>
          <a:p>
            <a:r>
              <a:t>          0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34,</a:t>
            </a:r>
          </a:p>
          <a:p>
            <a:r>
              <a:t>          0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0.0,</a:t>
            </a:r>
          </a:p>
          <a:p>
            <a:r>
              <a:t>      "positive_count": 34,</a:t>
            </a:r>
          </a:p>
          <a:p>
            <a:r>
              <a:t>      "positive_rate": 0.027800490596892886,</a:t>
            </a:r>
          </a:p>
          <a:p>
            <a:r>
              <a:t>      "precision": 0.0,</a:t>
            </a:r>
          </a:p>
          <a:p>
            <a:r>
              <a:t>      "recall": 0.0,</a:t>
            </a:r>
          </a:p>
          <a:p>
            <a:r>
              <a:t>      "roc_auc": 0.7569880769801612,</a:t>
            </a:r>
          </a:p>
          <a:p>
            <a:r>
              <a:t>      "row_count": 1223,</a:t>
            </a:r>
          </a:p>
          <a:p>
            <a:r>
              <a:t>      "threshold": 0.5</a:t>
            </a:r>
          </a:p>
          <a:p>
            <a:r>
              <a:t>    },</a:t>
            </a:r>
          </a:p>
          <a:p>
            <a:r>
              <a:t>    "baseline_identity": {</a:t>
            </a:r>
          </a:p>
          <a:p>
            <a:r>
              <a:t>      "model": "RF",</a:t>
            </a:r>
          </a:p>
          <a:p>
            <a:r>
              <a:t>      "variant": "baseline"</a:t>
            </a:r>
          </a:p>
          <a:p>
            <a:r>
              <a:t>    },</a:t>
            </a:r>
          </a:p>
          <a:p>
            <a:r>
              <a:t>    "checkpoint_files": {</a:t>
            </a:r>
          </a:p>
          <a:p>
            <a:r>
              <a:t>      "README.md": "69afe87896af4a2e768a2909074c7449edeabd1a9a2dfb30551c5c00137bf099",</a:t>
            </a:r>
          </a:p>
          <a:p>
            <a:r>
              <a:t>      "adapter/README.md": "2b259ec9b5799fd1e7da6813a1a008293163ac0d5b6be0eb53454a512e57e06a",</a:t>
            </a:r>
          </a:p>
          <a:p>
            <a:r>
              <a:t>      "adapter/adapter_config.json": "99fa5eb9f7d31210f53d3d34e75da168eb5316200f9fd08f3c0967ecdad46276",</a:t>
            </a:r>
          </a:p>
          <a:p>
            <a:r>
              <a:t>      "adapter/adapter_model.safetensors": "3a07633bca7f88ad343b99ed3227b6345f72d1fc09750c24a52ea23e64bf7ef9",</a:t>
            </a:r>
          </a:p>
          <a:p>
            <a:r>
              <a:t>      "head.safetensors": "d64b2ae4b6ce0b8bfdd3cf07f5f54433a4e64c32960f5e1b6353a7d46d263b8a",</a:t>
            </a:r>
          </a:p>
          <a:p>
            <a:r>
              <a:t>      "inference.json": "921f23cb463ad7aaf5efe946267b92028228f2054e652704b439d48bb80833c5"</a:t>
            </a:r>
          </a:p>
          <a:p>
            <a:r>
              <a:t>    },</a:t>
            </a:r>
          </a:p>
          <a:p>
            <a:r>
              <a:t>    "constant_score": {</a:t>
            </a:r>
          </a:p>
          <a:p>
            <a:r>
              <a:t>      "accuracy": 0.027800490596892886,</a:t>
            </a:r>
          </a:p>
          <a:p>
            <a:r>
              <a:t>      "auc_prc": 0.5139002452984465,</a:t>
            </a:r>
          </a:p>
          <a:p>
            <a:r>
              <a:t>      "average_precision": 0.027800490596892886,</a:t>
            </a:r>
          </a:p>
          <a:p>
            <a:r>
              <a:t>      "balanced_accuracy": 0.5,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1189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0,</a:t>
            </a:r>
          </a:p>
          <a:p>
            <a:r>
              <a:t>          34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0.05409705648369133,</a:t>
            </a:r>
          </a:p>
          <a:p>
            <a:r>
              <a:t>      "positive_count": 34,</a:t>
            </a:r>
          </a:p>
          <a:p>
            <a:r>
              <a:t>      "positive_rate": 0.027800490596892886,</a:t>
            </a:r>
          </a:p>
          <a:p>
            <a:r>
              <a:t>      "precision": 0.027800490596892886,</a:t>
            </a:r>
          </a:p>
          <a:p>
            <a:r>
              <a:t>      "recall": 1.0,</a:t>
            </a:r>
          </a:p>
          <a:p>
            <a:r>
              <a:t>      "roc_auc": 0.5,</a:t>
            </a:r>
          </a:p>
          <a:p>
            <a:r>
              <a:t>      "row_count": 1223,</a:t>
            </a:r>
          </a:p>
          <a:p>
            <a:r>
              <a:t>      "threshold": 0.5</a:t>
            </a:r>
          </a:p>
          <a:p>
            <a:r>
              <a:t>    },</a:t>
            </a:r>
          </a:p>
          <a:p>
            <a:r>
              <a:t>    "gates": {</a:t>
            </a:r>
          </a:p>
          <a:p>
            <a:r>
              <a:t>      "ap_above_baseline": true,</a:t>
            </a:r>
          </a:p>
          <a:p>
            <a:r>
              <a:t>      "ap_above_prevalence": true,</a:t>
            </a:r>
          </a:p>
          <a:p>
            <a:r>
              <a:t>      "auc_prc_above_half": false,</a:t>
            </a:r>
          </a:p>
          <a:p>
            <a:r>
              <a:t>      "passed": false,</a:t>
            </a:r>
          </a:p>
          <a:p>
            <a:r>
              <a:t>      "roc_above_half": true,</a:t>
            </a:r>
          </a:p>
          <a:p>
            <a:r>
              <a:t>      "valid": true</a:t>
            </a:r>
          </a:p>
          <a:p>
            <a:r>
              <a:t>    },</a:t>
            </a:r>
          </a:p>
          <a:p>
            <a:r>
              <a:t>    "level": 20,</a:t>
            </a:r>
          </a:p>
          <a:p>
            <a:r>
              <a:t>    "model": "qwen_embedding",</a:t>
            </a:r>
          </a:p>
          <a:p>
            <a:r>
              <a:t>    "project": "Qt",</a:t>
            </a:r>
          </a:p>
          <a:p>
            <a:r>
              <a:t>    "selection_sha256": "57032c0a335d4ea84dc0c311080d3259aa48bdc52728fedaaca9efb6ed34f88e",</a:t>
            </a:r>
          </a:p>
          <a:p>
            <a:r>
              <a:t>    "stage": "final-test",</a:t>
            </a:r>
          </a:p>
          <a:p>
            <a:r>
              <a:t>    "test": {</a:t>
            </a:r>
          </a:p>
          <a:p>
            <a:r>
              <a:t>      "accuracy": 0.9623875715453802,</a:t>
            </a:r>
          </a:p>
          <a:p>
            <a:r>
              <a:t>      "auc_prc": 0.20343140868236115,</a:t>
            </a:r>
          </a:p>
          <a:p>
            <a:r>
              <a:t>      "average_precision": 0.21307799575442551,</a:t>
            </a:r>
          </a:p>
          <a:p>
            <a:r>
              <a:t>      "balanced_accuracy": 0.5949512689853065,</a:t>
            </a:r>
          </a:p>
          <a:p>
            <a:r>
              <a:t>      "confusion_matrix": [</a:t>
            </a:r>
          </a:p>
          <a:p>
            <a:r>
              <a:t>        [</a:t>
            </a:r>
          </a:p>
          <a:p>
            <a:r>
              <a:t>          1170,</a:t>
            </a:r>
          </a:p>
          <a:p>
            <a:r>
              <a:t>          19</a:t>
            </a:r>
          </a:p>
          <a:p>
            <a:r>
              <a:t>        ],</a:t>
            </a:r>
          </a:p>
          <a:p>
            <a:r>
              <a:t>        [</a:t>
            </a:r>
          </a:p>
          <a:p>
            <a:r>
              <a:t>          27,</a:t>
            </a:r>
          </a:p>
          <a:p>
            <a:r>
              <a:t>          7</a:t>
            </a:r>
          </a:p>
          <a:p>
            <a:r>
              <a:t>        ]</a:t>
            </a:r>
          </a:p>
          <a:p>
            <a:r>
              <a:t>      ],</a:t>
            </a:r>
          </a:p>
          <a:p>
            <a:r>
              <a:t>      "f1": 0.23333333333333334,</a:t>
            </a:r>
          </a:p>
          <a:p>
            <a:r>
              <a:t>      "positive_count": 34,</a:t>
            </a:r>
          </a:p>
          <a:p>
            <a:r>
              <a:t>      "positive_rate": 0.027800490596892886,</a:t>
            </a:r>
          </a:p>
          <a:p>
            <a:r>
              <a:t>      "precision": 0.2692307692307692,</a:t>
            </a:r>
          </a:p>
          <a:p>
            <a:r>
              <a:t>      "recall": 0.20588235294117646,</a:t>
            </a:r>
          </a:p>
          <a:p>
            <a:r>
              <a:t>      "roc_auc": 0.8108766635333696,</a:t>
            </a:r>
          </a:p>
          <a:p>
            <a:r>
              <a:t>      "row_count": 1223,</a:t>
            </a:r>
          </a:p>
          <a:p>
            <a:r>
              <a:t>      "threshold": 0.05</a:t>
            </a:r>
          </a:p>
          <a:p>
            <a:r>
              <a:t>    },</a:t>
            </a:r>
          </a:p>
          <a:p>
            <a:r>
              <a:t>    "test_predictions_sha256": "6fb1c96a7b6c0a8ee54795fb8e8451ff6dbbd2c40d9aa194e52e28270d5b5ea5",</a:t>
            </a:r>
          </a:p>
          <a:p>
            <a:r>
              <a:t>    "uncertainty": {</a:t>
            </a:r>
          </a:p>
          <a:p>
            <a:r>
              <a:t>      "difference_95": {</a:t>
            </a:r>
          </a:p>
          <a:p>
            <a:r>
              <a:t>        "auc_prc": [</a:t>
            </a:r>
          </a:p>
          <a:p>
            <a:r>
              <a:t>          -0.03229706144156444,</a:t>
            </a:r>
          </a:p>
          <a:p>
            <a:r>
              <a:t>          0.21820436267983156</a:t>
            </a:r>
          </a:p>
          <a:p>
            <a:r>
              <a:t>        ],</a:t>
            </a:r>
          </a:p>
          <a:p>
            <a:r>
              <a:t>        "average_precision": [</a:t>
            </a:r>
          </a:p>
          <a:p>
            <a:r>
              <a:t>          -0.01578919761536573,</a:t>
            </a:r>
          </a:p>
          <a:p>
            <a:r>
              <a:t>          0.21832110232939533</a:t>
            </a:r>
          </a:p>
          <a:p>
            <a:r>
              <a:t>        ],</a:t>
            </a:r>
          </a:p>
          <a:p>
            <a:r>
              <a:t>        "roc_auc": [</a:t>
            </a:r>
          </a:p>
          <a:p>
            <a:r>
              <a:t>          -0.019927678781118868,</a:t>
            </a:r>
          </a:p>
          <a:p>
            <a:r>
              <a:t>          0.1305106716763629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"method": "paired issue bootstrap; does not model temporal dependence",</a:t>
            </a:r>
          </a:p>
          <a:p>
            <a:r>
              <a:t>      "metrics_95": {</a:t>
            </a:r>
          </a:p>
          <a:p>
            <a:r>
              <a:t>        "auc_prc": [</a:t>
            </a:r>
          </a:p>
          <a:p>
            <a:r>
              <a:t>          0.09135266947913215,</a:t>
            </a:r>
          </a:p>
          <a:p>
            <a:r>
              <a:t>          0.35906804358779243</a:t>
            </a:r>
          </a:p>
          <a:p>
            <a:r>
              <a:t>        ],</a:t>
            </a:r>
          </a:p>
          <a:p>
            <a:r>
              <a:t>        "average_precision": [</a:t>
            </a:r>
          </a:p>
          <a:p>
            <a:r>
              <a:t>          0.10743211383531043,</a:t>
            </a:r>
          </a:p>
          <a:p>
            <a:r>
              <a:t>          0.3692913565671386</a:t>
            </a:r>
          </a:p>
          <a:p>
            <a:r>
              <a:t>        ],</a:t>
            </a:r>
          </a:p>
          <a:p>
            <a:r>
              <a:t>        "roc_auc": [</a:t>
            </a:r>
          </a:p>
          <a:p>
            <a:r>
              <a:t>          0.7466386085351149,</a:t>
            </a:r>
          </a:p>
          <a:p>
            <a:r>
              <a:t>          0.8736110415940732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"requested_samples": 2000,</a:t>
            </a:r>
          </a:p>
          <a:p>
            <a:r>
              <a:t>      "valid_samples": 2000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Study: hf-20261008-modernbert-qwen. Report received October 19, 2026. Report SHA256: 7698fe31e652cc8d24fb2cc8ff8a443c2c1ec04ac3786cd9bf3dc0e6f4ec006a. Study SHA256: 111d8a78875a8263475514691b581904a9164855d91603ac7dc4e32f838a5095. Source: data/hf-20261008-report.json; counts from the frozen reference_contract.json. Reported metrics are not independently recomputed from raw predictions. Matched classical comparator selected by validation AUC-PRC in historical PR #357. Labels: &gt;= K changed words AND at least one summary/description/acceptance change. Test metrics are unweighted. Scores are retrospective; public-Jira pretraining contamination is possible. Paired issue bootstrap does not model temporal dependence.</a:t>
            </a:r>
          </a:p>
          <a:p>
            <a:r>
              <a:t>Negative AP-gain intervals: Apache 5/10/20 and IntelDAOS 10/15. Selection counts are not a paired test comparison of all model families. Qt 20: AP .2131 vs .1252 baseline, ROC .8109; AP-gain CI [-.0158,.2183]. Validation-chosen thresholds yield test F1=0 for Apache 15/20 and IntelDAOS 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Study: hf-20261008-modernbert-qwen. Report received October 19, 2026. Report SHA256: 7698fe31e652cc8d24fb2cc8ff8a443c2c1ec04ac3786cd9bf3dc0e6f4ec006a. Study SHA256: 111d8a78875a8263475514691b581904a9164855d91603ac7dc4e32f838a5095. Source: data/hf-20261008-report.json; counts from the frozen reference_contract.json. Reported metrics are not independently recomputed from raw predictions. Matched classical comparator selected by validation AUC-PRC in historical PR #357. Labels: &gt;= K changed words AND at least one summary/description/acceptance change. Test metrics are unweighted. Scores are retrospective; public-Jira pretraining contamination is possible. Paired issue bootstrap does not model temporal dependence.</a:t>
            </a:r>
          </a:p>
          <a:p>
            <a:r>
              <a:t>New sprint deck; September 24 presentation was not modified.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Study: hf-20261008-modernbert-qwen. Report received October 19, 2026. Report SHA256: 7698fe31e652cc8d24fb2cc8ff8a443c2c1ec04ac3786cd9bf3dc0e6f4ec006a. Study SHA256: 111d8a78875a8263475514691b581904a9164855d91603ac7dc4e32f838a5095. Source: data/hf-20261008-report.json; counts from the frozen reference_contract.json. Reported metrics are not independently recomputed from raw predictions. Matched classical comparator selected by validation AUC-PRC in historical PR #357. Labels: &gt;= K changed words AND at least one summary/description/acceptance change. Test metrics are unweighted. Scores are retrospective; public-Jira pretraining contamination is possible. Paired issue bootstrap does not model temporal dependence.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Study: hf-20261008-modernbert-qwen. Report received October 19, 2026. Report SHA256: 7698fe31e652cc8d24fb2cc8ff8a443c2c1ec04ac3786cd9bf3dc0e6f4ec006a. Study SHA256: 111d8a78875a8263475514691b581904a9164855d91603ac7dc4e32f838a5095. Source: data/hf-20261008-report.json; counts from the frozen reference_contract.json. Reported metrics are not independently recomputed from raw predictions. Matched classical comparator selected by validation AUC-PRC in historical PR #357. Labels: &gt;= K changed words AND at least one summary/description/acceptance change. Test metrics are unweighted. Scores are retrospective; public-Jira pretraining contamination is possible. Paired issue bootstrap does not model temporal dependence.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Study: hf-20261008-modernbert-qwen. Report received October 19, 2026. Report SHA256: 7698fe31e652cc8d24fb2cc8ff8a443c2c1ec04ac3786cd9bf3dc0e6f4ec006a. Study SHA256: 111d8a78875a8263475514691b581904a9164855d91603ac7dc4e32f838a5095. Source: data/hf-20261008-report.json; counts from the frozen reference_contract.json. Reported metrics are not independently recomputed from raw predictions. Matched classical comparator selected by validation AUC-PRC in historical PR #357. Labels: &gt;= K changed words AND at least one summary/description/acceptance change. Test metrics are unweighted. Scores are retrospective; public-Jira pretraining contamination is possible. Paired issue bootstrap does not model temporal dependence.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Study: hf-20261008-modernbert-qwen. Report received October 19, 2026. Report SHA256: 7698fe31e652cc8d24fb2cc8ff8a443c2c1ec04ac3786cd9bf3dc0e6f4ec006a. Study SHA256: 111d8a78875a8263475514691b581904a9164855d91603ac7dc4e32f838a5095. Source: data/hf-20261008-report.json; counts from the frozen reference_contract.json. Reported metrics are not independently recomputed from raw predictions. Matched classical comparator selected by validation AUC-PRC in historical PR #357. Labels: &gt;= K changed words AND at least one summary/description/acceptance change. Test metrics are unweighted. Scores are retrospective; public-Jira pretraining contamination is possible. Paired issue bootstrap does not model temporal dependence.</a:t>
            </a:r>
          </a:p>
          <a:p>
            <a:r>
              <a:t>The next-model list is a plan, not a claim of jobs submitted. Jev means the separately implemented local community DeBERTa native-head benchmark, not the official TypeSafe API. No API data export or publication is approved.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Code-smell preparation, NOT HF instability metrics. Reported cluster evidence as of October 24, 2026.</a:t>
            </a:r>
          </a:p>
          <a:p>
            <a:r>
              <a:t>Report: Tasks/sprint-data-analysis-summary/data/code-smells-002-retention.json; SHA256: 1412eb753eb90a0f0be608948a510828085489ef6de3be10271cf56913dba32a</a:t>
            </a:r>
          </a:p>
          <a:p>
            <a:r>
              <a:t>Cluster artifacts: status/freeze-SOURCE.json; raw/SOURCE/manifest.json; features/SOURCE/filter_decisions.json and features.csv; splits/SOURCE.json.</a:t>
            </a:r>
          </a:p>
          <a:p>
            <a:r>
              <a:t>Rules: runtime/prepare.py freeze/reconstruct_metadata and jira_pipeline/preprocessing.py preprocess_record/first_sprint_entry, as used by preparation PR #377.</a:t>
            </a:r>
          </a:p>
          <a:p>
            <a:r>
              <a:t>Sprint entry is the earliest usable sprint-field start or nonempty Sprint-history change at/after issue creation. Comments require a valid timestamp &lt;= that entry. A failed reconstruction is not proof that a story has no real sprint or metadata.</a:t>
            </a:r>
          </a:p>
          <a:p>
            <a:r>
              <a:t>{</a:t>
            </a:r>
          </a:p>
          <a:p>
            <a:r>
              <a:t>  "schema": "code-smell-retention-summary-v1",</a:t>
            </a:r>
          </a:p>
          <a:p>
            <a:r>
              <a:t>  "run_id": "code-smells-002",</a:t>
            </a:r>
          </a:p>
          <a:p>
            <a:r>
              <a:t>  "recorded_on": "2026-10-24",</a:t>
            </a:r>
          </a:p>
          <a:p>
            <a:r>
              <a:t>  "evidence_origin": "User-supplied cluster output from freeze status files, split manifests, raw manifests and filter_decisions.json. Counts are transcribed, not independently recomputed from raw Jira records on this Mac.",</a:t>
            </a:r>
          </a:p>
          <a:p>
            <a:r>
              <a:t>  "base_presentation_sha256": "79212043e95e79662eacd79f8971bd7ff2681107b1f000515fa3719894fb9351",</a:t>
            </a:r>
          </a:p>
          <a:p>
            <a:r>
              <a:t>  "preparation_pr": 377,</a:t>
            </a:r>
          </a:p>
          <a:p>
            <a:r>
              <a:t>  "preparation_merge_commit": "e5daaf1773672f1dc7e914ca0afe724fd684fbd8",</a:t>
            </a:r>
          </a:p>
          <a:p>
            <a:r>
              <a:t>  "original_candidate_file_rows": 68358,</a:t>
            </a:r>
          </a:p>
          <a:p>
            <a:r>
              <a:t>  "source_selection_exclusions": 114,</a:t>
            </a:r>
          </a:p>
          <a:p>
            <a:r>
              <a:t>  "source_selection_rule": "Exclude sources with fewer than 100 original candidates: Qt 86, JiraEcosystem 23, Jira 3, Sakai 2.",</a:t>
            </a:r>
          </a:p>
          <a:p>
            <a:r>
              <a:t>  "candidate_file_sha256": "a96d260478dfe2c6eb78ce8c47bac74707039c05853e90e0c8e2775d103d0aab",</a:t>
            </a:r>
          </a:p>
          <a:p>
            <a:r>
              <a:t>  "checks_reported": {</a:t>
            </a:r>
          </a:p>
          <a:p>
            <a:r>
              <a:t>    "all_four_freeze_stages_succeeded": true,</a:t>
            </a:r>
          </a:p>
          <a:p>
            <a:r>
              <a:t>    "all_feature_file_hashes_match_split_manifests": true,</a:t>
            </a:r>
          </a:p>
          <a:p>
            <a:r>
              <a:t>    "apache_features_and_split_match_original_run_byte_for_byte": true</a:t>
            </a:r>
          </a:p>
          <a:p>
            <a:r>
              <a:t>  },</a:t>
            </a:r>
          </a:p>
          <a:p>
            <a:r>
              <a:t>  "filter_interpretation": {</a:t>
            </a:r>
          </a:p>
          <a:p>
            <a:r>
              <a:t>    "jira_unavailable": "Explicitly approved collection exclusions, before preprocessing. MongoDB: one issue returned 401. RedHat: 324 returned 404 (not found or not visible, not proof of deletion).",</a:t>
            </a:r>
          </a:p>
          <a:p>
            <a:r>
              <a:t>    "no_sprint_entry": "No usable sprint-entry timestamp could be derived from sprint fields/change history on or after issue creation.",</a:t>
            </a:r>
          </a:p>
          <a:p>
            <a:r>
              <a:t>    "no_comment_before_sprint": "No comment with a valid timestamp on or before the derived sprint-entry time. Includes no comments and comments only after entry. This is a retained study eligibility rule, not an inherent requirement for code-smell prediction.",</a:t>
            </a:r>
          </a:p>
          <a:p>
            <a:r>
              <a:t>    "unreconstructable_pre_sprint_metadata": "The preparation step could not reconstruct required pre-sprint metadata from the available history.",</a:t>
            </a:r>
          </a:p>
          <a:p>
            <a:r>
              <a:t>    "accepted": "Passed Jira preprocessing and pre-sprint reconstruction. These rows have frozen features and split membership, not yet verified code-smell labels."</a:t>
            </a:r>
          </a:p>
          <a:p>
            <a:r>
              <a:t>  },</a:t>
            </a:r>
          </a:p>
          <a:p>
            <a:r>
              <a:t>  "counting_rule": "One decision per selected candidate. The first failed gate is recorded; counts are mutually exclusive, not the total number of all conditions each issue violates.",</a:t>
            </a:r>
          </a:p>
          <a:p>
            <a:r>
              <a:t>  "reviewed_uncontrolled_projects": [</a:t>
            </a:r>
          </a:p>
          <a:p>
            <a:r>
              <a:t>    "BUILD",</a:t>
            </a:r>
          </a:p>
          <a:p>
            <a:r>
              <a:t>    "OCMUI",</a:t>
            </a:r>
          </a:p>
          <a:p>
            <a:r>
              <a:t>    "RHDM"</a:t>
            </a:r>
          </a:p>
          <a:p>
            <a:r>
              <a:t>  ],</a:t>
            </a:r>
          </a:p>
          <a:p>
            <a:r>
              <a:t>  "sources": {</a:t>
            </a:r>
          </a:p>
          <a:p>
            <a:r>
              <a:t>    "Apache": {</a:t>
            </a:r>
          </a:p>
          <a:p>
            <a:r>
              <a:t>      "candidates": 3289,</a:t>
            </a:r>
          </a:p>
          <a:p>
            <a:r>
              <a:t>      "available": 3289,</a:t>
            </a:r>
          </a:p>
          <a:p>
            <a:r>
              <a:t>      "feature_rows": 758,</a:t>
            </a:r>
          </a:p>
          <a:p>
            <a:r>
              <a:t>      "filter_decisions": {</a:t>
            </a:r>
          </a:p>
          <a:p>
            <a:r>
              <a:t>        "accepted": 758,</a:t>
            </a:r>
          </a:p>
          <a:p>
            <a:r>
              <a:t>        "no_comment_before_sprint": 1441,</a:t>
            </a:r>
          </a:p>
          <a:p>
            <a:r>
              <a:t>        "no_sprint_entry": 1090</a:t>
            </a:r>
          </a:p>
          <a:p>
            <a:r>
              <a:t>      },</a:t>
            </a:r>
          </a:p>
          <a:p>
            <a:r>
              <a:t>      "splits": {</a:t>
            </a:r>
          </a:p>
          <a:p>
            <a:r>
              <a:t>        "train": 454,</a:t>
            </a:r>
          </a:p>
          <a:p>
            <a:r>
              <a:t>        "validation": 151,</a:t>
            </a:r>
          </a:p>
          <a:p>
            <a:r>
              <a:t>        "test": 153</a:t>
            </a:r>
          </a:p>
          <a:p>
            <a:r>
              <a:t>      },</a:t>
            </a:r>
          </a:p>
          <a:p>
            <a:r>
              <a:t>      "freeze_finished": "2026-10-24T17:40:26.397188+00:00"</a:t>
            </a:r>
          </a:p>
          <a:p>
            <a:r>
              <a:t>    },</a:t>
            </a:r>
          </a:p>
          <a:p>
            <a:r>
              <a:t>    "IntelDAOS": {</a:t>
            </a:r>
          </a:p>
          <a:p>
            <a:r>
              <a:t>      "candidates": 866,</a:t>
            </a:r>
          </a:p>
          <a:p>
            <a:r>
              <a:t>      "available": 866,</a:t>
            </a:r>
          </a:p>
          <a:p>
            <a:r>
              <a:t>      "feature_rows": 235,</a:t>
            </a:r>
          </a:p>
          <a:p>
            <a:r>
              <a:t>      "filter_decisions": {</a:t>
            </a:r>
          </a:p>
          <a:p>
            <a:r>
              <a:t>        "accepted": 235,</a:t>
            </a:r>
          </a:p>
          <a:p>
            <a:r>
              <a:t>        "no_comment_before_sprint": 575,</a:t>
            </a:r>
          </a:p>
          <a:p>
            <a:r>
              <a:t>        "no_sprint_entry": 56</a:t>
            </a:r>
          </a:p>
          <a:p>
            <a:r>
              <a:t>      },</a:t>
            </a:r>
          </a:p>
          <a:p>
            <a:r>
              <a:t>      "splits": {</a:t>
            </a:r>
          </a:p>
          <a:p>
            <a:r>
              <a:t>        "train": 141,</a:t>
            </a:r>
          </a:p>
          <a:p>
            <a:r>
              <a:t>        "validation": 47,</a:t>
            </a:r>
          </a:p>
          <a:p>
            <a:r>
              <a:t>        "test": 47</a:t>
            </a:r>
          </a:p>
          <a:p>
            <a:r>
              <a:t>      },</a:t>
            </a:r>
          </a:p>
          <a:p>
            <a:r>
              <a:t>      "freeze_finished": "2026-10-24T17:39:14.311540+00:00"</a:t>
            </a:r>
          </a:p>
          <a:p>
            <a:r>
              <a:t>    },</a:t>
            </a:r>
          </a:p>
          <a:p>
            <a:r>
              <a:t>    "MongoDB": {</a:t>
            </a:r>
          </a:p>
          <a:p>
            <a:r>
              <a:t>      "candidates": 39169,</a:t>
            </a:r>
          </a:p>
          <a:p>
            <a:r>
              <a:t>      "available": 39168,</a:t>
            </a:r>
          </a:p>
          <a:p>
            <a:r>
              <a:t>      "feature_rows": 5088,</a:t>
            </a:r>
          </a:p>
          <a:p>
            <a:r>
              <a:t>      "filter_decisions": {</a:t>
            </a:r>
          </a:p>
          <a:p>
            <a:r>
              <a:t>        "accepted": 5088,</a:t>
            </a:r>
          </a:p>
          <a:p>
            <a:r>
              <a:t>        "no_comment_before_sprint": 29104,</a:t>
            </a:r>
          </a:p>
          <a:p>
            <a:r>
              <a:t>        "unreconstructable_pre_sprint_metadata": 12,</a:t>
            </a:r>
          </a:p>
          <a:p>
            <a:r>
              <a:t>        "no_sprint_entry": 4964,</a:t>
            </a:r>
          </a:p>
          <a:p>
            <a:r>
              <a:t>        "jira_unavailable": 1</a:t>
            </a:r>
          </a:p>
          <a:p>
            <a:r>
              <a:t>      },</a:t>
            </a:r>
          </a:p>
          <a:p>
            <a:r>
              <a:t>      "splits": {</a:t>
            </a:r>
          </a:p>
          <a:p>
            <a:r>
              <a:t>        "train": 3052,</a:t>
            </a:r>
          </a:p>
          <a:p>
            <a:r>
              <a:t>        "validation": 1017,</a:t>
            </a:r>
          </a:p>
          <a:p>
            <a:r>
              <a:t>        "test": 1019</a:t>
            </a:r>
          </a:p>
          <a:p>
            <a:r>
              <a:t>      },</a:t>
            </a:r>
          </a:p>
          <a:p>
            <a:r>
              <a:t>      "freeze_finished": "2026-10-24T17:53:41.470662+00:00"</a:t>
            </a:r>
          </a:p>
          <a:p>
            <a:r>
              <a:t>    },</a:t>
            </a:r>
          </a:p>
          <a:p>
            <a:r>
              <a:t>    "RedHat": {</a:t>
            </a:r>
          </a:p>
          <a:p>
            <a:r>
              <a:t>      "candidates": 24920,</a:t>
            </a:r>
          </a:p>
          <a:p>
            <a:r>
              <a:t>      "available": 24596,</a:t>
            </a:r>
          </a:p>
          <a:p>
            <a:r>
              <a:t>      "feature_rows": 6905,</a:t>
            </a:r>
          </a:p>
          <a:p>
            <a:r>
              <a:t>      "filter_decisions": {</a:t>
            </a:r>
          </a:p>
          <a:p>
            <a:r>
              <a:t>        "accepted": 6905,</a:t>
            </a:r>
          </a:p>
          <a:p>
            <a:r>
              <a:t>        "no_comment_before_sprint": 15984,</a:t>
            </a:r>
          </a:p>
          <a:p>
            <a:r>
              <a:t>        "no_sprint_entry": 1694,</a:t>
            </a:r>
          </a:p>
          <a:p>
            <a:r>
              <a:t>        "jira_unavailable": 324,</a:t>
            </a:r>
          </a:p>
          <a:p>
            <a:r>
              <a:t>        "unreconstructable_pre_sprint_metadata": 13</a:t>
            </a:r>
          </a:p>
          <a:p>
            <a:r>
              <a:t>      },</a:t>
            </a:r>
          </a:p>
          <a:p>
            <a:r>
              <a:t>      "splits": {</a:t>
            </a:r>
          </a:p>
          <a:p>
            <a:r>
              <a:t>        "train": 4143,</a:t>
            </a:r>
          </a:p>
          <a:p>
            <a:r>
              <a:t>        "validation": 1381,</a:t>
            </a:r>
          </a:p>
          <a:p>
            <a:r>
              <a:t>        "test": 1381</a:t>
            </a:r>
          </a:p>
          <a:p>
            <a:r>
              <a:t>      },</a:t>
            </a:r>
          </a:p>
          <a:p>
            <a:r>
              <a:t>      "freeze_finished": "2026-10-24T17:52:39.554651+00:00"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"totals": {</a:t>
            </a:r>
          </a:p>
          <a:p>
            <a:r>
              <a:t>    "candidates": 68244,</a:t>
            </a:r>
          </a:p>
          <a:p>
            <a:r>
              <a:t>    "jira_unavailable": 325,</a:t>
            </a:r>
          </a:p>
          <a:p>
            <a:r>
              <a:t>    "available": 67919,</a:t>
            </a:r>
          </a:p>
          <a:p>
            <a:r>
              <a:t>    "no_sprint_entry": 7804,</a:t>
            </a:r>
          </a:p>
          <a:p>
            <a:r>
              <a:t>    "no_comment_before_sprint": 47104,</a:t>
            </a:r>
          </a:p>
          <a:p>
            <a:r>
              <a:t>    "unreconstructable_pre_sprint_metadata": 25,</a:t>
            </a:r>
          </a:p>
          <a:p>
            <a:r>
              <a:t>    "preprocessing_exclusions": 54933,</a:t>
            </a:r>
          </a:p>
          <a:p>
            <a:r>
              <a:t>    "feature_rows": 12986,</a:t>
            </a:r>
          </a:p>
          <a:p>
            <a:r>
              <a:t>    "train": 7790,</a:t>
            </a:r>
          </a:p>
          <a:p>
            <a:r>
              <a:t>    "validation": 2596,</a:t>
            </a:r>
          </a:p>
          <a:p>
            <a:r>
              <a:t>    "test": 2600</a:t>
            </a:r>
          </a:p>
          <a:p>
            <a:r>
              <a:t>  },</a:t>
            </a:r>
          </a:p>
          <a:p>
            <a:r>
              <a:t>  "remaining_work": "Fetch linked code, establish complete supported detector coverage, generate labels, then determine final model eligibility. No real code-smell model results or class balance are available yet."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Code-smell preparation, NOT HF instability metrics. Reported cluster evidence as of October 24, 2026.</a:t>
            </a:r>
          </a:p>
          <a:p>
            <a:r>
              <a:t>Report: Tasks/sprint-data-analysis-summary/data/code-smells-002-retention.json; SHA256: 1412eb753eb90a0f0be608948a510828085489ef6de3be10271cf56913dba32a</a:t>
            </a:r>
          </a:p>
          <a:p>
            <a:r>
              <a:t>Cluster artifacts: status/freeze-SOURCE.json; raw/SOURCE/manifest.json; features/SOURCE/filter_decisions.json and features.csv; splits/SOURCE.json.</a:t>
            </a:r>
          </a:p>
          <a:p>
            <a:r>
              <a:t>Rules: runtime/prepare.py freeze/reconstruct_metadata and jira_pipeline/preprocessing.py preprocess_record/first_sprint_entry, as used by preparation PR #377.</a:t>
            </a:r>
          </a:p>
          <a:p>
            <a:r>
              <a:t>Sprint entry is the earliest usable sprint-field start or nonempty Sprint-history change at/after issue creation. Comments require a valid timestamp &lt;= that entry. A failed reconstruction is not proof that a story has no real sprint or metadata.</a:t>
            </a:r>
          </a:p>
          <a:p>
            <a:r>
              <a:t>{</a:t>
            </a:r>
          </a:p>
          <a:p>
            <a:r>
              <a:t>  "schema": "code-smell-retention-summary-v1",</a:t>
            </a:r>
          </a:p>
          <a:p>
            <a:r>
              <a:t>  "run_id": "code-smells-002",</a:t>
            </a:r>
          </a:p>
          <a:p>
            <a:r>
              <a:t>  "recorded_on": "2026-10-24",</a:t>
            </a:r>
          </a:p>
          <a:p>
            <a:r>
              <a:t>  "evidence_origin": "User-supplied cluster output from freeze status files, split manifests, raw manifests and filter_decisions.json. Counts are transcribed, not independently recomputed from raw Jira records on this Mac.",</a:t>
            </a:r>
          </a:p>
          <a:p>
            <a:r>
              <a:t>  "base_presentation_sha256": "79212043e95e79662eacd79f8971bd7ff2681107b1f000515fa3719894fb9351",</a:t>
            </a:r>
          </a:p>
          <a:p>
            <a:r>
              <a:t>  "preparation_pr": 377,</a:t>
            </a:r>
          </a:p>
          <a:p>
            <a:r>
              <a:t>  "preparation_merge_commit": "e5daaf1773672f1dc7e914ca0afe724fd684fbd8",</a:t>
            </a:r>
          </a:p>
          <a:p>
            <a:r>
              <a:t>  "original_candidate_file_rows": 68358,</a:t>
            </a:r>
          </a:p>
          <a:p>
            <a:r>
              <a:t>  "source_selection_exclusions": 114,</a:t>
            </a:r>
          </a:p>
          <a:p>
            <a:r>
              <a:t>  "source_selection_rule": "Exclude sources with fewer than 100 original candidates: Qt 86, JiraEcosystem 23, Jira 3, Sakai 2.",</a:t>
            </a:r>
          </a:p>
          <a:p>
            <a:r>
              <a:t>  "candidate_file_sha256": "a96d260478dfe2c6eb78ce8c47bac74707039c05853e90e0c8e2775d103d0aab",</a:t>
            </a:r>
          </a:p>
          <a:p>
            <a:r>
              <a:t>  "checks_reported": {</a:t>
            </a:r>
          </a:p>
          <a:p>
            <a:r>
              <a:t>    "all_four_freeze_stages_succeeded": true,</a:t>
            </a:r>
          </a:p>
          <a:p>
            <a:r>
              <a:t>    "all_feature_file_hashes_match_split_manifests": true,</a:t>
            </a:r>
          </a:p>
          <a:p>
            <a:r>
              <a:t>    "apache_features_and_split_match_original_run_byte_for_byte": true</a:t>
            </a:r>
          </a:p>
          <a:p>
            <a:r>
              <a:t>  },</a:t>
            </a:r>
          </a:p>
          <a:p>
            <a:r>
              <a:t>  "filter_interpretation": {</a:t>
            </a:r>
          </a:p>
          <a:p>
            <a:r>
              <a:t>    "jira_unavailable": "Explicitly approved collection exclusions, before preprocessing. MongoDB: one issue returned 401. RedHat: 324 returned 404 (not found or not visible, not proof of deletion).",</a:t>
            </a:r>
          </a:p>
          <a:p>
            <a:r>
              <a:t>    "no_sprint_entry": "No usable sprint-entry timestamp could be derived from sprint fields/change history on or after issue creation.",</a:t>
            </a:r>
          </a:p>
          <a:p>
            <a:r>
              <a:t>    "no_comment_before_sprint": "No comment with a valid timestamp on or before the derived sprint-entry time. Includes no comments and comments only after entry. This is a retained study eligibility rule, not an inherent requirement for code-smell prediction.",</a:t>
            </a:r>
          </a:p>
          <a:p>
            <a:r>
              <a:t>    "unreconstructable_pre_sprint_metadata": "The preparation step could not reconstruct required pre-sprint metadata from the available history.",</a:t>
            </a:r>
          </a:p>
          <a:p>
            <a:r>
              <a:t>    "accepted": "Passed Jira preprocessing and pre-sprint reconstruction. These rows have frozen features and split membership, not yet verified code-smell labels."</a:t>
            </a:r>
          </a:p>
          <a:p>
            <a:r>
              <a:t>  },</a:t>
            </a:r>
          </a:p>
          <a:p>
            <a:r>
              <a:t>  "counting_rule": "One decision per selected candidate. The first failed gate is recorded; counts are mutually exclusive, not the total number of all conditions each issue violates.",</a:t>
            </a:r>
          </a:p>
          <a:p>
            <a:r>
              <a:t>  "reviewed_uncontrolled_projects": [</a:t>
            </a:r>
          </a:p>
          <a:p>
            <a:r>
              <a:t>    "BUILD",</a:t>
            </a:r>
          </a:p>
          <a:p>
            <a:r>
              <a:t>    "OCMUI",</a:t>
            </a:r>
          </a:p>
          <a:p>
            <a:r>
              <a:t>    "RHDM"</a:t>
            </a:r>
          </a:p>
          <a:p>
            <a:r>
              <a:t>  ],</a:t>
            </a:r>
          </a:p>
          <a:p>
            <a:r>
              <a:t>  "sources": {</a:t>
            </a:r>
          </a:p>
          <a:p>
            <a:r>
              <a:t>    "Apache": {</a:t>
            </a:r>
          </a:p>
          <a:p>
            <a:r>
              <a:t>      "candidates": 3289,</a:t>
            </a:r>
          </a:p>
          <a:p>
            <a:r>
              <a:t>      "available": 3289,</a:t>
            </a:r>
          </a:p>
          <a:p>
            <a:r>
              <a:t>      "feature_rows": 758,</a:t>
            </a:r>
          </a:p>
          <a:p>
            <a:r>
              <a:t>      "filter_decisions": {</a:t>
            </a:r>
          </a:p>
          <a:p>
            <a:r>
              <a:t>        "accepted": 758,</a:t>
            </a:r>
          </a:p>
          <a:p>
            <a:r>
              <a:t>        "no_comment_before_sprint": 1441,</a:t>
            </a:r>
          </a:p>
          <a:p>
            <a:r>
              <a:t>        "no_sprint_entry": 1090</a:t>
            </a:r>
          </a:p>
          <a:p>
            <a:r>
              <a:t>      },</a:t>
            </a:r>
          </a:p>
          <a:p>
            <a:r>
              <a:t>      "splits": {</a:t>
            </a:r>
          </a:p>
          <a:p>
            <a:r>
              <a:t>        "train": 454,</a:t>
            </a:r>
          </a:p>
          <a:p>
            <a:r>
              <a:t>        "validation": 151,</a:t>
            </a:r>
          </a:p>
          <a:p>
            <a:r>
              <a:t>        "test": 153</a:t>
            </a:r>
          </a:p>
          <a:p>
            <a:r>
              <a:t>      },</a:t>
            </a:r>
          </a:p>
          <a:p>
            <a:r>
              <a:t>      "freeze_finished": "2026-10-24T17:40:26.397188+00:00"</a:t>
            </a:r>
          </a:p>
          <a:p>
            <a:r>
              <a:t>    },</a:t>
            </a:r>
          </a:p>
          <a:p>
            <a:r>
              <a:t>    "IntelDAOS": {</a:t>
            </a:r>
          </a:p>
          <a:p>
            <a:r>
              <a:t>      "candidates": 866,</a:t>
            </a:r>
          </a:p>
          <a:p>
            <a:r>
              <a:t>      "available": 866,</a:t>
            </a:r>
          </a:p>
          <a:p>
            <a:r>
              <a:t>      "feature_rows": 235,</a:t>
            </a:r>
          </a:p>
          <a:p>
            <a:r>
              <a:t>      "filter_decisions": {</a:t>
            </a:r>
          </a:p>
          <a:p>
            <a:r>
              <a:t>        "accepted": 235,</a:t>
            </a:r>
          </a:p>
          <a:p>
            <a:r>
              <a:t>        "no_comment_before_sprint": 575,</a:t>
            </a:r>
          </a:p>
          <a:p>
            <a:r>
              <a:t>        "no_sprint_entry": 56</a:t>
            </a:r>
          </a:p>
          <a:p>
            <a:r>
              <a:t>      },</a:t>
            </a:r>
          </a:p>
          <a:p>
            <a:r>
              <a:t>      "splits": {</a:t>
            </a:r>
          </a:p>
          <a:p>
            <a:r>
              <a:t>        "train": 141,</a:t>
            </a:r>
          </a:p>
          <a:p>
            <a:r>
              <a:t>        "validation": 47,</a:t>
            </a:r>
          </a:p>
          <a:p>
            <a:r>
              <a:t>        "test": 47</a:t>
            </a:r>
          </a:p>
          <a:p>
            <a:r>
              <a:t>      },</a:t>
            </a:r>
          </a:p>
          <a:p>
            <a:r>
              <a:t>      "freeze_finished": "2026-10-24T17:39:14.311540+00:00"</a:t>
            </a:r>
          </a:p>
          <a:p>
            <a:r>
              <a:t>    },</a:t>
            </a:r>
          </a:p>
          <a:p>
            <a:r>
              <a:t>    "MongoDB": {</a:t>
            </a:r>
          </a:p>
          <a:p>
            <a:r>
              <a:t>      "candidates": 39169,</a:t>
            </a:r>
          </a:p>
          <a:p>
            <a:r>
              <a:t>      "available": 39168,</a:t>
            </a:r>
          </a:p>
          <a:p>
            <a:r>
              <a:t>      "feature_rows": 5088,</a:t>
            </a:r>
          </a:p>
          <a:p>
            <a:r>
              <a:t>      "filter_decisions": {</a:t>
            </a:r>
          </a:p>
          <a:p>
            <a:r>
              <a:t>        "accepted": 5088,</a:t>
            </a:r>
          </a:p>
          <a:p>
            <a:r>
              <a:t>        "no_comment_before_sprint": 29104,</a:t>
            </a:r>
          </a:p>
          <a:p>
            <a:r>
              <a:t>        "unreconstructable_pre_sprint_metadata": 12,</a:t>
            </a:r>
          </a:p>
          <a:p>
            <a:r>
              <a:t>        "no_sprint_entry": 4964,</a:t>
            </a:r>
          </a:p>
          <a:p>
            <a:r>
              <a:t>        "jira_unavailable": 1</a:t>
            </a:r>
          </a:p>
          <a:p>
            <a:r>
              <a:t>      },</a:t>
            </a:r>
          </a:p>
          <a:p>
            <a:r>
              <a:t>      "splits": {</a:t>
            </a:r>
          </a:p>
          <a:p>
            <a:r>
              <a:t>        "train": 3052,</a:t>
            </a:r>
          </a:p>
          <a:p>
            <a:r>
              <a:t>        "validation": 1017,</a:t>
            </a:r>
          </a:p>
          <a:p>
            <a:r>
              <a:t>        "test": 1019</a:t>
            </a:r>
          </a:p>
          <a:p>
            <a:r>
              <a:t>      },</a:t>
            </a:r>
          </a:p>
          <a:p>
            <a:r>
              <a:t>      "freeze_finished": "2026-10-24T17:53:41.470662+00:00"</a:t>
            </a:r>
          </a:p>
          <a:p>
            <a:r>
              <a:t>    },</a:t>
            </a:r>
          </a:p>
          <a:p>
            <a:r>
              <a:t>    "RedHat": {</a:t>
            </a:r>
          </a:p>
          <a:p>
            <a:r>
              <a:t>      "candidates": 24920,</a:t>
            </a:r>
          </a:p>
          <a:p>
            <a:r>
              <a:t>      "available": 24596,</a:t>
            </a:r>
          </a:p>
          <a:p>
            <a:r>
              <a:t>      "feature_rows": 6905,</a:t>
            </a:r>
          </a:p>
          <a:p>
            <a:r>
              <a:t>      "filter_decisions": {</a:t>
            </a:r>
          </a:p>
          <a:p>
            <a:r>
              <a:t>        "accepted": 6905,</a:t>
            </a:r>
          </a:p>
          <a:p>
            <a:r>
              <a:t>        "no_comment_before_sprint": 15984,</a:t>
            </a:r>
          </a:p>
          <a:p>
            <a:r>
              <a:t>        "no_sprint_entry": 1694,</a:t>
            </a:r>
          </a:p>
          <a:p>
            <a:r>
              <a:t>        "jira_unavailable": 324,</a:t>
            </a:r>
          </a:p>
          <a:p>
            <a:r>
              <a:t>        "unreconstructable_pre_sprint_metadata": 13</a:t>
            </a:r>
          </a:p>
          <a:p>
            <a:r>
              <a:t>      },</a:t>
            </a:r>
          </a:p>
          <a:p>
            <a:r>
              <a:t>      "splits": {</a:t>
            </a:r>
          </a:p>
          <a:p>
            <a:r>
              <a:t>        "train": 4143,</a:t>
            </a:r>
          </a:p>
          <a:p>
            <a:r>
              <a:t>        "validation": 1381,</a:t>
            </a:r>
          </a:p>
          <a:p>
            <a:r>
              <a:t>        "test": 1381</a:t>
            </a:r>
          </a:p>
          <a:p>
            <a:r>
              <a:t>      },</a:t>
            </a:r>
          </a:p>
          <a:p>
            <a:r>
              <a:t>      "freeze_finished": "2026-10-24T17:52:39.554651+00:00"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"totals": {</a:t>
            </a:r>
          </a:p>
          <a:p>
            <a:r>
              <a:t>    "candidates": 68244,</a:t>
            </a:r>
          </a:p>
          <a:p>
            <a:r>
              <a:t>    "jira_unavailable": 325,</a:t>
            </a:r>
          </a:p>
          <a:p>
            <a:r>
              <a:t>    "available": 67919,</a:t>
            </a:r>
          </a:p>
          <a:p>
            <a:r>
              <a:t>    "no_sprint_entry": 7804,</a:t>
            </a:r>
          </a:p>
          <a:p>
            <a:r>
              <a:t>    "no_comment_before_sprint": 47104,</a:t>
            </a:r>
          </a:p>
          <a:p>
            <a:r>
              <a:t>    "unreconstructable_pre_sprint_metadata": 25,</a:t>
            </a:r>
          </a:p>
          <a:p>
            <a:r>
              <a:t>    "preprocessing_exclusions": 54933,</a:t>
            </a:r>
          </a:p>
          <a:p>
            <a:r>
              <a:t>    "feature_rows": 12986,</a:t>
            </a:r>
          </a:p>
          <a:p>
            <a:r>
              <a:t>    "train": 7790,</a:t>
            </a:r>
          </a:p>
          <a:p>
            <a:r>
              <a:t>    "validation": 2596,</a:t>
            </a:r>
          </a:p>
          <a:p>
            <a:r>
              <a:t>    "test": 2600</a:t>
            </a:r>
          </a:p>
          <a:p>
            <a:r>
              <a:t>  },</a:t>
            </a:r>
          </a:p>
          <a:p>
            <a:r>
              <a:t>  "remaining_work": "Fetch linked code, establish complete supported detector coverage, generate labels, then determine final model eligibility. No real code-smell model results or class balance are available yet."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Code-smell preparation, NOT HF instability metrics. Reported cluster evidence as of October 24, 2026.</a:t>
            </a:r>
          </a:p>
          <a:p>
            <a:r>
              <a:t>Report: Tasks/sprint-data-analysis-summary/data/code-smells-002-retention.json; SHA256: 1412eb753eb90a0f0be608948a510828085489ef6de3be10271cf56913dba32a</a:t>
            </a:r>
          </a:p>
          <a:p>
            <a:r>
              <a:t>Cluster artifacts: status/freeze-SOURCE.json; raw/SOURCE/manifest.json; features/SOURCE/filter_decisions.json and features.csv; splits/SOURCE.json.</a:t>
            </a:r>
          </a:p>
          <a:p>
            <a:r>
              <a:t>Rules: runtime/prepare.py freeze/reconstruct_metadata and jira_pipeline/preprocessing.py preprocess_record/first_sprint_entry, as used by preparation PR #377.</a:t>
            </a:r>
          </a:p>
          <a:p>
            <a:r>
              <a:t>Sprint entry is the earliest usable sprint-field start or nonempty Sprint-history change at/after issue creation. Comments require a valid timestamp &lt;= that entry. A failed reconstruction is not proof that a story has no real sprint or metadata.</a:t>
            </a:r>
          </a:p>
          <a:p>
            <a:r>
              <a:t>{</a:t>
            </a:r>
          </a:p>
          <a:p>
            <a:r>
              <a:t>  "schema": "code-smell-retention-summary-v1",</a:t>
            </a:r>
          </a:p>
          <a:p>
            <a:r>
              <a:t>  "run_id": "code-smells-002",</a:t>
            </a:r>
          </a:p>
          <a:p>
            <a:r>
              <a:t>  "recorded_on": "2026-10-24",</a:t>
            </a:r>
          </a:p>
          <a:p>
            <a:r>
              <a:t>  "evidence_origin": "User-supplied cluster output from freeze status files, split manifests, raw manifests and filter_decisions.json. Counts are transcribed, not independently recomputed from raw Jira records on this Mac.",</a:t>
            </a:r>
          </a:p>
          <a:p>
            <a:r>
              <a:t>  "base_presentation_sha256": "79212043e95e79662eacd79f8971bd7ff2681107b1f000515fa3719894fb9351",</a:t>
            </a:r>
          </a:p>
          <a:p>
            <a:r>
              <a:t>  "preparation_pr": 377,</a:t>
            </a:r>
          </a:p>
          <a:p>
            <a:r>
              <a:t>  "preparation_merge_commit": "e5daaf1773672f1dc7e914ca0afe724fd684fbd8",</a:t>
            </a:r>
          </a:p>
          <a:p>
            <a:r>
              <a:t>  "original_candidate_file_rows": 68358,</a:t>
            </a:r>
          </a:p>
          <a:p>
            <a:r>
              <a:t>  "source_selection_exclusions": 114,</a:t>
            </a:r>
          </a:p>
          <a:p>
            <a:r>
              <a:t>  "source_selection_rule": "Exclude sources with fewer than 100 original candidates: Qt 86, JiraEcosystem 23, Jira 3, Sakai 2.",</a:t>
            </a:r>
          </a:p>
          <a:p>
            <a:r>
              <a:t>  "candidate_file_sha256": "a96d260478dfe2c6eb78ce8c47bac74707039c05853e90e0c8e2775d103d0aab",</a:t>
            </a:r>
          </a:p>
          <a:p>
            <a:r>
              <a:t>  "checks_reported": {</a:t>
            </a:r>
          </a:p>
          <a:p>
            <a:r>
              <a:t>    "all_four_freeze_stages_succeeded": true,</a:t>
            </a:r>
          </a:p>
          <a:p>
            <a:r>
              <a:t>    "all_feature_file_hashes_match_split_manifests": true,</a:t>
            </a:r>
          </a:p>
          <a:p>
            <a:r>
              <a:t>    "apache_features_and_split_match_original_run_byte_for_byte": true</a:t>
            </a:r>
          </a:p>
          <a:p>
            <a:r>
              <a:t>  },</a:t>
            </a:r>
          </a:p>
          <a:p>
            <a:r>
              <a:t>  "filter_interpretation": {</a:t>
            </a:r>
          </a:p>
          <a:p>
            <a:r>
              <a:t>    "jira_unavailable": "Explicitly approved collection exclusions, before preprocessing. MongoDB: one issue returned 401. RedHat: 324 returned 404 (not found or not visible, not proof of deletion).",</a:t>
            </a:r>
          </a:p>
          <a:p>
            <a:r>
              <a:t>    "no_sprint_entry": "No usable sprint-entry timestamp could be derived from sprint fields/change history on or after issue creation.",</a:t>
            </a:r>
          </a:p>
          <a:p>
            <a:r>
              <a:t>    "no_comment_before_sprint": "No comment with a valid timestamp on or before the derived sprint-entry time. Includes no comments and comments only after entry. This is a retained study eligibility rule, not an inherent requirement for code-smell prediction.",</a:t>
            </a:r>
          </a:p>
          <a:p>
            <a:r>
              <a:t>    "unreconstructable_pre_sprint_metadata": "The preparation step could not reconstruct required pre-sprint metadata from the available history.",</a:t>
            </a:r>
          </a:p>
          <a:p>
            <a:r>
              <a:t>    "accepted": "Passed Jira preprocessing and pre-sprint reconstruction. These rows have frozen features and split membership, not yet verified code-smell labels."</a:t>
            </a:r>
          </a:p>
          <a:p>
            <a:r>
              <a:t>  },</a:t>
            </a:r>
          </a:p>
          <a:p>
            <a:r>
              <a:t>  "counting_rule": "One decision per selected candidate. The first failed gate is recorded; counts are mutually exclusive, not the total number of all conditions each issue violates.",</a:t>
            </a:r>
          </a:p>
          <a:p>
            <a:r>
              <a:t>  "reviewed_uncontrolled_projects": [</a:t>
            </a:r>
          </a:p>
          <a:p>
            <a:r>
              <a:t>    "BUILD",</a:t>
            </a:r>
          </a:p>
          <a:p>
            <a:r>
              <a:t>    "OCMUI",</a:t>
            </a:r>
          </a:p>
          <a:p>
            <a:r>
              <a:t>    "RHDM"</a:t>
            </a:r>
          </a:p>
          <a:p>
            <a:r>
              <a:t>  ],</a:t>
            </a:r>
          </a:p>
          <a:p>
            <a:r>
              <a:t>  "sources": {</a:t>
            </a:r>
          </a:p>
          <a:p>
            <a:r>
              <a:t>    "Apache": {</a:t>
            </a:r>
          </a:p>
          <a:p>
            <a:r>
              <a:t>      "candidates": 3289,</a:t>
            </a:r>
          </a:p>
          <a:p>
            <a:r>
              <a:t>      "available": 3289,</a:t>
            </a:r>
          </a:p>
          <a:p>
            <a:r>
              <a:t>      "feature_rows": 758,</a:t>
            </a:r>
          </a:p>
          <a:p>
            <a:r>
              <a:t>      "filter_decisions": {</a:t>
            </a:r>
          </a:p>
          <a:p>
            <a:r>
              <a:t>        "accepted": 758,</a:t>
            </a:r>
          </a:p>
          <a:p>
            <a:r>
              <a:t>        "no_comment_before_sprint": 1441,</a:t>
            </a:r>
          </a:p>
          <a:p>
            <a:r>
              <a:t>        "no_sprint_entry": 1090</a:t>
            </a:r>
          </a:p>
          <a:p>
            <a:r>
              <a:t>      },</a:t>
            </a:r>
          </a:p>
          <a:p>
            <a:r>
              <a:t>      "splits": {</a:t>
            </a:r>
          </a:p>
          <a:p>
            <a:r>
              <a:t>        "train": 454,</a:t>
            </a:r>
          </a:p>
          <a:p>
            <a:r>
              <a:t>        "validation": 151,</a:t>
            </a:r>
          </a:p>
          <a:p>
            <a:r>
              <a:t>        "test": 153</a:t>
            </a:r>
          </a:p>
          <a:p>
            <a:r>
              <a:t>      },</a:t>
            </a:r>
          </a:p>
          <a:p>
            <a:r>
              <a:t>      "freeze_finished": "2026-10-24T17:40:26.397188+00:00"</a:t>
            </a:r>
          </a:p>
          <a:p>
            <a:r>
              <a:t>    },</a:t>
            </a:r>
          </a:p>
          <a:p>
            <a:r>
              <a:t>    "IntelDAOS": {</a:t>
            </a:r>
          </a:p>
          <a:p>
            <a:r>
              <a:t>      "candidates": 866,</a:t>
            </a:r>
          </a:p>
          <a:p>
            <a:r>
              <a:t>      "available": 866,</a:t>
            </a:r>
          </a:p>
          <a:p>
            <a:r>
              <a:t>      "feature_rows": 235,</a:t>
            </a:r>
          </a:p>
          <a:p>
            <a:r>
              <a:t>      "filter_decisions": {</a:t>
            </a:r>
          </a:p>
          <a:p>
            <a:r>
              <a:t>        "accepted": 235,</a:t>
            </a:r>
          </a:p>
          <a:p>
            <a:r>
              <a:t>        "no_comment_before_sprint": 575,</a:t>
            </a:r>
          </a:p>
          <a:p>
            <a:r>
              <a:t>        "no_sprint_entry": 56</a:t>
            </a:r>
          </a:p>
          <a:p>
            <a:r>
              <a:t>      },</a:t>
            </a:r>
          </a:p>
          <a:p>
            <a:r>
              <a:t>      "splits": {</a:t>
            </a:r>
          </a:p>
          <a:p>
            <a:r>
              <a:t>        "train": 141,</a:t>
            </a:r>
          </a:p>
          <a:p>
            <a:r>
              <a:t>        "validation": 47,</a:t>
            </a:r>
          </a:p>
          <a:p>
            <a:r>
              <a:t>        "test": 47</a:t>
            </a:r>
          </a:p>
          <a:p>
            <a:r>
              <a:t>      },</a:t>
            </a:r>
          </a:p>
          <a:p>
            <a:r>
              <a:t>      "freeze_finished": "2026-10-24T17:39:14.311540+00:00"</a:t>
            </a:r>
          </a:p>
          <a:p>
            <a:r>
              <a:t>    },</a:t>
            </a:r>
          </a:p>
          <a:p>
            <a:r>
              <a:t>    "MongoDB": {</a:t>
            </a:r>
          </a:p>
          <a:p>
            <a:r>
              <a:t>      "candidates": 39169,</a:t>
            </a:r>
          </a:p>
          <a:p>
            <a:r>
              <a:t>      "available": 39168,</a:t>
            </a:r>
          </a:p>
          <a:p>
            <a:r>
              <a:t>      "feature_rows": 5088,</a:t>
            </a:r>
          </a:p>
          <a:p>
            <a:r>
              <a:t>      "filter_decisions": {</a:t>
            </a:r>
          </a:p>
          <a:p>
            <a:r>
              <a:t>        "accepted": 5088,</a:t>
            </a:r>
          </a:p>
          <a:p>
            <a:r>
              <a:t>        "no_comment_before_sprint": 29104,</a:t>
            </a:r>
          </a:p>
          <a:p>
            <a:r>
              <a:t>        "unreconstructable_pre_sprint_metadata": 12,</a:t>
            </a:r>
          </a:p>
          <a:p>
            <a:r>
              <a:t>        "no_sprint_entry": 4964,</a:t>
            </a:r>
          </a:p>
          <a:p>
            <a:r>
              <a:t>        "jira_unavailable": 1</a:t>
            </a:r>
          </a:p>
          <a:p>
            <a:r>
              <a:t>      },</a:t>
            </a:r>
          </a:p>
          <a:p>
            <a:r>
              <a:t>      "splits": {</a:t>
            </a:r>
          </a:p>
          <a:p>
            <a:r>
              <a:t>        "train": 3052,</a:t>
            </a:r>
          </a:p>
          <a:p>
            <a:r>
              <a:t>        "validation": 1017,</a:t>
            </a:r>
          </a:p>
          <a:p>
            <a:r>
              <a:t>        "test": 1019</a:t>
            </a:r>
          </a:p>
          <a:p>
            <a:r>
              <a:t>      },</a:t>
            </a:r>
          </a:p>
          <a:p>
            <a:r>
              <a:t>      "freeze_finished": "2026-10-24T17:53:41.470662+00:00"</a:t>
            </a:r>
          </a:p>
          <a:p>
            <a:r>
              <a:t>    },</a:t>
            </a:r>
          </a:p>
          <a:p>
            <a:r>
              <a:t>    "RedHat": {</a:t>
            </a:r>
          </a:p>
          <a:p>
            <a:r>
              <a:t>      "candidates": 24920,</a:t>
            </a:r>
          </a:p>
          <a:p>
            <a:r>
              <a:t>      "available": 24596,</a:t>
            </a:r>
          </a:p>
          <a:p>
            <a:r>
              <a:t>      "feature_rows": 6905,</a:t>
            </a:r>
          </a:p>
          <a:p>
            <a:r>
              <a:t>      "filter_decisions": {</a:t>
            </a:r>
          </a:p>
          <a:p>
            <a:r>
              <a:t>        "accepted": 6905,</a:t>
            </a:r>
          </a:p>
          <a:p>
            <a:r>
              <a:t>        "no_comment_before_sprint": 15984,</a:t>
            </a:r>
          </a:p>
          <a:p>
            <a:r>
              <a:t>        "no_sprint_entry": 1694,</a:t>
            </a:r>
          </a:p>
          <a:p>
            <a:r>
              <a:t>        "jira_unavailable": 324,</a:t>
            </a:r>
          </a:p>
          <a:p>
            <a:r>
              <a:t>        "unreconstructable_pre_sprint_metadata": 13</a:t>
            </a:r>
          </a:p>
          <a:p>
            <a:r>
              <a:t>      },</a:t>
            </a:r>
          </a:p>
          <a:p>
            <a:r>
              <a:t>      "splits": {</a:t>
            </a:r>
          </a:p>
          <a:p>
            <a:r>
              <a:t>        "train": 4143,</a:t>
            </a:r>
          </a:p>
          <a:p>
            <a:r>
              <a:t>        "validation": 1381,</a:t>
            </a:r>
          </a:p>
          <a:p>
            <a:r>
              <a:t>        "test": 1381</a:t>
            </a:r>
          </a:p>
          <a:p>
            <a:r>
              <a:t>      },</a:t>
            </a:r>
          </a:p>
          <a:p>
            <a:r>
              <a:t>      "freeze_finished": "2026-10-24T17:52:39.554651+00:00"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"totals": {</a:t>
            </a:r>
          </a:p>
          <a:p>
            <a:r>
              <a:t>    "candidates": 68244,</a:t>
            </a:r>
          </a:p>
          <a:p>
            <a:r>
              <a:t>    "jira_unavailable": 325,</a:t>
            </a:r>
          </a:p>
          <a:p>
            <a:r>
              <a:t>    "available": 67919,</a:t>
            </a:r>
          </a:p>
          <a:p>
            <a:r>
              <a:t>    "no_sprint_entry": 7804,</a:t>
            </a:r>
          </a:p>
          <a:p>
            <a:r>
              <a:t>    "no_comment_before_sprint": 47104,</a:t>
            </a:r>
          </a:p>
          <a:p>
            <a:r>
              <a:t>    "unreconstructable_pre_sprint_metadata": 25,</a:t>
            </a:r>
          </a:p>
          <a:p>
            <a:r>
              <a:t>    "preprocessing_exclusions": 54933,</a:t>
            </a:r>
          </a:p>
          <a:p>
            <a:r>
              <a:t>    "feature_rows": 12986,</a:t>
            </a:r>
          </a:p>
          <a:p>
            <a:r>
              <a:t>    "train": 7790,</a:t>
            </a:r>
          </a:p>
          <a:p>
            <a:r>
              <a:t>    "validation": 2596,</a:t>
            </a:r>
          </a:p>
          <a:p>
            <a:r>
              <a:t>    "test": 2600</a:t>
            </a:r>
          </a:p>
          <a:p>
            <a:r>
              <a:t>  },</a:t>
            </a:r>
          </a:p>
          <a:p>
            <a:r>
              <a:t>  "remaining_work": "Fetch linked code, establish complete supported detector coverage, generate labels, then determine final model eligibility. No real code-smell model results or class balance are available yet."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Code-smell preparation, NOT HF instability metrics. Reported cluster evidence as of October 24, 2026.</a:t>
            </a:r>
          </a:p>
          <a:p>
            <a:r>
              <a:t>Report: Tasks/sprint-data-analysis-summary/data/code-smells-002-retention.json; SHA256: 1412eb753eb90a0f0be608948a510828085489ef6de3be10271cf56913dba32a</a:t>
            </a:r>
          </a:p>
          <a:p>
            <a:r>
              <a:t>Cluster artifacts: status/freeze-SOURCE.json; raw/SOURCE/manifest.json; features/SOURCE/filter_decisions.json and features.csv; splits/SOURCE.json.</a:t>
            </a:r>
          </a:p>
          <a:p>
            <a:r>
              <a:t>Rules: runtime/prepare.py freeze/reconstruct_metadata and jira_pipeline/preprocessing.py preprocess_record/first_sprint_entry, as used by preparation PR #377.</a:t>
            </a:r>
          </a:p>
          <a:p>
            <a:r>
              <a:t>Sprint entry is the earliest usable sprint-field start or nonempty Sprint-history change at/after issue creation. Comments require a valid timestamp &lt;= that entry. A failed reconstruction is not proof that a story has no real sprint or metadata.</a:t>
            </a:r>
          </a:p>
          <a:p>
            <a:r>
              <a:t>{</a:t>
            </a:r>
          </a:p>
          <a:p>
            <a:r>
              <a:t>  "schema": "code-smell-retention-summary-v1",</a:t>
            </a:r>
          </a:p>
          <a:p>
            <a:r>
              <a:t>  "run_id": "code-smells-002",</a:t>
            </a:r>
          </a:p>
          <a:p>
            <a:r>
              <a:t>  "recorded_on": "2026-10-24",</a:t>
            </a:r>
          </a:p>
          <a:p>
            <a:r>
              <a:t>  "evidence_origin": "User-supplied cluster output from freeze status files, split manifests, raw manifests and filter_decisions.json. Counts are transcribed, not independently recomputed from raw Jira records on this Mac.",</a:t>
            </a:r>
          </a:p>
          <a:p>
            <a:r>
              <a:t>  "base_presentation_sha256": "79212043e95e79662eacd79f8971bd7ff2681107b1f000515fa3719894fb9351",</a:t>
            </a:r>
          </a:p>
          <a:p>
            <a:r>
              <a:t>  "preparation_pr": 377,</a:t>
            </a:r>
          </a:p>
          <a:p>
            <a:r>
              <a:t>  "preparation_merge_commit": "e5daaf1773672f1dc7e914ca0afe724fd684fbd8",</a:t>
            </a:r>
          </a:p>
          <a:p>
            <a:r>
              <a:t>  "original_candidate_file_rows": 68358,</a:t>
            </a:r>
          </a:p>
          <a:p>
            <a:r>
              <a:t>  "source_selection_exclusions": 114,</a:t>
            </a:r>
          </a:p>
          <a:p>
            <a:r>
              <a:t>  "source_selection_rule": "Exclude sources with fewer than 100 original candidates: Qt 86, JiraEcosystem 23, Jira 3, Sakai 2.",</a:t>
            </a:r>
          </a:p>
          <a:p>
            <a:r>
              <a:t>  "candidate_file_sha256": "a96d260478dfe2c6eb78ce8c47bac74707039c05853e90e0c8e2775d103d0aab",</a:t>
            </a:r>
          </a:p>
          <a:p>
            <a:r>
              <a:t>  "checks_reported": {</a:t>
            </a:r>
          </a:p>
          <a:p>
            <a:r>
              <a:t>    "all_four_freeze_stages_succeeded": true,</a:t>
            </a:r>
          </a:p>
          <a:p>
            <a:r>
              <a:t>    "all_feature_file_hashes_match_split_manifests": true,</a:t>
            </a:r>
          </a:p>
          <a:p>
            <a:r>
              <a:t>    "apache_features_and_split_match_original_run_byte_for_byte": true</a:t>
            </a:r>
          </a:p>
          <a:p>
            <a:r>
              <a:t>  },</a:t>
            </a:r>
          </a:p>
          <a:p>
            <a:r>
              <a:t>  "filter_interpretation": {</a:t>
            </a:r>
          </a:p>
          <a:p>
            <a:r>
              <a:t>    "jira_unavailable": "Explicitly approved collection exclusions, before preprocessing. MongoDB: one issue returned 401. RedHat: 324 returned 404 (not found or not visible, not proof of deletion).",</a:t>
            </a:r>
          </a:p>
          <a:p>
            <a:r>
              <a:t>    "no_sprint_entry": "No usable sprint-entry timestamp could be derived from sprint fields/change history on or after issue creation.",</a:t>
            </a:r>
          </a:p>
          <a:p>
            <a:r>
              <a:t>    "no_comment_before_sprint": "No comment with a valid timestamp on or before the derived sprint-entry time. Includes no comments and comments only after entry. This is a retained study eligibility rule, not an inherent requirement for code-smell prediction.",</a:t>
            </a:r>
          </a:p>
          <a:p>
            <a:r>
              <a:t>    "unreconstructable_pre_sprint_metadata": "The preparation step could not reconstruct required pre-sprint metadata from the available history.",</a:t>
            </a:r>
          </a:p>
          <a:p>
            <a:r>
              <a:t>    "accepted": "Passed Jira preprocessing and pre-sprint reconstruction. These rows have frozen features and split membership, not yet verified code-smell labels."</a:t>
            </a:r>
          </a:p>
          <a:p>
            <a:r>
              <a:t>  },</a:t>
            </a:r>
          </a:p>
          <a:p>
            <a:r>
              <a:t>  "counting_rule": "One decision per selected candidate. The first failed gate is recorded; counts are mutually exclusive, not the total number of all conditions each issue violates.",</a:t>
            </a:r>
          </a:p>
          <a:p>
            <a:r>
              <a:t>  "reviewed_uncontrolled_projects": [</a:t>
            </a:r>
          </a:p>
          <a:p>
            <a:r>
              <a:t>    "BUILD",</a:t>
            </a:r>
          </a:p>
          <a:p>
            <a:r>
              <a:t>    "OCMUI",</a:t>
            </a:r>
          </a:p>
          <a:p>
            <a:r>
              <a:t>    "RHDM"</a:t>
            </a:r>
          </a:p>
          <a:p>
            <a:r>
              <a:t>  ],</a:t>
            </a:r>
          </a:p>
          <a:p>
            <a:r>
              <a:t>  "sources": {</a:t>
            </a:r>
          </a:p>
          <a:p>
            <a:r>
              <a:t>    "Apache": {</a:t>
            </a:r>
          </a:p>
          <a:p>
            <a:r>
              <a:t>      "candidates": 3289,</a:t>
            </a:r>
          </a:p>
          <a:p>
            <a:r>
              <a:t>      "available": 3289,</a:t>
            </a:r>
          </a:p>
          <a:p>
            <a:r>
              <a:t>      "feature_rows": 758,</a:t>
            </a:r>
          </a:p>
          <a:p>
            <a:r>
              <a:t>      "filter_decisions": {</a:t>
            </a:r>
          </a:p>
          <a:p>
            <a:r>
              <a:t>        "accepted": 758,</a:t>
            </a:r>
          </a:p>
          <a:p>
            <a:r>
              <a:t>        "no_comment_before_sprint": 1441,</a:t>
            </a:r>
          </a:p>
          <a:p>
            <a:r>
              <a:t>        "no_sprint_entry": 1090</a:t>
            </a:r>
          </a:p>
          <a:p>
            <a:r>
              <a:t>      },</a:t>
            </a:r>
          </a:p>
          <a:p>
            <a:r>
              <a:t>      "splits": {</a:t>
            </a:r>
          </a:p>
          <a:p>
            <a:r>
              <a:t>        "train": 454,</a:t>
            </a:r>
          </a:p>
          <a:p>
            <a:r>
              <a:t>        "validation": 151,</a:t>
            </a:r>
          </a:p>
          <a:p>
            <a:r>
              <a:t>        "test": 153</a:t>
            </a:r>
          </a:p>
          <a:p>
            <a:r>
              <a:t>      },</a:t>
            </a:r>
          </a:p>
          <a:p>
            <a:r>
              <a:t>      "freeze_finished": "2026-10-24T17:40:26.397188+00:00"</a:t>
            </a:r>
          </a:p>
          <a:p>
            <a:r>
              <a:t>    },</a:t>
            </a:r>
          </a:p>
          <a:p>
            <a:r>
              <a:t>    "IntelDAOS": {</a:t>
            </a:r>
          </a:p>
          <a:p>
            <a:r>
              <a:t>      "candidates": 866,</a:t>
            </a:r>
          </a:p>
          <a:p>
            <a:r>
              <a:t>      "available": 866,</a:t>
            </a:r>
          </a:p>
          <a:p>
            <a:r>
              <a:t>      "feature_rows": 235,</a:t>
            </a:r>
          </a:p>
          <a:p>
            <a:r>
              <a:t>      "filter_decisions": {</a:t>
            </a:r>
          </a:p>
          <a:p>
            <a:r>
              <a:t>        "accepted": 235,</a:t>
            </a:r>
          </a:p>
          <a:p>
            <a:r>
              <a:t>        "no_comment_before_sprint": 575,</a:t>
            </a:r>
          </a:p>
          <a:p>
            <a:r>
              <a:t>        "no_sprint_entry": 56</a:t>
            </a:r>
          </a:p>
          <a:p>
            <a:r>
              <a:t>      },</a:t>
            </a:r>
          </a:p>
          <a:p>
            <a:r>
              <a:t>      "splits": {</a:t>
            </a:r>
          </a:p>
          <a:p>
            <a:r>
              <a:t>        "train": 141,</a:t>
            </a:r>
          </a:p>
          <a:p>
            <a:r>
              <a:t>        "validation": 47,</a:t>
            </a:r>
          </a:p>
          <a:p>
            <a:r>
              <a:t>        "test": 47</a:t>
            </a:r>
          </a:p>
          <a:p>
            <a:r>
              <a:t>      },</a:t>
            </a:r>
          </a:p>
          <a:p>
            <a:r>
              <a:t>      "freeze_finished": "2026-10-24T17:39:14.311540+00:00"</a:t>
            </a:r>
          </a:p>
          <a:p>
            <a:r>
              <a:t>    },</a:t>
            </a:r>
          </a:p>
          <a:p>
            <a:r>
              <a:t>    "MongoDB": {</a:t>
            </a:r>
          </a:p>
          <a:p>
            <a:r>
              <a:t>      "candidates": 39169,</a:t>
            </a:r>
          </a:p>
          <a:p>
            <a:r>
              <a:t>      "available": 39168,</a:t>
            </a:r>
          </a:p>
          <a:p>
            <a:r>
              <a:t>      "feature_rows": 5088,</a:t>
            </a:r>
          </a:p>
          <a:p>
            <a:r>
              <a:t>      "filter_decisions": {</a:t>
            </a:r>
          </a:p>
          <a:p>
            <a:r>
              <a:t>        "accepted": 5088,</a:t>
            </a:r>
          </a:p>
          <a:p>
            <a:r>
              <a:t>        "no_comment_before_sprint": 29104,</a:t>
            </a:r>
          </a:p>
          <a:p>
            <a:r>
              <a:t>        "unreconstructable_pre_sprint_metadata": 12,</a:t>
            </a:r>
          </a:p>
          <a:p>
            <a:r>
              <a:t>        "no_sprint_entry": 4964,</a:t>
            </a:r>
          </a:p>
          <a:p>
            <a:r>
              <a:t>        "jira_unavailable": 1</a:t>
            </a:r>
          </a:p>
          <a:p>
            <a:r>
              <a:t>      },</a:t>
            </a:r>
          </a:p>
          <a:p>
            <a:r>
              <a:t>      "splits": {</a:t>
            </a:r>
          </a:p>
          <a:p>
            <a:r>
              <a:t>        "train": 3052,</a:t>
            </a:r>
          </a:p>
          <a:p>
            <a:r>
              <a:t>        "validation": 1017,</a:t>
            </a:r>
          </a:p>
          <a:p>
            <a:r>
              <a:t>        "test": 1019</a:t>
            </a:r>
          </a:p>
          <a:p>
            <a:r>
              <a:t>      },</a:t>
            </a:r>
          </a:p>
          <a:p>
            <a:r>
              <a:t>      "freeze_finished": "2026-10-24T17:53:41.470662+00:00"</a:t>
            </a:r>
          </a:p>
          <a:p>
            <a:r>
              <a:t>    },</a:t>
            </a:r>
          </a:p>
          <a:p>
            <a:r>
              <a:t>    "RedHat": {</a:t>
            </a:r>
          </a:p>
          <a:p>
            <a:r>
              <a:t>      "candidates": 24920,</a:t>
            </a:r>
          </a:p>
          <a:p>
            <a:r>
              <a:t>      "available": 24596,</a:t>
            </a:r>
          </a:p>
          <a:p>
            <a:r>
              <a:t>      "feature_rows": 6905,</a:t>
            </a:r>
          </a:p>
          <a:p>
            <a:r>
              <a:t>      "filter_decisions": {</a:t>
            </a:r>
          </a:p>
          <a:p>
            <a:r>
              <a:t>        "accepted": 6905,</a:t>
            </a:r>
          </a:p>
          <a:p>
            <a:r>
              <a:t>        "no_comment_before_sprint": 15984,</a:t>
            </a:r>
          </a:p>
          <a:p>
            <a:r>
              <a:t>        "no_sprint_entry": 1694,</a:t>
            </a:r>
          </a:p>
          <a:p>
            <a:r>
              <a:t>        "jira_unavailable": 324,</a:t>
            </a:r>
          </a:p>
          <a:p>
            <a:r>
              <a:t>        "unreconstructable_pre_sprint_metadata": 13</a:t>
            </a:r>
          </a:p>
          <a:p>
            <a:r>
              <a:t>      },</a:t>
            </a:r>
          </a:p>
          <a:p>
            <a:r>
              <a:t>      "splits": {</a:t>
            </a:r>
          </a:p>
          <a:p>
            <a:r>
              <a:t>        "train": 4143,</a:t>
            </a:r>
          </a:p>
          <a:p>
            <a:r>
              <a:t>        "validation": 1381,</a:t>
            </a:r>
          </a:p>
          <a:p>
            <a:r>
              <a:t>        "test": 1381</a:t>
            </a:r>
          </a:p>
          <a:p>
            <a:r>
              <a:t>      },</a:t>
            </a:r>
          </a:p>
          <a:p>
            <a:r>
              <a:t>      "freeze_finished": "2026-10-24T17:52:39.554651+00:00"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"totals": {</a:t>
            </a:r>
          </a:p>
          <a:p>
            <a:r>
              <a:t>    "candidates": 68244,</a:t>
            </a:r>
          </a:p>
          <a:p>
            <a:r>
              <a:t>    "jira_unavailable": 325,</a:t>
            </a:r>
          </a:p>
          <a:p>
            <a:r>
              <a:t>    "available": 67919,</a:t>
            </a:r>
          </a:p>
          <a:p>
            <a:r>
              <a:t>    "no_sprint_entry": 7804,</a:t>
            </a:r>
          </a:p>
          <a:p>
            <a:r>
              <a:t>    "no_comment_before_sprint": 47104,</a:t>
            </a:r>
          </a:p>
          <a:p>
            <a:r>
              <a:t>    "unreconstructable_pre_sprint_metadata": 25,</a:t>
            </a:r>
          </a:p>
          <a:p>
            <a:r>
              <a:t>    "preprocessing_exclusions": 54933,</a:t>
            </a:r>
          </a:p>
          <a:p>
            <a:r>
              <a:t>    "feature_rows": 12986,</a:t>
            </a:r>
          </a:p>
          <a:p>
            <a:r>
              <a:t>    "train": 7790,</a:t>
            </a:r>
          </a:p>
          <a:p>
            <a:r>
              <a:t>    "validation": 2596,</a:t>
            </a:r>
          </a:p>
          <a:p>
            <a:r>
              <a:t>    "test": 2600</a:t>
            </a:r>
          </a:p>
          <a:p>
            <a:r>
              <a:t>  },</a:t>
            </a:r>
          </a:p>
          <a:p>
            <a:r>
              <a:t>  "remaining_work": "Fetch linked code, establish complete supported detector coverage, generate labels, then determine final model eligibility. No real code-smell model results or class balance are available yet."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83D4C-B068-43AD-88C9-A0D18B249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231" y="2545557"/>
            <a:ext cx="5627829" cy="2387600"/>
          </a:xfrm>
        </p:spPr>
        <p:txBody>
          <a:bodyPr anchor="b">
            <a:normAutofit/>
          </a:bodyPr>
          <a:lstStyle>
            <a:lvl1pPr algn="l" rtl="0">
              <a:defRPr sz="44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9CDE13-FEF2-43B7-810A-8EF488D11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8231" y="5025232"/>
            <a:ext cx="5627829" cy="1655762"/>
          </a:xfrm>
        </p:spPr>
        <p:txBody>
          <a:bodyPr/>
          <a:lstStyle>
            <a:lvl1pPr marL="0" indent="0" algn="l" rtl="0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A63FAC1-1E8B-4081-BA8A-058AEA246693}"/>
              </a:ext>
            </a:extLst>
          </p:cNvPr>
          <p:cNvGrpSpPr/>
          <p:nvPr userDrawn="1"/>
        </p:nvGrpSpPr>
        <p:grpSpPr>
          <a:xfrm flipH="1">
            <a:off x="1" y="0"/>
            <a:ext cx="10950328" cy="6848279"/>
            <a:chOff x="1" y="0"/>
            <a:chExt cx="10950328" cy="6848279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DEF8902-8D80-42C1-B82B-079F31D096EF}"/>
                </a:ext>
              </a:extLst>
            </p:cNvPr>
            <p:cNvSpPr/>
            <p:nvPr userDrawn="1"/>
          </p:nvSpPr>
          <p:spPr>
            <a:xfrm>
              <a:off x="1" y="0"/>
              <a:ext cx="4887771" cy="6848279"/>
            </a:xfrm>
            <a:custGeom>
              <a:avLst/>
              <a:gdLst>
                <a:gd name="connsiteX0" fmla="*/ 0 w 4887771"/>
                <a:gd name="connsiteY0" fmla="*/ 0 h 6848279"/>
                <a:gd name="connsiteX1" fmla="*/ 1193928 w 4887771"/>
                <a:gd name="connsiteY1" fmla="*/ 0 h 6848279"/>
                <a:gd name="connsiteX2" fmla="*/ 4887771 w 4887771"/>
                <a:gd name="connsiteY2" fmla="*/ 2134960 h 6848279"/>
                <a:gd name="connsiteX3" fmla="*/ 4887771 w 4887771"/>
                <a:gd name="connsiteY3" fmla="*/ 6848279 h 6848279"/>
                <a:gd name="connsiteX4" fmla="*/ 4517967 w 4887771"/>
                <a:gd name="connsiteY4" fmla="*/ 6848279 h 6848279"/>
                <a:gd name="connsiteX5" fmla="*/ 0 w 4887771"/>
                <a:gd name="connsiteY5" fmla="*/ 4236994 h 6848279"/>
                <a:gd name="connsiteX6" fmla="*/ 0 w 4887771"/>
                <a:gd name="connsiteY6" fmla="*/ 0 h 6848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87771" h="6848279">
                  <a:moveTo>
                    <a:pt x="0" y="0"/>
                  </a:moveTo>
                  <a:lnTo>
                    <a:pt x="1193928" y="0"/>
                  </a:lnTo>
                  <a:lnTo>
                    <a:pt x="4887771" y="2134960"/>
                  </a:lnTo>
                  <a:lnTo>
                    <a:pt x="4887771" y="6848279"/>
                  </a:lnTo>
                  <a:lnTo>
                    <a:pt x="4517967" y="6848279"/>
                  </a:lnTo>
                  <a:lnTo>
                    <a:pt x="0" y="42369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BA6BD3E-5550-4BA6-A30F-E22961895C23}"/>
                </a:ext>
              </a:extLst>
            </p:cNvPr>
            <p:cNvSpPr/>
            <p:nvPr userDrawn="1"/>
          </p:nvSpPr>
          <p:spPr>
            <a:xfrm>
              <a:off x="1778000" y="1"/>
              <a:ext cx="9172329" cy="5295647"/>
            </a:xfrm>
            <a:custGeom>
              <a:avLst/>
              <a:gdLst>
                <a:gd name="connsiteX0" fmla="*/ 2816661 w 9172329"/>
                <a:gd name="connsiteY0" fmla="*/ 0 h 5295647"/>
                <a:gd name="connsiteX1" fmla="*/ 9172329 w 9172329"/>
                <a:gd name="connsiteY1" fmla="*/ 0 h 5295647"/>
                <a:gd name="connsiteX2" fmla="*/ 0 w 9172329"/>
                <a:gd name="connsiteY2" fmla="*/ 5295647 h 5295647"/>
                <a:gd name="connsiteX3" fmla="*/ 0 w 9172329"/>
                <a:gd name="connsiteY3" fmla="*/ 1626200 h 5295647"/>
                <a:gd name="connsiteX4" fmla="*/ 2816661 w 9172329"/>
                <a:gd name="connsiteY4" fmla="*/ 0 h 5295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72329" h="5295647">
                  <a:moveTo>
                    <a:pt x="2816661" y="0"/>
                  </a:moveTo>
                  <a:lnTo>
                    <a:pt x="9172329" y="0"/>
                  </a:lnTo>
                  <a:lnTo>
                    <a:pt x="0" y="5295647"/>
                  </a:lnTo>
                  <a:lnTo>
                    <a:pt x="0" y="1626200"/>
                  </a:lnTo>
                  <a:lnTo>
                    <a:pt x="2816661" y="0"/>
                  </a:lnTo>
                  <a:close/>
                </a:path>
              </a:pathLst>
            </a:custGeom>
            <a:solidFill>
              <a:schemeClr val="tx2"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652DED8-030F-4A06-A84E-E478A2E775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025" y="6226133"/>
            <a:ext cx="2546134" cy="419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797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83D4C-B068-43AD-88C9-A0D18B249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231" y="2545557"/>
            <a:ext cx="6552389" cy="2387600"/>
          </a:xfrm>
        </p:spPr>
        <p:txBody>
          <a:bodyPr anchor="b">
            <a:noAutofit/>
          </a:bodyPr>
          <a:lstStyle>
            <a:lvl1pPr algn="l" rtl="0">
              <a:defRPr sz="66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9CDE13-FEF2-43B7-810A-8EF488D11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8231" y="5025232"/>
            <a:ext cx="6552389" cy="1655762"/>
          </a:xfrm>
        </p:spPr>
        <p:txBody>
          <a:bodyPr>
            <a:normAutofit/>
          </a:bodyPr>
          <a:lstStyle>
            <a:lvl1pPr marL="0" indent="0" algn="l" rtl="0">
              <a:buNone/>
              <a:defRPr sz="3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247F689-2605-4EDE-B409-7E0B530F7281}"/>
              </a:ext>
            </a:extLst>
          </p:cNvPr>
          <p:cNvGrpSpPr/>
          <p:nvPr userDrawn="1"/>
        </p:nvGrpSpPr>
        <p:grpSpPr>
          <a:xfrm flipH="1">
            <a:off x="6864945" y="1"/>
            <a:ext cx="5327055" cy="3428999"/>
            <a:chOff x="0" y="1"/>
            <a:chExt cx="4033520" cy="2596357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40662EF-B9BF-4D07-8B23-127BA839803A}"/>
                </a:ext>
              </a:extLst>
            </p:cNvPr>
            <p:cNvSpPr/>
            <p:nvPr userDrawn="1"/>
          </p:nvSpPr>
          <p:spPr>
            <a:xfrm>
              <a:off x="0" y="1"/>
              <a:ext cx="1800396" cy="2596357"/>
            </a:xfrm>
            <a:custGeom>
              <a:avLst/>
              <a:gdLst>
                <a:gd name="connsiteX0" fmla="*/ 0 w 1800396"/>
                <a:gd name="connsiteY0" fmla="*/ 0 h 2596357"/>
                <a:gd name="connsiteX1" fmla="*/ 419440 w 1800396"/>
                <a:gd name="connsiteY1" fmla="*/ 0 h 2596357"/>
                <a:gd name="connsiteX2" fmla="*/ 1800396 w 1800396"/>
                <a:gd name="connsiteY2" fmla="*/ 797296 h 2596357"/>
                <a:gd name="connsiteX3" fmla="*/ 1800396 w 1800396"/>
                <a:gd name="connsiteY3" fmla="*/ 2596357 h 2596357"/>
                <a:gd name="connsiteX4" fmla="*/ 0 w 1800396"/>
                <a:gd name="connsiteY4" fmla="*/ 1556898 h 2596357"/>
                <a:gd name="connsiteX5" fmla="*/ 0 w 1800396"/>
                <a:gd name="connsiteY5" fmla="*/ 0 h 259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00396" h="2596357">
                  <a:moveTo>
                    <a:pt x="0" y="0"/>
                  </a:moveTo>
                  <a:lnTo>
                    <a:pt x="419440" y="0"/>
                  </a:lnTo>
                  <a:lnTo>
                    <a:pt x="1800396" y="797296"/>
                  </a:lnTo>
                  <a:lnTo>
                    <a:pt x="1800396" y="2596357"/>
                  </a:lnTo>
                  <a:lnTo>
                    <a:pt x="0" y="15568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5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BA6BD3E-5550-4BA6-A30F-E22961895C23}"/>
                </a:ext>
              </a:extLst>
            </p:cNvPr>
            <p:cNvSpPr/>
            <p:nvPr userDrawn="1"/>
          </p:nvSpPr>
          <p:spPr>
            <a:xfrm>
              <a:off x="654921" y="1"/>
              <a:ext cx="3378599" cy="1950635"/>
            </a:xfrm>
            <a:custGeom>
              <a:avLst/>
              <a:gdLst>
                <a:gd name="connsiteX0" fmla="*/ 2816661 w 9172329"/>
                <a:gd name="connsiteY0" fmla="*/ 0 h 5295647"/>
                <a:gd name="connsiteX1" fmla="*/ 9172329 w 9172329"/>
                <a:gd name="connsiteY1" fmla="*/ 0 h 5295647"/>
                <a:gd name="connsiteX2" fmla="*/ 0 w 9172329"/>
                <a:gd name="connsiteY2" fmla="*/ 5295647 h 5295647"/>
                <a:gd name="connsiteX3" fmla="*/ 0 w 9172329"/>
                <a:gd name="connsiteY3" fmla="*/ 1626200 h 5295647"/>
                <a:gd name="connsiteX4" fmla="*/ 2816661 w 9172329"/>
                <a:gd name="connsiteY4" fmla="*/ 0 h 5295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72329" h="5295647">
                  <a:moveTo>
                    <a:pt x="2816661" y="0"/>
                  </a:moveTo>
                  <a:lnTo>
                    <a:pt x="9172329" y="0"/>
                  </a:lnTo>
                  <a:lnTo>
                    <a:pt x="0" y="5295647"/>
                  </a:lnTo>
                  <a:lnTo>
                    <a:pt x="0" y="1626200"/>
                  </a:lnTo>
                  <a:lnTo>
                    <a:pt x="2816661" y="0"/>
                  </a:lnTo>
                  <a:close/>
                </a:path>
              </a:pathLst>
            </a:custGeom>
            <a:solidFill>
              <a:schemeClr val="tx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D56BF1F-368D-47FD-B5FE-0C49F283DD5C}"/>
              </a:ext>
            </a:extLst>
          </p:cNvPr>
          <p:cNvGrpSpPr/>
          <p:nvPr userDrawn="1"/>
        </p:nvGrpSpPr>
        <p:grpSpPr>
          <a:xfrm>
            <a:off x="9321222" y="6226175"/>
            <a:ext cx="2547937" cy="419101"/>
            <a:chOff x="396876" y="6226175"/>
            <a:chExt cx="2547937" cy="419101"/>
          </a:xfrm>
        </p:grpSpPr>
        <p:sp>
          <p:nvSpPr>
            <p:cNvPr id="5" name="AutoShape 3">
              <a:extLst>
                <a:ext uri="{FF2B5EF4-FFF2-40B4-BE49-F238E27FC236}">
                  <a16:creationId xmlns:a16="http://schemas.microsoft.com/office/drawing/2014/main" id="{40821695-DEC6-4868-ABCA-81F7D85BFED7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398463" y="6226175"/>
              <a:ext cx="2546350" cy="41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FEC0521E-1DB0-4124-8E45-A9F01D3BEF8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6876" y="6459538"/>
              <a:ext cx="2012950" cy="141288"/>
            </a:xfrm>
            <a:custGeom>
              <a:avLst/>
              <a:gdLst>
                <a:gd name="T0" fmla="*/ 1160 w 1179"/>
                <a:gd name="T1" fmla="*/ 55 h 82"/>
                <a:gd name="T2" fmla="*/ 1131 w 1179"/>
                <a:gd name="T3" fmla="*/ 38 h 82"/>
                <a:gd name="T4" fmla="*/ 1136 w 1179"/>
                <a:gd name="T5" fmla="*/ 61 h 82"/>
                <a:gd name="T6" fmla="*/ 1077 w 1179"/>
                <a:gd name="T7" fmla="*/ 57 h 82"/>
                <a:gd name="T8" fmla="*/ 1095 w 1179"/>
                <a:gd name="T9" fmla="*/ 21 h 82"/>
                <a:gd name="T10" fmla="*/ 1088 w 1179"/>
                <a:gd name="T11" fmla="*/ 56 h 82"/>
                <a:gd name="T12" fmla="*/ 1089 w 1179"/>
                <a:gd name="T13" fmla="*/ 76 h 82"/>
                <a:gd name="T14" fmla="*/ 1052 w 1179"/>
                <a:gd name="T15" fmla="*/ 43 h 82"/>
                <a:gd name="T16" fmla="*/ 1038 w 1179"/>
                <a:gd name="T17" fmla="*/ 58 h 82"/>
                <a:gd name="T18" fmla="*/ 985 w 1179"/>
                <a:gd name="T19" fmla="*/ 33 h 82"/>
                <a:gd name="T20" fmla="*/ 1003 w 1179"/>
                <a:gd name="T21" fmla="*/ 53 h 82"/>
                <a:gd name="T22" fmla="*/ 926 w 1179"/>
                <a:gd name="T23" fmla="*/ 26 h 82"/>
                <a:gd name="T24" fmla="*/ 927 w 1179"/>
                <a:gd name="T25" fmla="*/ 64 h 82"/>
                <a:gd name="T26" fmla="*/ 873 w 1179"/>
                <a:gd name="T27" fmla="*/ 63 h 82"/>
                <a:gd name="T28" fmla="*/ 899 w 1179"/>
                <a:gd name="T29" fmla="*/ 38 h 82"/>
                <a:gd name="T30" fmla="*/ 866 w 1179"/>
                <a:gd name="T31" fmla="*/ 63 h 82"/>
                <a:gd name="T32" fmla="*/ 844 w 1179"/>
                <a:gd name="T33" fmla="*/ 61 h 82"/>
                <a:gd name="T34" fmla="*/ 858 w 1179"/>
                <a:gd name="T35" fmla="*/ 27 h 82"/>
                <a:gd name="T36" fmla="*/ 816 w 1179"/>
                <a:gd name="T37" fmla="*/ 27 h 82"/>
                <a:gd name="T38" fmla="*/ 814 w 1179"/>
                <a:gd name="T39" fmla="*/ 0 h 82"/>
                <a:gd name="T40" fmla="*/ 800 w 1179"/>
                <a:gd name="T41" fmla="*/ 63 h 82"/>
                <a:gd name="T42" fmla="*/ 772 w 1179"/>
                <a:gd name="T43" fmla="*/ 20 h 82"/>
                <a:gd name="T44" fmla="*/ 710 w 1179"/>
                <a:gd name="T45" fmla="*/ 62 h 82"/>
                <a:gd name="T46" fmla="*/ 732 w 1179"/>
                <a:gd name="T47" fmla="*/ 21 h 82"/>
                <a:gd name="T48" fmla="*/ 695 w 1179"/>
                <a:gd name="T49" fmla="*/ 21 h 82"/>
                <a:gd name="T50" fmla="*/ 677 w 1179"/>
                <a:gd name="T51" fmla="*/ 61 h 82"/>
                <a:gd name="T52" fmla="*/ 691 w 1179"/>
                <a:gd name="T53" fmla="*/ 27 h 82"/>
                <a:gd name="T54" fmla="*/ 657 w 1179"/>
                <a:gd name="T55" fmla="*/ 14 h 82"/>
                <a:gd name="T56" fmla="*/ 661 w 1179"/>
                <a:gd name="T57" fmla="*/ 21 h 82"/>
                <a:gd name="T58" fmla="*/ 642 w 1179"/>
                <a:gd name="T59" fmla="*/ 28 h 82"/>
                <a:gd name="T60" fmla="*/ 621 w 1179"/>
                <a:gd name="T61" fmla="*/ 55 h 82"/>
                <a:gd name="T62" fmla="*/ 615 w 1179"/>
                <a:gd name="T63" fmla="*/ 27 h 82"/>
                <a:gd name="T64" fmla="*/ 596 w 1179"/>
                <a:gd name="T65" fmla="*/ 34 h 82"/>
                <a:gd name="T66" fmla="*/ 587 w 1179"/>
                <a:gd name="T67" fmla="*/ 40 h 82"/>
                <a:gd name="T68" fmla="*/ 560 w 1179"/>
                <a:gd name="T69" fmla="*/ 43 h 82"/>
                <a:gd name="T70" fmla="*/ 535 w 1179"/>
                <a:gd name="T71" fmla="*/ 44 h 82"/>
                <a:gd name="T72" fmla="*/ 498 w 1179"/>
                <a:gd name="T73" fmla="*/ 9 h 82"/>
                <a:gd name="T74" fmla="*/ 506 w 1179"/>
                <a:gd name="T75" fmla="*/ 63 h 82"/>
                <a:gd name="T76" fmla="*/ 480 w 1179"/>
                <a:gd name="T77" fmla="*/ 39 h 82"/>
                <a:gd name="T78" fmla="*/ 460 w 1179"/>
                <a:gd name="T79" fmla="*/ 21 h 82"/>
                <a:gd name="T80" fmla="*/ 442 w 1179"/>
                <a:gd name="T81" fmla="*/ 39 h 82"/>
                <a:gd name="T82" fmla="*/ 402 w 1179"/>
                <a:gd name="T83" fmla="*/ 5 h 82"/>
                <a:gd name="T84" fmla="*/ 367 w 1179"/>
                <a:gd name="T85" fmla="*/ 63 h 82"/>
                <a:gd name="T86" fmla="*/ 340 w 1179"/>
                <a:gd name="T87" fmla="*/ 21 h 82"/>
                <a:gd name="T88" fmla="*/ 313 w 1179"/>
                <a:gd name="T89" fmla="*/ 26 h 82"/>
                <a:gd name="T90" fmla="*/ 277 w 1179"/>
                <a:gd name="T91" fmla="*/ 9 h 82"/>
                <a:gd name="T92" fmla="*/ 285 w 1179"/>
                <a:gd name="T93" fmla="*/ 63 h 82"/>
                <a:gd name="T94" fmla="*/ 270 w 1179"/>
                <a:gd name="T95" fmla="*/ 27 h 82"/>
                <a:gd name="T96" fmla="*/ 251 w 1179"/>
                <a:gd name="T97" fmla="*/ 34 h 82"/>
                <a:gd name="T98" fmla="*/ 214 w 1179"/>
                <a:gd name="T99" fmla="*/ 44 h 82"/>
                <a:gd name="T100" fmla="*/ 233 w 1179"/>
                <a:gd name="T101" fmla="*/ 63 h 82"/>
                <a:gd name="T102" fmla="*/ 189 w 1179"/>
                <a:gd name="T103" fmla="*/ 38 h 82"/>
                <a:gd name="T104" fmla="*/ 181 w 1179"/>
                <a:gd name="T105" fmla="*/ 4 h 82"/>
                <a:gd name="T106" fmla="*/ 145 w 1179"/>
                <a:gd name="T107" fmla="*/ 42 h 82"/>
                <a:gd name="T108" fmla="*/ 92 w 1179"/>
                <a:gd name="T109" fmla="*/ 34 h 82"/>
                <a:gd name="T110" fmla="*/ 91 w 1179"/>
                <a:gd name="T111" fmla="*/ 28 h 82"/>
                <a:gd name="T112" fmla="*/ 59 w 1179"/>
                <a:gd name="T113" fmla="*/ 26 h 82"/>
                <a:gd name="T114" fmla="*/ 60 w 1179"/>
                <a:gd name="T115" fmla="*/ 64 h 82"/>
                <a:gd name="T116" fmla="*/ 13 w 1179"/>
                <a:gd name="T117" fmla="*/ 35 h 82"/>
                <a:gd name="T118" fmla="*/ 25 w 1179"/>
                <a:gd name="T119" fmla="*/ 19 h 82"/>
                <a:gd name="T120" fmla="*/ 35 w 1179"/>
                <a:gd name="T121" fmla="*/ 46 h 82"/>
                <a:gd name="T122" fmla="*/ 0 w 1179"/>
                <a:gd name="T123" fmla="*/ 63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179" h="82">
                  <a:moveTo>
                    <a:pt x="1142" y="21"/>
                  </a:moveTo>
                  <a:cubicBezTo>
                    <a:pt x="1157" y="63"/>
                    <a:pt x="1157" y="63"/>
                    <a:pt x="1157" y="63"/>
                  </a:cubicBezTo>
                  <a:cubicBezTo>
                    <a:pt x="1163" y="63"/>
                    <a:pt x="1163" y="63"/>
                    <a:pt x="1163" y="63"/>
                  </a:cubicBezTo>
                  <a:cubicBezTo>
                    <a:pt x="1179" y="21"/>
                    <a:pt x="1179" y="21"/>
                    <a:pt x="1179" y="21"/>
                  </a:cubicBezTo>
                  <a:cubicBezTo>
                    <a:pt x="1171" y="21"/>
                    <a:pt x="1171" y="21"/>
                    <a:pt x="1171" y="21"/>
                  </a:cubicBezTo>
                  <a:cubicBezTo>
                    <a:pt x="1164" y="44"/>
                    <a:pt x="1164" y="44"/>
                    <a:pt x="1164" y="44"/>
                  </a:cubicBezTo>
                  <a:cubicBezTo>
                    <a:pt x="1162" y="48"/>
                    <a:pt x="1161" y="52"/>
                    <a:pt x="1160" y="55"/>
                  </a:cubicBezTo>
                  <a:cubicBezTo>
                    <a:pt x="1160" y="55"/>
                    <a:pt x="1160" y="55"/>
                    <a:pt x="1160" y="55"/>
                  </a:cubicBezTo>
                  <a:cubicBezTo>
                    <a:pt x="1159" y="52"/>
                    <a:pt x="1158" y="48"/>
                    <a:pt x="1157" y="44"/>
                  </a:cubicBezTo>
                  <a:cubicBezTo>
                    <a:pt x="1149" y="21"/>
                    <a:pt x="1149" y="21"/>
                    <a:pt x="1149" y="21"/>
                  </a:cubicBezTo>
                  <a:lnTo>
                    <a:pt x="1142" y="21"/>
                  </a:lnTo>
                  <a:close/>
                  <a:moveTo>
                    <a:pt x="1110" y="38"/>
                  </a:moveTo>
                  <a:cubicBezTo>
                    <a:pt x="1111" y="33"/>
                    <a:pt x="1114" y="26"/>
                    <a:pt x="1121" y="26"/>
                  </a:cubicBezTo>
                  <a:cubicBezTo>
                    <a:pt x="1129" y="26"/>
                    <a:pt x="1131" y="33"/>
                    <a:pt x="1131" y="38"/>
                  </a:cubicBezTo>
                  <a:lnTo>
                    <a:pt x="1110" y="38"/>
                  </a:lnTo>
                  <a:close/>
                  <a:moveTo>
                    <a:pt x="1138" y="43"/>
                  </a:moveTo>
                  <a:cubicBezTo>
                    <a:pt x="1138" y="42"/>
                    <a:pt x="1138" y="41"/>
                    <a:pt x="1138" y="40"/>
                  </a:cubicBezTo>
                  <a:cubicBezTo>
                    <a:pt x="1138" y="32"/>
                    <a:pt x="1135" y="20"/>
                    <a:pt x="1122" y="20"/>
                  </a:cubicBezTo>
                  <a:cubicBezTo>
                    <a:pt x="1110" y="20"/>
                    <a:pt x="1104" y="30"/>
                    <a:pt x="1104" y="43"/>
                  </a:cubicBezTo>
                  <a:cubicBezTo>
                    <a:pt x="1104" y="55"/>
                    <a:pt x="1111" y="64"/>
                    <a:pt x="1123" y="64"/>
                  </a:cubicBezTo>
                  <a:cubicBezTo>
                    <a:pt x="1129" y="64"/>
                    <a:pt x="1133" y="62"/>
                    <a:pt x="1136" y="61"/>
                  </a:cubicBezTo>
                  <a:cubicBezTo>
                    <a:pt x="1134" y="56"/>
                    <a:pt x="1134" y="56"/>
                    <a:pt x="1134" y="56"/>
                  </a:cubicBezTo>
                  <a:cubicBezTo>
                    <a:pt x="1132" y="57"/>
                    <a:pt x="1129" y="58"/>
                    <a:pt x="1124" y="58"/>
                  </a:cubicBezTo>
                  <a:cubicBezTo>
                    <a:pt x="1117" y="58"/>
                    <a:pt x="1110" y="54"/>
                    <a:pt x="1110" y="43"/>
                  </a:cubicBezTo>
                  <a:lnTo>
                    <a:pt x="1138" y="43"/>
                  </a:lnTo>
                  <a:close/>
                  <a:moveTo>
                    <a:pt x="1088" y="45"/>
                  </a:moveTo>
                  <a:cubicBezTo>
                    <a:pt x="1088" y="46"/>
                    <a:pt x="1087" y="48"/>
                    <a:pt x="1087" y="49"/>
                  </a:cubicBezTo>
                  <a:cubicBezTo>
                    <a:pt x="1086" y="54"/>
                    <a:pt x="1082" y="57"/>
                    <a:pt x="1077" y="57"/>
                  </a:cubicBezTo>
                  <a:cubicBezTo>
                    <a:pt x="1070" y="57"/>
                    <a:pt x="1066" y="50"/>
                    <a:pt x="1066" y="42"/>
                  </a:cubicBezTo>
                  <a:cubicBezTo>
                    <a:pt x="1066" y="32"/>
                    <a:pt x="1071" y="26"/>
                    <a:pt x="1077" y="26"/>
                  </a:cubicBezTo>
                  <a:cubicBezTo>
                    <a:pt x="1083" y="26"/>
                    <a:pt x="1086" y="30"/>
                    <a:pt x="1087" y="34"/>
                  </a:cubicBezTo>
                  <a:cubicBezTo>
                    <a:pt x="1088" y="35"/>
                    <a:pt x="1088" y="36"/>
                    <a:pt x="1088" y="37"/>
                  </a:cubicBezTo>
                  <a:lnTo>
                    <a:pt x="1088" y="45"/>
                  </a:lnTo>
                  <a:close/>
                  <a:moveTo>
                    <a:pt x="1095" y="32"/>
                  </a:moveTo>
                  <a:cubicBezTo>
                    <a:pt x="1095" y="27"/>
                    <a:pt x="1095" y="24"/>
                    <a:pt x="1095" y="21"/>
                  </a:cubicBezTo>
                  <a:cubicBezTo>
                    <a:pt x="1089" y="21"/>
                    <a:pt x="1089" y="21"/>
                    <a:pt x="1089" y="21"/>
                  </a:cubicBezTo>
                  <a:cubicBezTo>
                    <a:pt x="1089" y="27"/>
                    <a:pt x="1089" y="27"/>
                    <a:pt x="1089" y="27"/>
                  </a:cubicBezTo>
                  <a:cubicBezTo>
                    <a:pt x="1088" y="27"/>
                    <a:pt x="1088" y="27"/>
                    <a:pt x="1088" y="27"/>
                  </a:cubicBezTo>
                  <a:cubicBezTo>
                    <a:pt x="1087" y="24"/>
                    <a:pt x="1083" y="20"/>
                    <a:pt x="1076" y="20"/>
                  </a:cubicBezTo>
                  <a:cubicBezTo>
                    <a:pt x="1067" y="20"/>
                    <a:pt x="1059" y="28"/>
                    <a:pt x="1059" y="42"/>
                  </a:cubicBezTo>
                  <a:cubicBezTo>
                    <a:pt x="1059" y="54"/>
                    <a:pt x="1066" y="63"/>
                    <a:pt x="1075" y="63"/>
                  </a:cubicBezTo>
                  <a:cubicBezTo>
                    <a:pt x="1081" y="63"/>
                    <a:pt x="1085" y="60"/>
                    <a:pt x="1088" y="56"/>
                  </a:cubicBezTo>
                  <a:cubicBezTo>
                    <a:pt x="1088" y="56"/>
                    <a:pt x="1088" y="56"/>
                    <a:pt x="1088" y="56"/>
                  </a:cubicBezTo>
                  <a:cubicBezTo>
                    <a:pt x="1088" y="60"/>
                    <a:pt x="1088" y="60"/>
                    <a:pt x="1088" y="60"/>
                  </a:cubicBezTo>
                  <a:cubicBezTo>
                    <a:pt x="1088" y="71"/>
                    <a:pt x="1082" y="75"/>
                    <a:pt x="1075" y="75"/>
                  </a:cubicBezTo>
                  <a:cubicBezTo>
                    <a:pt x="1070" y="75"/>
                    <a:pt x="1066" y="73"/>
                    <a:pt x="1064" y="72"/>
                  </a:cubicBezTo>
                  <a:cubicBezTo>
                    <a:pt x="1062" y="77"/>
                    <a:pt x="1062" y="77"/>
                    <a:pt x="1062" y="77"/>
                  </a:cubicBezTo>
                  <a:cubicBezTo>
                    <a:pt x="1065" y="80"/>
                    <a:pt x="1070" y="81"/>
                    <a:pt x="1075" y="81"/>
                  </a:cubicBezTo>
                  <a:cubicBezTo>
                    <a:pt x="1080" y="81"/>
                    <a:pt x="1085" y="80"/>
                    <a:pt x="1089" y="76"/>
                  </a:cubicBezTo>
                  <a:cubicBezTo>
                    <a:pt x="1093" y="72"/>
                    <a:pt x="1095" y="66"/>
                    <a:pt x="1095" y="57"/>
                  </a:cubicBezTo>
                  <a:lnTo>
                    <a:pt x="1095" y="32"/>
                  </a:lnTo>
                  <a:close/>
                  <a:moveTo>
                    <a:pt x="1025" y="38"/>
                  </a:moveTo>
                  <a:cubicBezTo>
                    <a:pt x="1026" y="33"/>
                    <a:pt x="1029" y="26"/>
                    <a:pt x="1036" y="26"/>
                  </a:cubicBezTo>
                  <a:cubicBezTo>
                    <a:pt x="1044" y="26"/>
                    <a:pt x="1046" y="33"/>
                    <a:pt x="1046" y="38"/>
                  </a:cubicBezTo>
                  <a:lnTo>
                    <a:pt x="1025" y="38"/>
                  </a:lnTo>
                  <a:close/>
                  <a:moveTo>
                    <a:pt x="1052" y="43"/>
                  </a:moveTo>
                  <a:cubicBezTo>
                    <a:pt x="1053" y="42"/>
                    <a:pt x="1053" y="41"/>
                    <a:pt x="1053" y="40"/>
                  </a:cubicBezTo>
                  <a:cubicBezTo>
                    <a:pt x="1053" y="32"/>
                    <a:pt x="1049" y="20"/>
                    <a:pt x="1037" y="20"/>
                  </a:cubicBezTo>
                  <a:cubicBezTo>
                    <a:pt x="1025" y="20"/>
                    <a:pt x="1018" y="30"/>
                    <a:pt x="1018" y="43"/>
                  </a:cubicBezTo>
                  <a:cubicBezTo>
                    <a:pt x="1018" y="55"/>
                    <a:pt x="1026" y="64"/>
                    <a:pt x="1037" y="64"/>
                  </a:cubicBezTo>
                  <a:cubicBezTo>
                    <a:pt x="1044" y="64"/>
                    <a:pt x="1048" y="62"/>
                    <a:pt x="1051" y="61"/>
                  </a:cubicBezTo>
                  <a:cubicBezTo>
                    <a:pt x="1049" y="56"/>
                    <a:pt x="1049" y="56"/>
                    <a:pt x="1049" y="56"/>
                  </a:cubicBezTo>
                  <a:cubicBezTo>
                    <a:pt x="1047" y="57"/>
                    <a:pt x="1044" y="58"/>
                    <a:pt x="1038" y="58"/>
                  </a:cubicBezTo>
                  <a:cubicBezTo>
                    <a:pt x="1031" y="58"/>
                    <a:pt x="1025" y="54"/>
                    <a:pt x="1025" y="43"/>
                  </a:cubicBezTo>
                  <a:lnTo>
                    <a:pt x="1052" y="43"/>
                  </a:lnTo>
                  <a:close/>
                  <a:moveTo>
                    <a:pt x="975" y="63"/>
                  </a:moveTo>
                  <a:cubicBezTo>
                    <a:pt x="975" y="38"/>
                    <a:pt x="975" y="38"/>
                    <a:pt x="975" y="38"/>
                  </a:cubicBezTo>
                  <a:cubicBezTo>
                    <a:pt x="975" y="28"/>
                    <a:pt x="975" y="21"/>
                    <a:pt x="975" y="14"/>
                  </a:cubicBezTo>
                  <a:cubicBezTo>
                    <a:pt x="975" y="14"/>
                    <a:pt x="975" y="14"/>
                    <a:pt x="975" y="14"/>
                  </a:cubicBezTo>
                  <a:cubicBezTo>
                    <a:pt x="978" y="20"/>
                    <a:pt x="981" y="27"/>
                    <a:pt x="985" y="33"/>
                  </a:cubicBezTo>
                  <a:cubicBezTo>
                    <a:pt x="1002" y="63"/>
                    <a:pt x="1002" y="63"/>
                    <a:pt x="1002" y="63"/>
                  </a:cubicBezTo>
                  <a:cubicBezTo>
                    <a:pt x="1009" y="63"/>
                    <a:pt x="1009" y="63"/>
                    <a:pt x="1009" y="63"/>
                  </a:cubicBezTo>
                  <a:cubicBezTo>
                    <a:pt x="1009" y="5"/>
                    <a:pt x="1009" y="5"/>
                    <a:pt x="1009" y="5"/>
                  </a:cubicBezTo>
                  <a:cubicBezTo>
                    <a:pt x="1003" y="5"/>
                    <a:pt x="1003" y="5"/>
                    <a:pt x="1003" y="5"/>
                  </a:cubicBezTo>
                  <a:cubicBezTo>
                    <a:pt x="1003" y="29"/>
                    <a:pt x="1003" y="29"/>
                    <a:pt x="1003" y="29"/>
                  </a:cubicBezTo>
                  <a:cubicBezTo>
                    <a:pt x="1003" y="38"/>
                    <a:pt x="1003" y="45"/>
                    <a:pt x="1003" y="53"/>
                  </a:cubicBezTo>
                  <a:cubicBezTo>
                    <a:pt x="1003" y="53"/>
                    <a:pt x="1003" y="53"/>
                    <a:pt x="1003" y="53"/>
                  </a:cubicBezTo>
                  <a:cubicBezTo>
                    <a:pt x="1001" y="47"/>
                    <a:pt x="997" y="41"/>
                    <a:pt x="994" y="34"/>
                  </a:cubicBezTo>
                  <a:cubicBezTo>
                    <a:pt x="976" y="5"/>
                    <a:pt x="976" y="5"/>
                    <a:pt x="976" y="5"/>
                  </a:cubicBezTo>
                  <a:cubicBezTo>
                    <a:pt x="969" y="5"/>
                    <a:pt x="969" y="5"/>
                    <a:pt x="969" y="5"/>
                  </a:cubicBezTo>
                  <a:cubicBezTo>
                    <a:pt x="969" y="63"/>
                    <a:pt x="969" y="63"/>
                    <a:pt x="969" y="63"/>
                  </a:cubicBezTo>
                  <a:lnTo>
                    <a:pt x="975" y="63"/>
                  </a:lnTo>
                  <a:close/>
                  <a:moveTo>
                    <a:pt x="915" y="38"/>
                  </a:moveTo>
                  <a:cubicBezTo>
                    <a:pt x="916" y="33"/>
                    <a:pt x="919" y="26"/>
                    <a:pt x="926" y="26"/>
                  </a:cubicBezTo>
                  <a:cubicBezTo>
                    <a:pt x="934" y="26"/>
                    <a:pt x="936" y="33"/>
                    <a:pt x="936" y="38"/>
                  </a:cubicBezTo>
                  <a:lnTo>
                    <a:pt x="915" y="38"/>
                  </a:lnTo>
                  <a:close/>
                  <a:moveTo>
                    <a:pt x="942" y="43"/>
                  </a:moveTo>
                  <a:cubicBezTo>
                    <a:pt x="942" y="42"/>
                    <a:pt x="942" y="41"/>
                    <a:pt x="942" y="40"/>
                  </a:cubicBezTo>
                  <a:cubicBezTo>
                    <a:pt x="942" y="32"/>
                    <a:pt x="939" y="20"/>
                    <a:pt x="926" y="20"/>
                  </a:cubicBezTo>
                  <a:cubicBezTo>
                    <a:pt x="915" y="20"/>
                    <a:pt x="908" y="30"/>
                    <a:pt x="908" y="43"/>
                  </a:cubicBezTo>
                  <a:cubicBezTo>
                    <a:pt x="908" y="55"/>
                    <a:pt x="915" y="64"/>
                    <a:pt x="927" y="64"/>
                  </a:cubicBezTo>
                  <a:cubicBezTo>
                    <a:pt x="933" y="64"/>
                    <a:pt x="938" y="62"/>
                    <a:pt x="940" y="61"/>
                  </a:cubicBezTo>
                  <a:cubicBezTo>
                    <a:pt x="939" y="56"/>
                    <a:pt x="939" y="56"/>
                    <a:pt x="939" y="56"/>
                  </a:cubicBezTo>
                  <a:cubicBezTo>
                    <a:pt x="936" y="57"/>
                    <a:pt x="933" y="58"/>
                    <a:pt x="928" y="58"/>
                  </a:cubicBezTo>
                  <a:cubicBezTo>
                    <a:pt x="921" y="58"/>
                    <a:pt x="915" y="54"/>
                    <a:pt x="915" y="43"/>
                  </a:cubicBezTo>
                  <a:lnTo>
                    <a:pt x="942" y="43"/>
                  </a:lnTo>
                  <a:close/>
                  <a:moveTo>
                    <a:pt x="866" y="63"/>
                  </a:moveTo>
                  <a:cubicBezTo>
                    <a:pt x="873" y="63"/>
                    <a:pt x="873" y="63"/>
                    <a:pt x="873" y="63"/>
                  </a:cubicBezTo>
                  <a:cubicBezTo>
                    <a:pt x="873" y="38"/>
                    <a:pt x="873" y="38"/>
                    <a:pt x="873" y="38"/>
                  </a:cubicBezTo>
                  <a:cubicBezTo>
                    <a:pt x="873" y="36"/>
                    <a:pt x="873" y="35"/>
                    <a:pt x="874" y="34"/>
                  </a:cubicBezTo>
                  <a:cubicBezTo>
                    <a:pt x="875" y="30"/>
                    <a:pt x="879" y="26"/>
                    <a:pt x="883" y="26"/>
                  </a:cubicBezTo>
                  <a:cubicBezTo>
                    <a:pt x="890" y="26"/>
                    <a:pt x="892" y="32"/>
                    <a:pt x="892" y="39"/>
                  </a:cubicBezTo>
                  <a:cubicBezTo>
                    <a:pt x="892" y="63"/>
                    <a:pt x="892" y="63"/>
                    <a:pt x="892" y="63"/>
                  </a:cubicBezTo>
                  <a:cubicBezTo>
                    <a:pt x="899" y="63"/>
                    <a:pt x="899" y="63"/>
                    <a:pt x="899" y="63"/>
                  </a:cubicBezTo>
                  <a:cubicBezTo>
                    <a:pt x="899" y="38"/>
                    <a:pt x="899" y="38"/>
                    <a:pt x="899" y="38"/>
                  </a:cubicBezTo>
                  <a:cubicBezTo>
                    <a:pt x="899" y="24"/>
                    <a:pt x="891" y="20"/>
                    <a:pt x="886" y="20"/>
                  </a:cubicBezTo>
                  <a:cubicBezTo>
                    <a:pt x="883" y="20"/>
                    <a:pt x="881" y="21"/>
                    <a:pt x="879" y="22"/>
                  </a:cubicBezTo>
                  <a:cubicBezTo>
                    <a:pt x="876" y="23"/>
                    <a:pt x="875" y="25"/>
                    <a:pt x="874" y="28"/>
                  </a:cubicBezTo>
                  <a:cubicBezTo>
                    <a:pt x="873" y="28"/>
                    <a:pt x="873" y="28"/>
                    <a:pt x="873" y="28"/>
                  </a:cubicBezTo>
                  <a:cubicBezTo>
                    <a:pt x="873" y="1"/>
                    <a:pt x="873" y="1"/>
                    <a:pt x="873" y="1"/>
                  </a:cubicBezTo>
                  <a:cubicBezTo>
                    <a:pt x="866" y="1"/>
                    <a:pt x="866" y="1"/>
                    <a:pt x="866" y="1"/>
                  </a:cubicBezTo>
                  <a:lnTo>
                    <a:pt x="866" y="63"/>
                  </a:lnTo>
                  <a:close/>
                  <a:moveTo>
                    <a:pt x="841" y="13"/>
                  </a:moveTo>
                  <a:cubicBezTo>
                    <a:pt x="841" y="21"/>
                    <a:pt x="841" y="21"/>
                    <a:pt x="841" y="21"/>
                  </a:cubicBezTo>
                  <a:cubicBezTo>
                    <a:pt x="835" y="21"/>
                    <a:pt x="835" y="21"/>
                    <a:pt x="835" y="21"/>
                  </a:cubicBezTo>
                  <a:cubicBezTo>
                    <a:pt x="835" y="27"/>
                    <a:pt x="835" y="27"/>
                    <a:pt x="835" y="27"/>
                  </a:cubicBezTo>
                  <a:cubicBezTo>
                    <a:pt x="841" y="27"/>
                    <a:pt x="841" y="27"/>
                    <a:pt x="841" y="27"/>
                  </a:cubicBezTo>
                  <a:cubicBezTo>
                    <a:pt x="841" y="50"/>
                    <a:pt x="841" y="50"/>
                    <a:pt x="841" y="50"/>
                  </a:cubicBezTo>
                  <a:cubicBezTo>
                    <a:pt x="841" y="54"/>
                    <a:pt x="842" y="58"/>
                    <a:pt x="844" y="61"/>
                  </a:cubicBezTo>
                  <a:cubicBezTo>
                    <a:pt x="846" y="63"/>
                    <a:pt x="848" y="64"/>
                    <a:pt x="852" y="64"/>
                  </a:cubicBezTo>
                  <a:cubicBezTo>
                    <a:pt x="854" y="64"/>
                    <a:pt x="857" y="63"/>
                    <a:pt x="858" y="63"/>
                  </a:cubicBezTo>
                  <a:cubicBezTo>
                    <a:pt x="858" y="57"/>
                    <a:pt x="858" y="57"/>
                    <a:pt x="858" y="57"/>
                  </a:cubicBezTo>
                  <a:cubicBezTo>
                    <a:pt x="857" y="57"/>
                    <a:pt x="855" y="57"/>
                    <a:pt x="854" y="57"/>
                  </a:cubicBezTo>
                  <a:cubicBezTo>
                    <a:pt x="850" y="57"/>
                    <a:pt x="848" y="54"/>
                    <a:pt x="848" y="49"/>
                  </a:cubicBezTo>
                  <a:cubicBezTo>
                    <a:pt x="848" y="27"/>
                    <a:pt x="848" y="27"/>
                    <a:pt x="848" y="27"/>
                  </a:cubicBezTo>
                  <a:cubicBezTo>
                    <a:pt x="858" y="27"/>
                    <a:pt x="858" y="27"/>
                    <a:pt x="858" y="27"/>
                  </a:cubicBezTo>
                  <a:cubicBezTo>
                    <a:pt x="858" y="21"/>
                    <a:pt x="858" y="21"/>
                    <a:pt x="858" y="21"/>
                  </a:cubicBezTo>
                  <a:cubicBezTo>
                    <a:pt x="848" y="21"/>
                    <a:pt x="848" y="21"/>
                    <a:pt x="848" y="21"/>
                  </a:cubicBezTo>
                  <a:cubicBezTo>
                    <a:pt x="848" y="11"/>
                    <a:pt x="848" y="11"/>
                    <a:pt x="848" y="11"/>
                  </a:cubicBezTo>
                  <a:lnTo>
                    <a:pt x="841" y="13"/>
                  </a:lnTo>
                  <a:close/>
                  <a:moveTo>
                    <a:pt x="807" y="63"/>
                  </a:moveTo>
                  <a:cubicBezTo>
                    <a:pt x="807" y="27"/>
                    <a:pt x="807" y="27"/>
                    <a:pt x="807" y="27"/>
                  </a:cubicBezTo>
                  <a:cubicBezTo>
                    <a:pt x="816" y="27"/>
                    <a:pt x="816" y="27"/>
                    <a:pt x="816" y="27"/>
                  </a:cubicBezTo>
                  <a:cubicBezTo>
                    <a:pt x="816" y="21"/>
                    <a:pt x="816" y="21"/>
                    <a:pt x="816" y="21"/>
                  </a:cubicBezTo>
                  <a:cubicBezTo>
                    <a:pt x="807" y="21"/>
                    <a:pt x="807" y="21"/>
                    <a:pt x="807" y="21"/>
                  </a:cubicBezTo>
                  <a:cubicBezTo>
                    <a:pt x="807" y="19"/>
                    <a:pt x="807" y="19"/>
                    <a:pt x="807" y="19"/>
                  </a:cubicBezTo>
                  <a:cubicBezTo>
                    <a:pt x="807" y="12"/>
                    <a:pt x="808" y="7"/>
                    <a:pt x="814" y="7"/>
                  </a:cubicBezTo>
                  <a:cubicBezTo>
                    <a:pt x="817" y="7"/>
                    <a:pt x="818" y="7"/>
                    <a:pt x="819" y="8"/>
                  </a:cubicBezTo>
                  <a:cubicBezTo>
                    <a:pt x="820" y="2"/>
                    <a:pt x="820" y="2"/>
                    <a:pt x="820" y="2"/>
                  </a:cubicBezTo>
                  <a:cubicBezTo>
                    <a:pt x="819" y="1"/>
                    <a:pt x="816" y="0"/>
                    <a:pt x="814" y="0"/>
                  </a:cubicBezTo>
                  <a:cubicBezTo>
                    <a:pt x="811" y="0"/>
                    <a:pt x="807" y="2"/>
                    <a:pt x="804" y="4"/>
                  </a:cubicBezTo>
                  <a:cubicBezTo>
                    <a:pt x="801" y="8"/>
                    <a:pt x="800" y="13"/>
                    <a:pt x="800" y="19"/>
                  </a:cubicBezTo>
                  <a:cubicBezTo>
                    <a:pt x="800" y="21"/>
                    <a:pt x="800" y="21"/>
                    <a:pt x="800" y="21"/>
                  </a:cubicBezTo>
                  <a:cubicBezTo>
                    <a:pt x="795" y="21"/>
                    <a:pt x="795" y="21"/>
                    <a:pt x="795" y="21"/>
                  </a:cubicBezTo>
                  <a:cubicBezTo>
                    <a:pt x="795" y="27"/>
                    <a:pt x="795" y="27"/>
                    <a:pt x="795" y="27"/>
                  </a:cubicBezTo>
                  <a:cubicBezTo>
                    <a:pt x="800" y="27"/>
                    <a:pt x="800" y="27"/>
                    <a:pt x="800" y="27"/>
                  </a:cubicBezTo>
                  <a:cubicBezTo>
                    <a:pt x="800" y="63"/>
                    <a:pt x="800" y="63"/>
                    <a:pt x="800" y="63"/>
                  </a:cubicBezTo>
                  <a:lnTo>
                    <a:pt x="807" y="63"/>
                  </a:lnTo>
                  <a:close/>
                  <a:moveTo>
                    <a:pt x="771" y="26"/>
                  </a:moveTo>
                  <a:cubicBezTo>
                    <a:pt x="780" y="26"/>
                    <a:pt x="783" y="35"/>
                    <a:pt x="783" y="42"/>
                  </a:cubicBezTo>
                  <a:cubicBezTo>
                    <a:pt x="783" y="51"/>
                    <a:pt x="778" y="58"/>
                    <a:pt x="771" y="58"/>
                  </a:cubicBezTo>
                  <a:cubicBezTo>
                    <a:pt x="764" y="58"/>
                    <a:pt x="759" y="51"/>
                    <a:pt x="759" y="42"/>
                  </a:cubicBezTo>
                  <a:cubicBezTo>
                    <a:pt x="759" y="34"/>
                    <a:pt x="763" y="26"/>
                    <a:pt x="771" y="26"/>
                  </a:cubicBezTo>
                  <a:moveTo>
                    <a:pt x="772" y="20"/>
                  </a:moveTo>
                  <a:cubicBezTo>
                    <a:pt x="761" y="20"/>
                    <a:pt x="752" y="28"/>
                    <a:pt x="752" y="42"/>
                  </a:cubicBezTo>
                  <a:cubicBezTo>
                    <a:pt x="752" y="55"/>
                    <a:pt x="760" y="64"/>
                    <a:pt x="771" y="64"/>
                  </a:cubicBezTo>
                  <a:cubicBezTo>
                    <a:pt x="780" y="64"/>
                    <a:pt x="790" y="57"/>
                    <a:pt x="790" y="42"/>
                  </a:cubicBezTo>
                  <a:cubicBezTo>
                    <a:pt x="790" y="29"/>
                    <a:pt x="783" y="20"/>
                    <a:pt x="772" y="20"/>
                  </a:cubicBezTo>
                  <a:moveTo>
                    <a:pt x="695" y="21"/>
                  </a:moveTo>
                  <a:cubicBezTo>
                    <a:pt x="709" y="60"/>
                    <a:pt x="709" y="60"/>
                    <a:pt x="709" y="60"/>
                  </a:cubicBezTo>
                  <a:cubicBezTo>
                    <a:pt x="710" y="60"/>
                    <a:pt x="710" y="61"/>
                    <a:pt x="710" y="62"/>
                  </a:cubicBezTo>
                  <a:cubicBezTo>
                    <a:pt x="710" y="62"/>
                    <a:pt x="710" y="63"/>
                    <a:pt x="709" y="63"/>
                  </a:cubicBezTo>
                  <a:cubicBezTo>
                    <a:pt x="708" y="67"/>
                    <a:pt x="705" y="70"/>
                    <a:pt x="703" y="72"/>
                  </a:cubicBezTo>
                  <a:cubicBezTo>
                    <a:pt x="701" y="74"/>
                    <a:pt x="699" y="75"/>
                    <a:pt x="697" y="76"/>
                  </a:cubicBezTo>
                  <a:cubicBezTo>
                    <a:pt x="699" y="82"/>
                    <a:pt x="699" y="82"/>
                    <a:pt x="699" y="82"/>
                  </a:cubicBezTo>
                  <a:cubicBezTo>
                    <a:pt x="701" y="81"/>
                    <a:pt x="704" y="80"/>
                    <a:pt x="708" y="77"/>
                  </a:cubicBezTo>
                  <a:cubicBezTo>
                    <a:pt x="712" y="72"/>
                    <a:pt x="716" y="65"/>
                    <a:pt x="721" y="51"/>
                  </a:cubicBezTo>
                  <a:cubicBezTo>
                    <a:pt x="732" y="21"/>
                    <a:pt x="732" y="21"/>
                    <a:pt x="732" y="21"/>
                  </a:cubicBezTo>
                  <a:cubicBezTo>
                    <a:pt x="724" y="21"/>
                    <a:pt x="724" y="21"/>
                    <a:pt x="724" y="21"/>
                  </a:cubicBezTo>
                  <a:cubicBezTo>
                    <a:pt x="716" y="46"/>
                    <a:pt x="716" y="46"/>
                    <a:pt x="716" y="46"/>
                  </a:cubicBezTo>
                  <a:cubicBezTo>
                    <a:pt x="715" y="49"/>
                    <a:pt x="715" y="52"/>
                    <a:pt x="714" y="54"/>
                  </a:cubicBezTo>
                  <a:cubicBezTo>
                    <a:pt x="714" y="54"/>
                    <a:pt x="714" y="54"/>
                    <a:pt x="714" y="54"/>
                  </a:cubicBezTo>
                  <a:cubicBezTo>
                    <a:pt x="713" y="52"/>
                    <a:pt x="712" y="48"/>
                    <a:pt x="711" y="46"/>
                  </a:cubicBezTo>
                  <a:cubicBezTo>
                    <a:pt x="703" y="21"/>
                    <a:pt x="703" y="21"/>
                    <a:pt x="703" y="21"/>
                  </a:cubicBezTo>
                  <a:lnTo>
                    <a:pt x="695" y="21"/>
                  </a:lnTo>
                  <a:close/>
                  <a:moveTo>
                    <a:pt x="674" y="13"/>
                  </a:moveTo>
                  <a:cubicBezTo>
                    <a:pt x="674" y="21"/>
                    <a:pt x="674" y="21"/>
                    <a:pt x="674" y="21"/>
                  </a:cubicBezTo>
                  <a:cubicBezTo>
                    <a:pt x="668" y="21"/>
                    <a:pt x="668" y="21"/>
                    <a:pt x="668" y="21"/>
                  </a:cubicBezTo>
                  <a:cubicBezTo>
                    <a:pt x="668" y="27"/>
                    <a:pt x="668" y="27"/>
                    <a:pt x="668" y="27"/>
                  </a:cubicBezTo>
                  <a:cubicBezTo>
                    <a:pt x="674" y="27"/>
                    <a:pt x="674" y="27"/>
                    <a:pt x="674" y="27"/>
                  </a:cubicBezTo>
                  <a:cubicBezTo>
                    <a:pt x="674" y="50"/>
                    <a:pt x="674" y="50"/>
                    <a:pt x="674" y="50"/>
                  </a:cubicBezTo>
                  <a:cubicBezTo>
                    <a:pt x="674" y="54"/>
                    <a:pt x="675" y="58"/>
                    <a:pt x="677" y="61"/>
                  </a:cubicBezTo>
                  <a:cubicBezTo>
                    <a:pt x="679" y="63"/>
                    <a:pt x="681" y="64"/>
                    <a:pt x="685" y="64"/>
                  </a:cubicBezTo>
                  <a:cubicBezTo>
                    <a:pt x="688" y="64"/>
                    <a:pt x="690" y="63"/>
                    <a:pt x="691" y="63"/>
                  </a:cubicBezTo>
                  <a:cubicBezTo>
                    <a:pt x="691" y="57"/>
                    <a:pt x="691" y="57"/>
                    <a:pt x="691" y="57"/>
                  </a:cubicBezTo>
                  <a:cubicBezTo>
                    <a:pt x="690" y="57"/>
                    <a:pt x="689" y="57"/>
                    <a:pt x="687" y="57"/>
                  </a:cubicBezTo>
                  <a:cubicBezTo>
                    <a:pt x="683" y="57"/>
                    <a:pt x="681" y="54"/>
                    <a:pt x="681" y="49"/>
                  </a:cubicBezTo>
                  <a:cubicBezTo>
                    <a:pt x="681" y="27"/>
                    <a:pt x="681" y="27"/>
                    <a:pt x="681" y="27"/>
                  </a:cubicBezTo>
                  <a:cubicBezTo>
                    <a:pt x="691" y="27"/>
                    <a:pt x="691" y="27"/>
                    <a:pt x="691" y="27"/>
                  </a:cubicBezTo>
                  <a:cubicBezTo>
                    <a:pt x="691" y="21"/>
                    <a:pt x="691" y="21"/>
                    <a:pt x="691" y="21"/>
                  </a:cubicBezTo>
                  <a:cubicBezTo>
                    <a:pt x="681" y="21"/>
                    <a:pt x="681" y="21"/>
                    <a:pt x="681" y="21"/>
                  </a:cubicBezTo>
                  <a:cubicBezTo>
                    <a:pt x="681" y="11"/>
                    <a:pt x="681" y="11"/>
                    <a:pt x="681" y="11"/>
                  </a:cubicBezTo>
                  <a:lnTo>
                    <a:pt x="674" y="13"/>
                  </a:lnTo>
                  <a:close/>
                  <a:moveTo>
                    <a:pt x="658" y="4"/>
                  </a:moveTo>
                  <a:cubicBezTo>
                    <a:pt x="655" y="4"/>
                    <a:pt x="653" y="7"/>
                    <a:pt x="653" y="9"/>
                  </a:cubicBezTo>
                  <a:cubicBezTo>
                    <a:pt x="653" y="12"/>
                    <a:pt x="655" y="14"/>
                    <a:pt x="657" y="14"/>
                  </a:cubicBezTo>
                  <a:cubicBezTo>
                    <a:pt x="660" y="14"/>
                    <a:pt x="662" y="12"/>
                    <a:pt x="662" y="9"/>
                  </a:cubicBezTo>
                  <a:cubicBezTo>
                    <a:pt x="662" y="6"/>
                    <a:pt x="660" y="4"/>
                    <a:pt x="658" y="4"/>
                  </a:cubicBezTo>
                  <a:moveTo>
                    <a:pt x="661" y="21"/>
                  </a:moveTo>
                  <a:cubicBezTo>
                    <a:pt x="654" y="21"/>
                    <a:pt x="654" y="21"/>
                    <a:pt x="654" y="21"/>
                  </a:cubicBezTo>
                  <a:cubicBezTo>
                    <a:pt x="654" y="63"/>
                    <a:pt x="654" y="63"/>
                    <a:pt x="654" y="63"/>
                  </a:cubicBezTo>
                  <a:cubicBezTo>
                    <a:pt x="661" y="63"/>
                    <a:pt x="661" y="63"/>
                    <a:pt x="661" y="63"/>
                  </a:cubicBezTo>
                  <a:lnTo>
                    <a:pt x="661" y="21"/>
                  </a:lnTo>
                  <a:close/>
                  <a:moveTo>
                    <a:pt x="619" y="61"/>
                  </a:moveTo>
                  <a:cubicBezTo>
                    <a:pt x="622" y="63"/>
                    <a:pt x="626" y="64"/>
                    <a:pt x="630" y="64"/>
                  </a:cubicBezTo>
                  <a:cubicBezTo>
                    <a:pt x="640" y="64"/>
                    <a:pt x="645" y="59"/>
                    <a:pt x="645" y="51"/>
                  </a:cubicBezTo>
                  <a:cubicBezTo>
                    <a:pt x="645" y="45"/>
                    <a:pt x="641" y="41"/>
                    <a:pt x="635" y="39"/>
                  </a:cubicBezTo>
                  <a:cubicBezTo>
                    <a:pt x="630" y="36"/>
                    <a:pt x="627" y="35"/>
                    <a:pt x="627" y="31"/>
                  </a:cubicBezTo>
                  <a:cubicBezTo>
                    <a:pt x="627" y="28"/>
                    <a:pt x="630" y="26"/>
                    <a:pt x="634" y="26"/>
                  </a:cubicBezTo>
                  <a:cubicBezTo>
                    <a:pt x="637" y="26"/>
                    <a:pt x="640" y="27"/>
                    <a:pt x="642" y="28"/>
                  </a:cubicBezTo>
                  <a:cubicBezTo>
                    <a:pt x="643" y="23"/>
                    <a:pt x="643" y="23"/>
                    <a:pt x="643" y="23"/>
                  </a:cubicBezTo>
                  <a:cubicBezTo>
                    <a:pt x="641" y="21"/>
                    <a:pt x="638" y="20"/>
                    <a:pt x="634" y="20"/>
                  </a:cubicBezTo>
                  <a:cubicBezTo>
                    <a:pt x="626" y="20"/>
                    <a:pt x="621" y="26"/>
                    <a:pt x="621" y="32"/>
                  </a:cubicBezTo>
                  <a:cubicBezTo>
                    <a:pt x="621" y="37"/>
                    <a:pt x="624" y="41"/>
                    <a:pt x="631" y="44"/>
                  </a:cubicBezTo>
                  <a:cubicBezTo>
                    <a:pt x="636" y="46"/>
                    <a:pt x="638" y="48"/>
                    <a:pt x="638" y="52"/>
                  </a:cubicBezTo>
                  <a:cubicBezTo>
                    <a:pt x="638" y="55"/>
                    <a:pt x="636" y="58"/>
                    <a:pt x="631" y="58"/>
                  </a:cubicBezTo>
                  <a:cubicBezTo>
                    <a:pt x="627" y="58"/>
                    <a:pt x="623" y="56"/>
                    <a:pt x="621" y="55"/>
                  </a:cubicBezTo>
                  <a:lnTo>
                    <a:pt x="619" y="61"/>
                  </a:lnTo>
                  <a:close/>
                  <a:moveTo>
                    <a:pt x="596" y="63"/>
                  </a:moveTo>
                  <a:cubicBezTo>
                    <a:pt x="603" y="63"/>
                    <a:pt x="603" y="63"/>
                    <a:pt x="603" y="63"/>
                  </a:cubicBezTo>
                  <a:cubicBezTo>
                    <a:pt x="603" y="40"/>
                    <a:pt x="603" y="40"/>
                    <a:pt x="603" y="40"/>
                  </a:cubicBezTo>
                  <a:cubicBezTo>
                    <a:pt x="603" y="39"/>
                    <a:pt x="603" y="38"/>
                    <a:pt x="603" y="37"/>
                  </a:cubicBezTo>
                  <a:cubicBezTo>
                    <a:pt x="604" y="31"/>
                    <a:pt x="608" y="27"/>
                    <a:pt x="613" y="27"/>
                  </a:cubicBezTo>
                  <a:cubicBezTo>
                    <a:pt x="614" y="27"/>
                    <a:pt x="614" y="27"/>
                    <a:pt x="615" y="27"/>
                  </a:cubicBezTo>
                  <a:cubicBezTo>
                    <a:pt x="615" y="20"/>
                    <a:pt x="615" y="20"/>
                    <a:pt x="615" y="20"/>
                  </a:cubicBezTo>
                  <a:cubicBezTo>
                    <a:pt x="614" y="20"/>
                    <a:pt x="614" y="20"/>
                    <a:pt x="613" y="20"/>
                  </a:cubicBezTo>
                  <a:cubicBezTo>
                    <a:pt x="608" y="20"/>
                    <a:pt x="604" y="24"/>
                    <a:pt x="602" y="29"/>
                  </a:cubicBezTo>
                  <a:cubicBezTo>
                    <a:pt x="602" y="29"/>
                    <a:pt x="602" y="29"/>
                    <a:pt x="602" y="29"/>
                  </a:cubicBezTo>
                  <a:cubicBezTo>
                    <a:pt x="602" y="21"/>
                    <a:pt x="602" y="21"/>
                    <a:pt x="602" y="21"/>
                  </a:cubicBezTo>
                  <a:cubicBezTo>
                    <a:pt x="596" y="21"/>
                    <a:pt x="596" y="21"/>
                    <a:pt x="596" y="21"/>
                  </a:cubicBezTo>
                  <a:cubicBezTo>
                    <a:pt x="596" y="25"/>
                    <a:pt x="596" y="29"/>
                    <a:pt x="596" y="34"/>
                  </a:cubicBezTo>
                  <a:lnTo>
                    <a:pt x="596" y="63"/>
                  </a:lnTo>
                  <a:close/>
                  <a:moveTo>
                    <a:pt x="560" y="38"/>
                  </a:moveTo>
                  <a:cubicBezTo>
                    <a:pt x="560" y="33"/>
                    <a:pt x="563" y="26"/>
                    <a:pt x="570" y="26"/>
                  </a:cubicBezTo>
                  <a:cubicBezTo>
                    <a:pt x="578" y="26"/>
                    <a:pt x="580" y="33"/>
                    <a:pt x="580" y="38"/>
                  </a:cubicBezTo>
                  <a:lnTo>
                    <a:pt x="560" y="38"/>
                  </a:lnTo>
                  <a:close/>
                  <a:moveTo>
                    <a:pt x="587" y="43"/>
                  </a:moveTo>
                  <a:cubicBezTo>
                    <a:pt x="587" y="42"/>
                    <a:pt x="587" y="41"/>
                    <a:pt x="587" y="40"/>
                  </a:cubicBezTo>
                  <a:cubicBezTo>
                    <a:pt x="587" y="32"/>
                    <a:pt x="584" y="20"/>
                    <a:pt x="571" y="20"/>
                  </a:cubicBezTo>
                  <a:cubicBezTo>
                    <a:pt x="560" y="20"/>
                    <a:pt x="553" y="30"/>
                    <a:pt x="553" y="43"/>
                  </a:cubicBezTo>
                  <a:cubicBezTo>
                    <a:pt x="553" y="55"/>
                    <a:pt x="560" y="64"/>
                    <a:pt x="572" y="64"/>
                  </a:cubicBezTo>
                  <a:cubicBezTo>
                    <a:pt x="578" y="64"/>
                    <a:pt x="582" y="62"/>
                    <a:pt x="585" y="61"/>
                  </a:cubicBezTo>
                  <a:cubicBezTo>
                    <a:pt x="584" y="56"/>
                    <a:pt x="584" y="56"/>
                    <a:pt x="584" y="56"/>
                  </a:cubicBezTo>
                  <a:cubicBezTo>
                    <a:pt x="581" y="57"/>
                    <a:pt x="578" y="58"/>
                    <a:pt x="573" y="58"/>
                  </a:cubicBezTo>
                  <a:cubicBezTo>
                    <a:pt x="566" y="58"/>
                    <a:pt x="560" y="54"/>
                    <a:pt x="560" y="43"/>
                  </a:cubicBezTo>
                  <a:lnTo>
                    <a:pt x="587" y="43"/>
                  </a:lnTo>
                  <a:close/>
                  <a:moveTo>
                    <a:pt x="513" y="21"/>
                  </a:moveTo>
                  <a:cubicBezTo>
                    <a:pt x="528" y="63"/>
                    <a:pt x="528" y="63"/>
                    <a:pt x="528" y="63"/>
                  </a:cubicBezTo>
                  <a:cubicBezTo>
                    <a:pt x="534" y="63"/>
                    <a:pt x="534" y="63"/>
                    <a:pt x="534" y="63"/>
                  </a:cubicBezTo>
                  <a:cubicBezTo>
                    <a:pt x="550" y="21"/>
                    <a:pt x="550" y="21"/>
                    <a:pt x="550" y="21"/>
                  </a:cubicBezTo>
                  <a:cubicBezTo>
                    <a:pt x="542" y="21"/>
                    <a:pt x="542" y="21"/>
                    <a:pt x="542" y="21"/>
                  </a:cubicBezTo>
                  <a:cubicBezTo>
                    <a:pt x="535" y="44"/>
                    <a:pt x="535" y="44"/>
                    <a:pt x="535" y="44"/>
                  </a:cubicBezTo>
                  <a:cubicBezTo>
                    <a:pt x="533" y="48"/>
                    <a:pt x="532" y="52"/>
                    <a:pt x="531" y="55"/>
                  </a:cubicBezTo>
                  <a:cubicBezTo>
                    <a:pt x="531" y="55"/>
                    <a:pt x="531" y="55"/>
                    <a:pt x="531" y="55"/>
                  </a:cubicBezTo>
                  <a:cubicBezTo>
                    <a:pt x="530" y="52"/>
                    <a:pt x="529" y="48"/>
                    <a:pt x="528" y="44"/>
                  </a:cubicBezTo>
                  <a:cubicBezTo>
                    <a:pt x="520" y="21"/>
                    <a:pt x="520" y="21"/>
                    <a:pt x="520" y="21"/>
                  </a:cubicBezTo>
                  <a:lnTo>
                    <a:pt x="513" y="21"/>
                  </a:lnTo>
                  <a:close/>
                  <a:moveTo>
                    <a:pt x="502" y="4"/>
                  </a:moveTo>
                  <a:cubicBezTo>
                    <a:pt x="500" y="4"/>
                    <a:pt x="498" y="7"/>
                    <a:pt x="498" y="9"/>
                  </a:cubicBezTo>
                  <a:cubicBezTo>
                    <a:pt x="498" y="12"/>
                    <a:pt x="500" y="14"/>
                    <a:pt x="502" y="14"/>
                  </a:cubicBezTo>
                  <a:cubicBezTo>
                    <a:pt x="505" y="14"/>
                    <a:pt x="507" y="12"/>
                    <a:pt x="507" y="9"/>
                  </a:cubicBezTo>
                  <a:cubicBezTo>
                    <a:pt x="507" y="6"/>
                    <a:pt x="505" y="4"/>
                    <a:pt x="502" y="4"/>
                  </a:cubicBezTo>
                  <a:moveTo>
                    <a:pt x="506" y="21"/>
                  </a:moveTo>
                  <a:cubicBezTo>
                    <a:pt x="499" y="21"/>
                    <a:pt x="499" y="21"/>
                    <a:pt x="499" y="21"/>
                  </a:cubicBezTo>
                  <a:cubicBezTo>
                    <a:pt x="499" y="63"/>
                    <a:pt x="499" y="63"/>
                    <a:pt x="499" y="63"/>
                  </a:cubicBezTo>
                  <a:cubicBezTo>
                    <a:pt x="506" y="63"/>
                    <a:pt x="506" y="63"/>
                    <a:pt x="506" y="63"/>
                  </a:cubicBezTo>
                  <a:lnTo>
                    <a:pt x="506" y="21"/>
                  </a:lnTo>
                  <a:close/>
                  <a:moveTo>
                    <a:pt x="454" y="63"/>
                  </a:moveTo>
                  <a:cubicBezTo>
                    <a:pt x="461" y="63"/>
                    <a:pt x="461" y="63"/>
                    <a:pt x="461" y="63"/>
                  </a:cubicBezTo>
                  <a:cubicBezTo>
                    <a:pt x="461" y="38"/>
                    <a:pt x="461" y="38"/>
                    <a:pt x="461" y="38"/>
                  </a:cubicBezTo>
                  <a:cubicBezTo>
                    <a:pt x="461" y="36"/>
                    <a:pt x="462" y="35"/>
                    <a:pt x="462" y="34"/>
                  </a:cubicBezTo>
                  <a:cubicBezTo>
                    <a:pt x="463" y="30"/>
                    <a:pt x="467" y="26"/>
                    <a:pt x="471" y="26"/>
                  </a:cubicBezTo>
                  <a:cubicBezTo>
                    <a:pt x="478" y="26"/>
                    <a:pt x="480" y="32"/>
                    <a:pt x="480" y="39"/>
                  </a:cubicBezTo>
                  <a:cubicBezTo>
                    <a:pt x="480" y="63"/>
                    <a:pt x="480" y="63"/>
                    <a:pt x="480" y="63"/>
                  </a:cubicBezTo>
                  <a:cubicBezTo>
                    <a:pt x="487" y="63"/>
                    <a:pt x="487" y="63"/>
                    <a:pt x="487" y="63"/>
                  </a:cubicBezTo>
                  <a:cubicBezTo>
                    <a:pt x="487" y="38"/>
                    <a:pt x="487" y="38"/>
                    <a:pt x="487" y="38"/>
                  </a:cubicBezTo>
                  <a:cubicBezTo>
                    <a:pt x="487" y="24"/>
                    <a:pt x="479" y="20"/>
                    <a:pt x="474" y="20"/>
                  </a:cubicBezTo>
                  <a:cubicBezTo>
                    <a:pt x="467" y="20"/>
                    <a:pt x="463" y="24"/>
                    <a:pt x="461" y="28"/>
                  </a:cubicBezTo>
                  <a:cubicBezTo>
                    <a:pt x="461" y="28"/>
                    <a:pt x="461" y="28"/>
                    <a:pt x="461" y="28"/>
                  </a:cubicBezTo>
                  <a:cubicBezTo>
                    <a:pt x="460" y="21"/>
                    <a:pt x="460" y="21"/>
                    <a:pt x="460" y="21"/>
                  </a:cubicBezTo>
                  <a:cubicBezTo>
                    <a:pt x="454" y="21"/>
                    <a:pt x="454" y="21"/>
                    <a:pt x="454" y="21"/>
                  </a:cubicBezTo>
                  <a:cubicBezTo>
                    <a:pt x="454" y="24"/>
                    <a:pt x="454" y="28"/>
                    <a:pt x="454" y="32"/>
                  </a:cubicBezTo>
                  <a:lnTo>
                    <a:pt x="454" y="63"/>
                  </a:lnTo>
                  <a:close/>
                  <a:moveTo>
                    <a:pt x="402" y="5"/>
                  </a:moveTo>
                  <a:cubicBezTo>
                    <a:pt x="402" y="39"/>
                    <a:pt x="402" y="39"/>
                    <a:pt x="402" y="39"/>
                  </a:cubicBezTo>
                  <a:cubicBezTo>
                    <a:pt x="402" y="57"/>
                    <a:pt x="411" y="64"/>
                    <a:pt x="422" y="64"/>
                  </a:cubicBezTo>
                  <a:cubicBezTo>
                    <a:pt x="434" y="64"/>
                    <a:pt x="442" y="56"/>
                    <a:pt x="442" y="39"/>
                  </a:cubicBezTo>
                  <a:cubicBezTo>
                    <a:pt x="442" y="5"/>
                    <a:pt x="442" y="5"/>
                    <a:pt x="442" y="5"/>
                  </a:cubicBezTo>
                  <a:cubicBezTo>
                    <a:pt x="435" y="5"/>
                    <a:pt x="435" y="5"/>
                    <a:pt x="435" y="5"/>
                  </a:cubicBezTo>
                  <a:cubicBezTo>
                    <a:pt x="435" y="39"/>
                    <a:pt x="435" y="39"/>
                    <a:pt x="435" y="39"/>
                  </a:cubicBezTo>
                  <a:cubicBezTo>
                    <a:pt x="435" y="52"/>
                    <a:pt x="430" y="58"/>
                    <a:pt x="422" y="58"/>
                  </a:cubicBezTo>
                  <a:cubicBezTo>
                    <a:pt x="415" y="58"/>
                    <a:pt x="409" y="52"/>
                    <a:pt x="409" y="39"/>
                  </a:cubicBezTo>
                  <a:cubicBezTo>
                    <a:pt x="409" y="5"/>
                    <a:pt x="409" y="5"/>
                    <a:pt x="409" y="5"/>
                  </a:cubicBezTo>
                  <a:lnTo>
                    <a:pt x="402" y="5"/>
                  </a:lnTo>
                  <a:close/>
                  <a:moveTo>
                    <a:pt x="341" y="63"/>
                  </a:moveTo>
                  <a:cubicBezTo>
                    <a:pt x="348" y="63"/>
                    <a:pt x="348" y="63"/>
                    <a:pt x="348" y="63"/>
                  </a:cubicBezTo>
                  <a:cubicBezTo>
                    <a:pt x="348" y="38"/>
                    <a:pt x="348" y="38"/>
                    <a:pt x="348" y="38"/>
                  </a:cubicBezTo>
                  <a:cubicBezTo>
                    <a:pt x="348" y="36"/>
                    <a:pt x="348" y="35"/>
                    <a:pt x="348" y="34"/>
                  </a:cubicBezTo>
                  <a:cubicBezTo>
                    <a:pt x="349" y="30"/>
                    <a:pt x="353" y="26"/>
                    <a:pt x="358" y="26"/>
                  </a:cubicBezTo>
                  <a:cubicBezTo>
                    <a:pt x="364" y="26"/>
                    <a:pt x="367" y="32"/>
                    <a:pt x="367" y="39"/>
                  </a:cubicBezTo>
                  <a:cubicBezTo>
                    <a:pt x="367" y="63"/>
                    <a:pt x="367" y="63"/>
                    <a:pt x="367" y="63"/>
                  </a:cubicBezTo>
                  <a:cubicBezTo>
                    <a:pt x="374" y="63"/>
                    <a:pt x="374" y="63"/>
                    <a:pt x="374" y="63"/>
                  </a:cubicBezTo>
                  <a:cubicBezTo>
                    <a:pt x="374" y="38"/>
                    <a:pt x="374" y="38"/>
                    <a:pt x="374" y="38"/>
                  </a:cubicBezTo>
                  <a:cubicBezTo>
                    <a:pt x="374" y="24"/>
                    <a:pt x="365" y="20"/>
                    <a:pt x="360" y="20"/>
                  </a:cubicBezTo>
                  <a:cubicBezTo>
                    <a:pt x="354" y="20"/>
                    <a:pt x="349" y="24"/>
                    <a:pt x="347" y="28"/>
                  </a:cubicBezTo>
                  <a:cubicBezTo>
                    <a:pt x="347" y="28"/>
                    <a:pt x="347" y="28"/>
                    <a:pt x="347" y="28"/>
                  </a:cubicBezTo>
                  <a:cubicBezTo>
                    <a:pt x="347" y="21"/>
                    <a:pt x="347" y="21"/>
                    <a:pt x="347" y="2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1" y="24"/>
                    <a:pt x="341" y="28"/>
                    <a:pt x="341" y="32"/>
                  </a:cubicBezTo>
                  <a:lnTo>
                    <a:pt x="341" y="63"/>
                  </a:lnTo>
                  <a:close/>
                  <a:moveTo>
                    <a:pt x="313" y="26"/>
                  </a:moveTo>
                  <a:cubicBezTo>
                    <a:pt x="321" y="26"/>
                    <a:pt x="324" y="35"/>
                    <a:pt x="324" y="42"/>
                  </a:cubicBezTo>
                  <a:cubicBezTo>
                    <a:pt x="324" y="51"/>
                    <a:pt x="319" y="58"/>
                    <a:pt x="313" y="58"/>
                  </a:cubicBezTo>
                  <a:cubicBezTo>
                    <a:pt x="306" y="58"/>
                    <a:pt x="301" y="51"/>
                    <a:pt x="301" y="42"/>
                  </a:cubicBezTo>
                  <a:cubicBezTo>
                    <a:pt x="301" y="34"/>
                    <a:pt x="304" y="26"/>
                    <a:pt x="313" y="26"/>
                  </a:cubicBezTo>
                  <a:moveTo>
                    <a:pt x="313" y="20"/>
                  </a:moveTo>
                  <a:cubicBezTo>
                    <a:pt x="302" y="20"/>
                    <a:pt x="294" y="28"/>
                    <a:pt x="294" y="42"/>
                  </a:cubicBezTo>
                  <a:cubicBezTo>
                    <a:pt x="294" y="55"/>
                    <a:pt x="302" y="64"/>
                    <a:pt x="312" y="64"/>
                  </a:cubicBezTo>
                  <a:cubicBezTo>
                    <a:pt x="322" y="64"/>
                    <a:pt x="332" y="57"/>
                    <a:pt x="332" y="42"/>
                  </a:cubicBezTo>
                  <a:cubicBezTo>
                    <a:pt x="332" y="29"/>
                    <a:pt x="324" y="20"/>
                    <a:pt x="313" y="20"/>
                  </a:cubicBezTo>
                  <a:moveTo>
                    <a:pt x="281" y="4"/>
                  </a:moveTo>
                  <a:cubicBezTo>
                    <a:pt x="279" y="4"/>
                    <a:pt x="277" y="7"/>
                    <a:pt x="277" y="9"/>
                  </a:cubicBezTo>
                  <a:cubicBezTo>
                    <a:pt x="277" y="12"/>
                    <a:pt x="278" y="14"/>
                    <a:pt x="281" y="14"/>
                  </a:cubicBezTo>
                  <a:cubicBezTo>
                    <a:pt x="284" y="14"/>
                    <a:pt x="286" y="12"/>
                    <a:pt x="286" y="9"/>
                  </a:cubicBezTo>
                  <a:cubicBezTo>
                    <a:pt x="286" y="6"/>
                    <a:pt x="284" y="4"/>
                    <a:pt x="281" y="4"/>
                  </a:cubicBezTo>
                  <a:moveTo>
                    <a:pt x="285" y="21"/>
                  </a:moveTo>
                  <a:cubicBezTo>
                    <a:pt x="278" y="21"/>
                    <a:pt x="278" y="21"/>
                    <a:pt x="278" y="21"/>
                  </a:cubicBezTo>
                  <a:cubicBezTo>
                    <a:pt x="278" y="63"/>
                    <a:pt x="278" y="63"/>
                    <a:pt x="278" y="63"/>
                  </a:cubicBezTo>
                  <a:cubicBezTo>
                    <a:pt x="285" y="63"/>
                    <a:pt x="285" y="63"/>
                    <a:pt x="285" y="63"/>
                  </a:cubicBezTo>
                  <a:lnTo>
                    <a:pt x="285" y="21"/>
                  </a:lnTo>
                  <a:close/>
                  <a:moveTo>
                    <a:pt x="251" y="63"/>
                  </a:moveTo>
                  <a:cubicBezTo>
                    <a:pt x="258" y="63"/>
                    <a:pt x="258" y="63"/>
                    <a:pt x="258" y="63"/>
                  </a:cubicBezTo>
                  <a:cubicBezTo>
                    <a:pt x="258" y="40"/>
                    <a:pt x="258" y="40"/>
                    <a:pt x="258" y="40"/>
                  </a:cubicBezTo>
                  <a:cubicBezTo>
                    <a:pt x="258" y="39"/>
                    <a:pt x="258" y="38"/>
                    <a:pt x="258" y="37"/>
                  </a:cubicBezTo>
                  <a:cubicBezTo>
                    <a:pt x="259" y="31"/>
                    <a:pt x="263" y="27"/>
                    <a:pt x="268" y="27"/>
                  </a:cubicBezTo>
                  <a:cubicBezTo>
                    <a:pt x="269" y="27"/>
                    <a:pt x="270" y="27"/>
                    <a:pt x="270" y="27"/>
                  </a:cubicBezTo>
                  <a:cubicBezTo>
                    <a:pt x="270" y="20"/>
                    <a:pt x="270" y="20"/>
                    <a:pt x="270" y="20"/>
                  </a:cubicBezTo>
                  <a:cubicBezTo>
                    <a:pt x="270" y="20"/>
                    <a:pt x="269" y="20"/>
                    <a:pt x="268" y="20"/>
                  </a:cubicBezTo>
                  <a:cubicBezTo>
                    <a:pt x="264" y="20"/>
                    <a:pt x="259" y="24"/>
                    <a:pt x="257" y="29"/>
                  </a:cubicBezTo>
                  <a:cubicBezTo>
                    <a:pt x="257" y="29"/>
                    <a:pt x="257" y="29"/>
                    <a:pt x="257" y="29"/>
                  </a:cubicBezTo>
                  <a:cubicBezTo>
                    <a:pt x="257" y="21"/>
                    <a:pt x="257" y="21"/>
                    <a:pt x="257" y="21"/>
                  </a:cubicBezTo>
                  <a:cubicBezTo>
                    <a:pt x="251" y="21"/>
                    <a:pt x="251" y="21"/>
                    <a:pt x="251" y="21"/>
                  </a:cubicBezTo>
                  <a:cubicBezTo>
                    <a:pt x="251" y="25"/>
                    <a:pt x="251" y="29"/>
                    <a:pt x="251" y="34"/>
                  </a:cubicBezTo>
                  <a:lnTo>
                    <a:pt x="251" y="63"/>
                  </a:lnTo>
                  <a:close/>
                  <a:moveTo>
                    <a:pt x="239" y="21"/>
                  </a:moveTo>
                  <a:cubicBezTo>
                    <a:pt x="232" y="21"/>
                    <a:pt x="232" y="21"/>
                    <a:pt x="232" y="21"/>
                  </a:cubicBezTo>
                  <a:cubicBezTo>
                    <a:pt x="232" y="47"/>
                    <a:pt x="232" y="47"/>
                    <a:pt x="232" y="47"/>
                  </a:cubicBezTo>
                  <a:cubicBezTo>
                    <a:pt x="232" y="48"/>
                    <a:pt x="232" y="49"/>
                    <a:pt x="232" y="50"/>
                  </a:cubicBezTo>
                  <a:cubicBezTo>
                    <a:pt x="230" y="54"/>
                    <a:pt x="227" y="57"/>
                    <a:pt x="222" y="57"/>
                  </a:cubicBezTo>
                  <a:cubicBezTo>
                    <a:pt x="216" y="57"/>
                    <a:pt x="214" y="52"/>
                    <a:pt x="214" y="44"/>
                  </a:cubicBezTo>
                  <a:cubicBezTo>
                    <a:pt x="214" y="21"/>
                    <a:pt x="214" y="21"/>
                    <a:pt x="214" y="21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6" y="45"/>
                    <a:pt x="206" y="45"/>
                    <a:pt x="206" y="45"/>
                  </a:cubicBezTo>
                  <a:cubicBezTo>
                    <a:pt x="206" y="60"/>
                    <a:pt x="214" y="64"/>
                    <a:pt x="220" y="64"/>
                  </a:cubicBezTo>
                  <a:cubicBezTo>
                    <a:pt x="227" y="64"/>
                    <a:pt x="231" y="59"/>
                    <a:pt x="233" y="56"/>
                  </a:cubicBezTo>
                  <a:cubicBezTo>
                    <a:pt x="233" y="56"/>
                    <a:pt x="233" y="56"/>
                    <a:pt x="233" y="56"/>
                  </a:cubicBezTo>
                  <a:cubicBezTo>
                    <a:pt x="233" y="63"/>
                    <a:pt x="233" y="63"/>
                    <a:pt x="233" y="63"/>
                  </a:cubicBezTo>
                  <a:cubicBezTo>
                    <a:pt x="240" y="63"/>
                    <a:pt x="240" y="63"/>
                    <a:pt x="240" y="63"/>
                  </a:cubicBezTo>
                  <a:cubicBezTo>
                    <a:pt x="239" y="60"/>
                    <a:pt x="239" y="56"/>
                    <a:pt x="239" y="51"/>
                  </a:cubicBezTo>
                  <a:lnTo>
                    <a:pt x="239" y="21"/>
                  </a:lnTo>
                  <a:close/>
                  <a:moveTo>
                    <a:pt x="196" y="32"/>
                  </a:moveTo>
                  <a:cubicBezTo>
                    <a:pt x="178" y="32"/>
                    <a:pt x="178" y="32"/>
                    <a:pt x="178" y="32"/>
                  </a:cubicBezTo>
                  <a:cubicBezTo>
                    <a:pt x="178" y="38"/>
                    <a:pt x="178" y="38"/>
                    <a:pt x="178" y="38"/>
                  </a:cubicBezTo>
                  <a:cubicBezTo>
                    <a:pt x="189" y="38"/>
                    <a:pt x="189" y="38"/>
                    <a:pt x="189" y="38"/>
                  </a:cubicBezTo>
                  <a:cubicBezTo>
                    <a:pt x="189" y="56"/>
                    <a:pt x="189" y="56"/>
                    <a:pt x="189" y="56"/>
                  </a:cubicBezTo>
                  <a:cubicBezTo>
                    <a:pt x="188" y="56"/>
                    <a:pt x="185" y="57"/>
                    <a:pt x="180" y="57"/>
                  </a:cubicBezTo>
                  <a:cubicBezTo>
                    <a:pt x="167" y="57"/>
                    <a:pt x="159" y="48"/>
                    <a:pt x="159" y="34"/>
                  </a:cubicBezTo>
                  <a:cubicBezTo>
                    <a:pt x="159" y="19"/>
                    <a:pt x="168" y="10"/>
                    <a:pt x="181" y="10"/>
                  </a:cubicBezTo>
                  <a:cubicBezTo>
                    <a:pt x="186" y="10"/>
                    <a:pt x="190" y="11"/>
                    <a:pt x="193" y="13"/>
                  </a:cubicBezTo>
                  <a:cubicBezTo>
                    <a:pt x="195" y="7"/>
                    <a:pt x="195" y="7"/>
                    <a:pt x="195" y="7"/>
                  </a:cubicBezTo>
                  <a:cubicBezTo>
                    <a:pt x="192" y="5"/>
                    <a:pt x="187" y="4"/>
                    <a:pt x="181" y="4"/>
                  </a:cubicBezTo>
                  <a:cubicBezTo>
                    <a:pt x="163" y="4"/>
                    <a:pt x="152" y="17"/>
                    <a:pt x="152" y="34"/>
                  </a:cubicBezTo>
                  <a:cubicBezTo>
                    <a:pt x="152" y="43"/>
                    <a:pt x="155" y="51"/>
                    <a:pt x="159" y="56"/>
                  </a:cubicBezTo>
                  <a:cubicBezTo>
                    <a:pt x="165" y="61"/>
                    <a:pt x="171" y="63"/>
                    <a:pt x="180" y="63"/>
                  </a:cubicBezTo>
                  <a:cubicBezTo>
                    <a:pt x="187" y="63"/>
                    <a:pt x="193" y="62"/>
                    <a:pt x="196" y="60"/>
                  </a:cubicBezTo>
                  <a:lnTo>
                    <a:pt x="196" y="32"/>
                  </a:lnTo>
                  <a:close/>
                  <a:moveTo>
                    <a:pt x="126" y="42"/>
                  </a:moveTo>
                  <a:cubicBezTo>
                    <a:pt x="145" y="42"/>
                    <a:pt x="145" y="42"/>
                    <a:pt x="145" y="42"/>
                  </a:cubicBezTo>
                  <a:cubicBezTo>
                    <a:pt x="145" y="37"/>
                    <a:pt x="145" y="37"/>
                    <a:pt x="145" y="37"/>
                  </a:cubicBezTo>
                  <a:cubicBezTo>
                    <a:pt x="126" y="37"/>
                    <a:pt x="126" y="37"/>
                    <a:pt x="126" y="37"/>
                  </a:cubicBezTo>
                  <a:lnTo>
                    <a:pt x="126" y="42"/>
                  </a:lnTo>
                  <a:close/>
                  <a:moveTo>
                    <a:pt x="84" y="63"/>
                  </a:moveTo>
                  <a:cubicBezTo>
                    <a:pt x="91" y="63"/>
                    <a:pt x="91" y="63"/>
                    <a:pt x="91" y="63"/>
                  </a:cubicBezTo>
                  <a:cubicBezTo>
                    <a:pt x="91" y="38"/>
                    <a:pt x="91" y="38"/>
                    <a:pt x="91" y="38"/>
                  </a:cubicBezTo>
                  <a:cubicBezTo>
                    <a:pt x="91" y="36"/>
                    <a:pt x="92" y="35"/>
                    <a:pt x="92" y="34"/>
                  </a:cubicBezTo>
                  <a:cubicBezTo>
                    <a:pt x="93" y="30"/>
                    <a:pt x="97" y="26"/>
                    <a:pt x="101" y="26"/>
                  </a:cubicBezTo>
                  <a:cubicBezTo>
                    <a:pt x="108" y="26"/>
                    <a:pt x="110" y="32"/>
                    <a:pt x="110" y="39"/>
                  </a:cubicBezTo>
                  <a:cubicBezTo>
                    <a:pt x="110" y="63"/>
                    <a:pt x="110" y="63"/>
                    <a:pt x="110" y="63"/>
                  </a:cubicBezTo>
                  <a:cubicBezTo>
                    <a:pt x="117" y="63"/>
                    <a:pt x="117" y="63"/>
                    <a:pt x="117" y="63"/>
                  </a:cubicBezTo>
                  <a:cubicBezTo>
                    <a:pt x="117" y="38"/>
                    <a:pt x="117" y="38"/>
                    <a:pt x="117" y="38"/>
                  </a:cubicBezTo>
                  <a:cubicBezTo>
                    <a:pt x="117" y="24"/>
                    <a:pt x="109" y="20"/>
                    <a:pt x="104" y="20"/>
                  </a:cubicBezTo>
                  <a:cubicBezTo>
                    <a:pt x="97" y="20"/>
                    <a:pt x="93" y="24"/>
                    <a:pt x="91" y="28"/>
                  </a:cubicBezTo>
                  <a:cubicBezTo>
                    <a:pt x="91" y="28"/>
                    <a:pt x="91" y="28"/>
                    <a:pt x="91" y="28"/>
                  </a:cubicBezTo>
                  <a:cubicBezTo>
                    <a:pt x="90" y="21"/>
                    <a:pt x="90" y="21"/>
                    <a:pt x="90" y="21"/>
                  </a:cubicBezTo>
                  <a:cubicBezTo>
                    <a:pt x="84" y="21"/>
                    <a:pt x="84" y="21"/>
                    <a:pt x="84" y="21"/>
                  </a:cubicBezTo>
                  <a:cubicBezTo>
                    <a:pt x="84" y="24"/>
                    <a:pt x="84" y="28"/>
                    <a:pt x="84" y="32"/>
                  </a:cubicBezTo>
                  <a:lnTo>
                    <a:pt x="84" y="63"/>
                  </a:lnTo>
                  <a:close/>
                  <a:moveTo>
                    <a:pt x="48" y="38"/>
                  </a:moveTo>
                  <a:cubicBezTo>
                    <a:pt x="49" y="33"/>
                    <a:pt x="52" y="26"/>
                    <a:pt x="59" y="26"/>
                  </a:cubicBezTo>
                  <a:cubicBezTo>
                    <a:pt x="67" y="26"/>
                    <a:pt x="69" y="33"/>
                    <a:pt x="69" y="38"/>
                  </a:cubicBezTo>
                  <a:lnTo>
                    <a:pt x="48" y="38"/>
                  </a:lnTo>
                  <a:close/>
                  <a:moveTo>
                    <a:pt x="75" y="43"/>
                  </a:moveTo>
                  <a:cubicBezTo>
                    <a:pt x="76" y="42"/>
                    <a:pt x="76" y="41"/>
                    <a:pt x="76" y="40"/>
                  </a:cubicBezTo>
                  <a:cubicBezTo>
                    <a:pt x="76" y="32"/>
                    <a:pt x="72" y="20"/>
                    <a:pt x="60" y="20"/>
                  </a:cubicBezTo>
                  <a:cubicBezTo>
                    <a:pt x="48" y="20"/>
                    <a:pt x="41" y="30"/>
                    <a:pt x="41" y="43"/>
                  </a:cubicBezTo>
                  <a:cubicBezTo>
                    <a:pt x="41" y="55"/>
                    <a:pt x="48" y="64"/>
                    <a:pt x="60" y="64"/>
                  </a:cubicBezTo>
                  <a:cubicBezTo>
                    <a:pt x="67" y="64"/>
                    <a:pt x="71" y="62"/>
                    <a:pt x="73" y="61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70" y="57"/>
                    <a:pt x="66" y="58"/>
                    <a:pt x="61" y="58"/>
                  </a:cubicBezTo>
                  <a:cubicBezTo>
                    <a:pt x="54" y="58"/>
                    <a:pt x="48" y="54"/>
                    <a:pt x="48" y="43"/>
                  </a:cubicBezTo>
                  <a:lnTo>
                    <a:pt x="75" y="43"/>
                  </a:lnTo>
                  <a:close/>
                  <a:moveTo>
                    <a:pt x="7" y="35"/>
                  </a:moveTo>
                  <a:cubicBezTo>
                    <a:pt x="13" y="35"/>
                    <a:pt x="13" y="35"/>
                    <a:pt x="13" y="35"/>
                  </a:cubicBezTo>
                  <a:cubicBezTo>
                    <a:pt x="21" y="35"/>
                    <a:pt x="27" y="38"/>
                    <a:pt x="27" y="46"/>
                  </a:cubicBezTo>
                  <a:cubicBezTo>
                    <a:pt x="27" y="55"/>
                    <a:pt x="21" y="57"/>
                    <a:pt x="13" y="57"/>
                  </a:cubicBezTo>
                  <a:cubicBezTo>
                    <a:pt x="11" y="57"/>
                    <a:pt x="9" y="57"/>
                    <a:pt x="7" y="57"/>
                  </a:cubicBezTo>
                  <a:lnTo>
                    <a:pt x="7" y="35"/>
                  </a:lnTo>
                  <a:close/>
                  <a:moveTo>
                    <a:pt x="7" y="10"/>
                  </a:moveTo>
                  <a:cubicBezTo>
                    <a:pt x="9" y="10"/>
                    <a:pt x="10" y="10"/>
                    <a:pt x="14" y="10"/>
                  </a:cubicBezTo>
                  <a:cubicBezTo>
                    <a:pt x="21" y="10"/>
                    <a:pt x="25" y="13"/>
                    <a:pt x="25" y="19"/>
                  </a:cubicBezTo>
                  <a:cubicBezTo>
                    <a:pt x="25" y="25"/>
                    <a:pt x="21" y="29"/>
                    <a:pt x="14" y="29"/>
                  </a:cubicBezTo>
                  <a:cubicBezTo>
                    <a:pt x="7" y="29"/>
                    <a:pt x="7" y="29"/>
                    <a:pt x="7" y="29"/>
                  </a:cubicBezTo>
                  <a:lnTo>
                    <a:pt x="7" y="10"/>
                  </a:lnTo>
                  <a:close/>
                  <a:moveTo>
                    <a:pt x="0" y="63"/>
                  </a:moveTo>
                  <a:cubicBezTo>
                    <a:pt x="3" y="63"/>
                    <a:pt x="6" y="63"/>
                    <a:pt x="11" y="63"/>
                  </a:cubicBezTo>
                  <a:cubicBezTo>
                    <a:pt x="20" y="63"/>
                    <a:pt x="26" y="62"/>
                    <a:pt x="30" y="58"/>
                  </a:cubicBezTo>
                  <a:cubicBezTo>
                    <a:pt x="33" y="55"/>
                    <a:pt x="35" y="51"/>
                    <a:pt x="35" y="46"/>
                  </a:cubicBezTo>
                  <a:cubicBezTo>
                    <a:pt x="35" y="38"/>
                    <a:pt x="29" y="33"/>
                    <a:pt x="23" y="32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9" y="29"/>
                    <a:pt x="33" y="24"/>
                    <a:pt x="33" y="19"/>
                  </a:cubicBezTo>
                  <a:cubicBezTo>
                    <a:pt x="33" y="14"/>
                    <a:pt x="31" y="11"/>
                    <a:pt x="28" y="8"/>
                  </a:cubicBezTo>
                  <a:cubicBezTo>
                    <a:pt x="25" y="5"/>
                    <a:pt x="20" y="4"/>
                    <a:pt x="13" y="4"/>
                  </a:cubicBezTo>
                  <a:cubicBezTo>
                    <a:pt x="8" y="4"/>
                    <a:pt x="3" y="5"/>
                    <a:pt x="0" y="5"/>
                  </a:cubicBezTo>
                  <a:lnTo>
                    <a:pt x="0" y="63"/>
                  </a:ln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AE1A2D2D-D313-4697-B7B5-DEB9CBACE1D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6876" y="6273800"/>
              <a:ext cx="2012950" cy="168275"/>
            </a:xfrm>
            <a:custGeom>
              <a:avLst/>
              <a:gdLst>
                <a:gd name="T0" fmla="*/ 1166 w 1179"/>
                <a:gd name="T1" fmla="*/ 17 h 97"/>
                <a:gd name="T2" fmla="*/ 1121 w 1179"/>
                <a:gd name="T3" fmla="*/ 42 h 97"/>
                <a:gd name="T4" fmla="*/ 1170 w 1179"/>
                <a:gd name="T5" fmla="*/ 72 h 97"/>
                <a:gd name="T6" fmla="*/ 1090 w 1179"/>
                <a:gd name="T7" fmla="*/ 0 h 97"/>
                <a:gd name="T8" fmla="*/ 1094 w 1179"/>
                <a:gd name="T9" fmla="*/ 72 h 97"/>
                <a:gd name="T10" fmla="*/ 1046 w 1179"/>
                <a:gd name="T11" fmla="*/ 1 h 97"/>
                <a:gd name="T12" fmla="*/ 1045 w 1179"/>
                <a:gd name="T13" fmla="*/ 64 h 97"/>
                <a:gd name="T14" fmla="*/ 1018 w 1179"/>
                <a:gd name="T15" fmla="*/ 0 h 97"/>
                <a:gd name="T16" fmla="*/ 1022 w 1179"/>
                <a:gd name="T17" fmla="*/ 16 h 97"/>
                <a:gd name="T18" fmla="*/ 998 w 1179"/>
                <a:gd name="T19" fmla="*/ 58 h 97"/>
                <a:gd name="T20" fmla="*/ 954 w 1179"/>
                <a:gd name="T21" fmla="*/ 10 h 97"/>
                <a:gd name="T22" fmla="*/ 951 w 1179"/>
                <a:gd name="T23" fmla="*/ 72 h 97"/>
                <a:gd name="T24" fmla="*/ 891 w 1179"/>
                <a:gd name="T25" fmla="*/ 2 h 97"/>
                <a:gd name="T26" fmla="*/ 938 w 1179"/>
                <a:gd name="T27" fmla="*/ 72 h 97"/>
                <a:gd name="T28" fmla="*/ 835 w 1179"/>
                <a:gd name="T29" fmla="*/ 11 h 97"/>
                <a:gd name="T30" fmla="*/ 873 w 1179"/>
                <a:gd name="T31" fmla="*/ 8 h 97"/>
                <a:gd name="T32" fmla="*/ 820 w 1179"/>
                <a:gd name="T33" fmla="*/ 40 h 97"/>
                <a:gd name="T34" fmla="*/ 799 w 1179"/>
                <a:gd name="T35" fmla="*/ 3 h 97"/>
                <a:gd name="T36" fmla="*/ 787 w 1179"/>
                <a:gd name="T37" fmla="*/ 7 h 97"/>
                <a:gd name="T38" fmla="*/ 756 w 1179"/>
                <a:gd name="T39" fmla="*/ 0 h 97"/>
                <a:gd name="T40" fmla="*/ 761 w 1179"/>
                <a:gd name="T41" fmla="*/ 59 h 97"/>
                <a:gd name="T42" fmla="*/ 746 w 1179"/>
                <a:gd name="T43" fmla="*/ 73 h 97"/>
                <a:gd name="T44" fmla="*/ 666 w 1179"/>
                <a:gd name="T45" fmla="*/ 0 h 97"/>
                <a:gd name="T46" fmla="*/ 638 w 1179"/>
                <a:gd name="T47" fmla="*/ 66 h 97"/>
                <a:gd name="T48" fmla="*/ 658 w 1179"/>
                <a:gd name="T49" fmla="*/ 50 h 97"/>
                <a:gd name="T50" fmla="*/ 693 w 1179"/>
                <a:gd name="T51" fmla="*/ 72 h 97"/>
                <a:gd name="T52" fmla="*/ 591 w 1179"/>
                <a:gd name="T53" fmla="*/ 31 h 97"/>
                <a:gd name="T54" fmla="*/ 559 w 1179"/>
                <a:gd name="T55" fmla="*/ 8 h 97"/>
                <a:gd name="T56" fmla="*/ 599 w 1179"/>
                <a:gd name="T57" fmla="*/ 72 h 97"/>
                <a:gd name="T58" fmla="*/ 511 w 1179"/>
                <a:gd name="T59" fmla="*/ 1 h 97"/>
                <a:gd name="T60" fmla="*/ 529 w 1179"/>
                <a:gd name="T61" fmla="*/ 97 h 97"/>
                <a:gd name="T62" fmla="*/ 503 w 1179"/>
                <a:gd name="T63" fmla="*/ 33 h 97"/>
                <a:gd name="T64" fmla="*/ 427 w 1179"/>
                <a:gd name="T65" fmla="*/ 8 h 97"/>
                <a:gd name="T66" fmla="*/ 444 w 1179"/>
                <a:gd name="T67" fmla="*/ 49 h 97"/>
                <a:gd name="T68" fmla="*/ 427 w 1179"/>
                <a:gd name="T69" fmla="*/ 73 h 97"/>
                <a:gd name="T70" fmla="*/ 459 w 1179"/>
                <a:gd name="T71" fmla="*/ 71 h 97"/>
                <a:gd name="T72" fmla="*/ 392 w 1179"/>
                <a:gd name="T73" fmla="*/ 1 h 97"/>
                <a:gd name="T74" fmla="*/ 410 w 1179"/>
                <a:gd name="T75" fmla="*/ 72 h 97"/>
                <a:gd name="T76" fmla="*/ 333 w 1179"/>
                <a:gd name="T77" fmla="*/ 10 h 97"/>
                <a:gd name="T78" fmla="*/ 380 w 1179"/>
                <a:gd name="T79" fmla="*/ 31 h 97"/>
                <a:gd name="T80" fmla="*/ 304 w 1179"/>
                <a:gd name="T81" fmla="*/ 8 h 97"/>
                <a:gd name="T82" fmla="*/ 322 w 1179"/>
                <a:gd name="T83" fmla="*/ 15 h 97"/>
                <a:gd name="T84" fmla="*/ 275 w 1179"/>
                <a:gd name="T85" fmla="*/ 8 h 97"/>
                <a:gd name="T86" fmla="*/ 293 w 1179"/>
                <a:gd name="T87" fmla="*/ 15 h 97"/>
                <a:gd name="T88" fmla="*/ 245 w 1179"/>
                <a:gd name="T89" fmla="*/ 8 h 97"/>
                <a:gd name="T90" fmla="*/ 263 w 1179"/>
                <a:gd name="T91" fmla="*/ 15 h 97"/>
                <a:gd name="T92" fmla="*/ 171 w 1179"/>
                <a:gd name="T93" fmla="*/ 0 h 97"/>
                <a:gd name="T94" fmla="*/ 192 w 1179"/>
                <a:gd name="T95" fmla="*/ 58 h 97"/>
                <a:gd name="T96" fmla="*/ 140 w 1179"/>
                <a:gd name="T97" fmla="*/ 23 h 97"/>
                <a:gd name="T98" fmla="*/ 118 w 1179"/>
                <a:gd name="T99" fmla="*/ 8 h 97"/>
                <a:gd name="T100" fmla="*/ 140 w 1179"/>
                <a:gd name="T101" fmla="*/ 23 h 97"/>
                <a:gd name="T102" fmla="*/ 67 w 1179"/>
                <a:gd name="T103" fmla="*/ 8 h 97"/>
                <a:gd name="T104" fmla="*/ 84 w 1179"/>
                <a:gd name="T105" fmla="*/ 49 h 97"/>
                <a:gd name="T106" fmla="*/ 67 w 1179"/>
                <a:gd name="T107" fmla="*/ 73 h 97"/>
                <a:gd name="T108" fmla="*/ 99 w 1179"/>
                <a:gd name="T109" fmla="*/ 71 h 97"/>
                <a:gd name="T110" fmla="*/ 38 w 1179"/>
                <a:gd name="T111" fmla="*/ 7 h 97"/>
                <a:gd name="T112" fmla="*/ 38 w 1179"/>
                <a:gd name="T113" fmla="*/ 33 h 97"/>
                <a:gd name="T114" fmla="*/ 56 w 1179"/>
                <a:gd name="T115" fmla="*/ 64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79" h="97">
                  <a:moveTo>
                    <a:pt x="1179" y="71"/>
                  </a:moveTo>
                  <a:cubicBezTo>
                    <a:pt x="1175" y="63"/>
                    <a:pt x="1169" y="54"/>
                    <a:pt x="1162" y="45"/>
                  </a:cubicBezTo>
                  <a:cubicBezTo>
                    <a:pt x="1171" y="34"/>
                    <a:pt x="1176" y="23"/>
                    <a:pt x="1176" y="11"/>
                  </a:cubicBezTo>
                  <a:cubicBezTo>
                    <a:pt x="1176" y="0"/>
                    <a:pt x="1176" y="0"/>
                    <a:pt x="1176" y="0"/>
                  </a:cubicBezTo>
                  <a:cubicBezTo>
                    <a:pt x="1166" y="0"/>
                    <a:pt x="1166" y="0"/>
                    <a:pt x="1166" y="0"/>
                  </a:cubicBezTo>
                  <a:cubicBezTo>
                    <a:pt x="1166" y="17"/>
                    <a:pt x="1166" y="17"/>
                    <a:pt x="1166" y="17"/>
                  </a:cubicBezTo>
                  <a:cubicBezTo>
                    <a:pt x="1166" y="25"/>
                    <a:pt x="1164" y="33"/>
                    <a:pt x="1159" y="41"/>
                  </a:cubicBezTo>
                  <a:cubicBezTo>
                    <a:pt x="1144" y="22"/>
                    <a:pt x="1134" y="9"/>
                    <a:pt x="1126" y="0"/>
                  </a:cubicBezTo>
                  <a:cubicBezTo>
                    <a:pt x="1116" y="0"/>
                    <a:pt x="1116" y="0"/>
                    <a:pt x="1116" y="0"/>
                  </a:cubicBezTo>
                  <a:cubicBezTo>
                    <a:pt x="1116" y="2"/>
                    <a:pt x="1116" y="2"/>
                    <a:pt x="1116" y="2"/>
                  </a:cubicBezTo>
                  <a:cubicBezTo>
                    <a:pt x="1124" y="11"/>
                    <a:pt x="1130" y="18"/>
                    <a:pt x="1132" y="21"/>
                  </a:cubicBezTo>
                  <a:cubicBezTo>
                    <a:pt x="1126" y="29"/>
                    <a:pt x="1123" y="36"/>
                    <a:pt x="1121" y="42"/>
                  </a:cubicBezTo>
                  <a:cubicBezTo>
                    <a:pt x="1119" y="46"/>
                    <a:pt x="1119" y="53"/>
                    <a:pt x="1119" y="61"/>
                  </a:cubicBezTo>
                  <a:cubicBezTo>
                    <a:pt x="1119" y="72"/>
                    <a:pt x="1119" y="72"/>
                    <a:pt x="1119" y="72"/>
                  </a:cubicBezTo>
                  <a:cubicBezTo>
                    <a:pt x="1128" y="72"/>
                    <a:pt x="1128" y="72"/>
                    <a:pt x="1128" y="72"/>
                  </a:cubicBezTo>
                  <a:cubicBezTo>
                    <a:pt x="1128" y="57"/>
                    <a:pt x="1128" y="57"/>
                    <a:pt x="1128" y="57"/>
                  </a:cubicBezTo>
                  <a:cubicBezTo>
                    <a:pt x="1128" y="43"/>
                    <a:pt x="1131" y="33"/>
                    <a:pt x="1136" y="25"/>
                  </a:cubicBezTo>
                  <a:cubicBezTo>
                    <a:pt x="1150" y="42"/>
                    <a:pt x="1161" y="58"/>
                    <a:pt x="1170" y="72"/>
                  </a:cubicBezTo>
                  <a:cubicBezTo>
                    <a:pt x="1179" y="72"/>
                    <a:pt x="1179" y="72"/>
                    <a:pt x="1179" y="72"/>
                  </a:cubicBezTo>
                  <a:lnTo>
                    <a:pt x="1179" y="71"/>
                  </a:lnTo>
                  <a:close/>
                  <a:moveTo>
                    <a:pt x="1103" y="15"/>
                  </a:moveTo>
                  <a:cubicBezTo>
                    <a:pt x="1103" y="10"/>
                    <a:pt x="1102" y="6"/>
                    <a:pt x="1099" y="3"/>
                  </a:cubicBezTo>
                  <a:cubicBezTo>
                    <a:pt x="1096" y="1"/>
                    <a:pt x="1094" y="0"/>
                    <a:pt x="1090" y="0"/>
                  </a:cubicBezTo>
                  <a:cubicBezTo>
                    <a:pt x="1090" y="0"/>
                    <a:pt x="1090" y="0"/>
                    <a:pt x="1090" y="0"/>
                  </a:cubicBezTo>
                  <a:cubicBezTo>
                    <a:pt x="1088" y="0"/>
                    <a:pt x="1086" y="0"/>
                    <a:pt x="1085" y="1"/>
                  </a:cubicBezTo>
                  <a:cubicBezTo>
                    <a:pt x="1085" y="8"/>
                    <a:pt x="1085" y="8"/>
                    <a:pt x="1085" y="8"/>
                  </a:cubicBezTo>
                  <a:cubicBezTo>
                    <a:pt x="1085" y="8"/>
                    <a:pt x="1085" y="8"/>
                    <a:pt x="1086" y="7"/>
                  </a:cubicBezTo>
                  <a:cubicBezTo>
                    <a:pt x="1087" y="7"/>
                    <a:pt x="1087" y="7"/>
                    <a:pt x="1087" y="7"/>
                  </a:cubicBezTo>
                  <a:cubicBezTo>
                    <a:pt x="1092" y="7"/>
                    <a:pt x="1094" y="10"/>
                    <a:pt x="1094" y="16"/>
                  </a:cubicBezTo>
                  <a:cubicBezTo>
                    <a:pt x="1094" y="72"/>
                    <a:pt x="1094" y="72"/>
                    <a:pt x="1094" y="72"/>
                  </a:cubicBezTo>
                  <a:cubicBezTo>
                    <a:pt x="1103" y="72"/>
                    <a:pt x="1103" y="72"/>
                    <a:pt x="1103" y="72"/>
                  </a:cubicBezTo>
                  <a:lnTo>
                    <a:pt x="1103" y="15"/>
                  </a:lnTo>
                  <a:close/>
                  <a:moveTo>
                    <a:pt x="1074" y="23"/>
                  </a:moveTo>
                  <a:cubicBezTo>
                    <a:pt x="1074" y="15"/>
                    <a:pt x="1071" y="9"/>
                    <a:pt x="1067" y="5"/>
                  </a:cubicBezTo>
                  <a:cubicBezTo>
                    <a:pt x="1063" y="2"/>
                    <a:pt x="1059" y="0"/>
                    <a:pt x="1053" y="0"/>
                  </a:cubicBezTo>
                  <a:cubicBezTo>
                    <a:pt x="1050" y="0"/>
                    <a:pt x="1048" y="1"/>
                    <a:pt x="1046" y="1"/>
                  </a:cubicBezTo>
                  <a:cubicBezTo>
                    <a:pt x="1046" y="9"/>
                    <a:pt x="1046" y="9"/>
                    <a:pt x="1046" y="9"/>
                  </a:cubicBezTo>
                  <a:cubicBezTo>
                    <a:pt x="1047" y="9"/>
                    <a:pt x="1047" y="9"/>
                    <a:pt x="1047" y="9"/>
                  </a:cubicBezTo>
                  <a:cubicBezTo>
                    <a:pt x="1048" y="8"/>
                    <a:pt x="1050" y="8"/>
                    <a:pt x="1052" y="8"/>
                  </a:cubicBezTo>
                  <a:cubicBezTo>
                    <a:pt x="1060" y="8"/>
                    <a:pt x="1065" y="13"/>
                    <a:pt x="1065" y="24"/>
                  </a:cubicBezTo>
                  <a:cubicBezTo>
                    <a:pt x="1065" y="64"/>
                    <a:pt x="1065" y="64"/>
                    <a:pt x="1065" y="64"/>
                  </a:cubicBezTo>
                  <a:cubicBezTo>
                    <a:pt x="1045" y="64"/>
                    <a:pt x="1045" y="64"/>
                    <a:pt x="1045" y="64"/>
                  </a:cubicBezTo>
                  <a:cubicBezTo>
                    <a:pt x="1045" y="72"/>
                    <a:pt x="1045" y="72"/>
                    <a:pt x="1045" y="72"/>
                  </a:cubicBezTo>
                  <a:cubicBezTo>
                    <a:pt x="1074" y="72"/>
                    <a:pt x="1074" y="72"/>
                    <a:pt x="1074" y="72"/>
                  </a:cubicBezTo>
                  <a:lnTo>
                    <a:pt x="1074" y="23"/>
                  </a:lnTo>
                  <a:close/>
                  <a:moveTo>
                    <a:pt x="1031" y="15"/>
                  </a:moveTo>
                  <a:cubicBezTo>
                    <a:pt x="1031" y="10"/>
                    <a:pt x="1029" y="6"/>
                    <a:pt x="1026" y="3"/>
                  </a:cubicBezTo>
                  <a:cubicBezTo>
                    <a:pt x="1024" y="1"/>
                    <a:pt x="1021" y="0"/>
                    <a:pt x="1018" y="0"/>
                  </a:cubicBezTo>
                  <a:cubicBezTo>
                    <a:pt x="1018" y="0"/>
                    <a:pt x="1018" y="0"/>
                    <a:pt x="1018" y="0"/>
                  </a:cubicBezTo>
                  <a:cubicBezTo>
                    <a:pt x="1015" y="0"/>
                    <a:pt x="1014" y="0"/>
                    <a:pt x="1013" y="1"/>
                  </a:cubicBezTo>
                  <a:cubicBezTo>
                    <a:pt x="1013" y="8"/>
                    <a:pt x="1013" y="8"/>
                    <a:pt x="1013" y="8"/>
                  </a:cubicBezTo>
                  <a:cubicBezTo>
                    <a:pt x="1013" y="8"/>
                    <a:pt x="1013" y="8"/>
                    <a:pt x="1014" y="7"/>
                  </a:cubicBezTo>
                  <a:cubicBezTo>
                    <a:pt x="1014" y="7"/>
                    <a:pt x="1014" y="7"/>
                    <a:pt x="1014" y="7"/>
                  </a:cubicBezTo>
                  <a:cubicBezTo>
                    <a:pt x="1019" y="7"/>
                    <a:pt x="1022" y="10"/>
                    <a:pt x="1022" y="16"/>
                  </a:cubicBezTo>
                  <a:cubicBezTo>
                    <a:pt x="1022" y="40"/>
                    <a:pt x="1022" y="40"/>
                    <a:pt x="1022" y="40"/>
                  </a:cubicBezTo>
                  <a:cubicBezTo>
                    <a:pt x="1031" y="40"/>
                    <a:pt x="1031" y="40"/>
                    <a:pt x="1031" y="40"/>
                  </a:cubicBezTo>
                  <a:lnTo>
                    <a:pt x="1031" y="15"/>
                  </a:lnTo>
                  <a:close/>
                  <a:moveTo>
                    <a:pt x="1007" y="64"/>
                  </a:moveTo>
                  <a:cubicBezTo>
                    <a:pt x="1002" y="64"/>
                    <a:pt x="1002" y="64"/>
                    <a:pt x="1002" y="64"/>
                  </a:cubicBezTo>
                  <a:cubicBezTo>
                    <a:pt x="1000" y="64"/>
                    <a:pt x="998" y="62"/>
                    <a:pt x="998" y="58"/>
                  </a:cubicBezTo>
                  <a:cubicBezTo>
                    <a:pt x="998" y="31"/>
                    <a:pt x="998" y="31"/>
                    <a:pt x="998" y="31"/>
                  </a:cubicBezTo>
                  <a:cubicBezTo>
                    <a:pt x="998" y="21"/>
                    <a:pt x="995" y="13"/>
                    <a:pt x="989" y="7"/>
                  </a:cubicBezTo>
                  <a:cubicBezTo>
                    <a:pt x="983" y="2"/>
                    <a:pt x="977" y="0"/>
                    <a:pt x="968" y="0"/>
                  </a:cubicBezTo>
                  <a:cubicBezTo>
                    <a:pt x="962" y="0"/>
                    <a:pt x="957" y="1"/>
                    <a:pt x="953" y="2"/>
                  </a:cubicBezTo>
                  <a:cubicBezTo>
                    <a:pt x="953" y="10"/>
                    <a:pt x="953" y="10"/>
                    <a:pt x="953" y="10"/>
                  </a:cubicBezTo>
                  <a:cubicBezTo>
                    <a:pt x="954" y="10"/>
                    <a:pt x="954" y="10"/>
                    <a:pt x="954" y="10"/>
                  </a:cubicBezTo>
                  <a:cubicBezTo>
                    <a:pt x="957" y="9"/>
                    <a:pt x="962" y="8"/>
                    <a:pt x="966" y="8"/>
                  </a:cubicBezTo>
                  <a:cubicBezTo>
                    <a:pt x="982" y="8"/>
                    <a:pt x="989" y="16"/>
                    <a:pt x="989" y="33"/>
                  </a:cubicBezTo>
                  <a:cubicBezTo>
                    <a:pt x="989" y="58"/>
                    <a:pt x="989" y="58"/>
                    <a:pt x="989" y="58"/>
                  </a:cubicBezTo>
                  <a:cubicBezTo>
                    <a:pt x="989" y="61"/>
                    <a:pt x="990" y="63"/>
                    <a:pt x="991" y="64"/>
                  </a:cubicBezTo>
                  <a:cubicBezTo>
                    <a:pt x="951" y="64"/>
                    <a:pt x="951" y="64"/>
                    <a:pt x="951" y="64"/>
                  </a:cubicBezTo>
                  <a:cubicBezTo>
                    <a:pt x="951" y="72"/>
                    <a:pt x="951" y="72"/>
                    <a:pt x="951" y="72"/>
                  </a:cubicBezTo>
                  <a:cubicBezTo>
                    <a:pt x="1007" y="72"/>
                    <a:pt x="1007" y="72"/>
                    <a:pt x="1007" y="72"/>
                  </a:cubicBezTo>
                  <a:lnTo>
                    <a:pt x="1007" y="64"/>
                  </a:lnTo>
                  <a:close/>
                  <a:moveTo>
                    <a:pt x="938" y="31"/>
                  </a:moveTo>
                  <a:cubicBezTo>
                    <a:pt x="938" y="20"/>
                    <a:pt x="934" y="12"/>
                    <a:pt x="927" y="7"/>
                  </a:cubicBezTo>
                  <a:cubicBezTo>
                    <a:pt x="922" y="2"/>
                    <a:pt x="915" y="0"/>
                    <a:pt x="906" y="0"/>
                  </a:cubicBezTo>
                  <a:cubicBezTo>
                    <a:pt x="900" y="0"/>
                    <a:pt x="895" y="0"/>
                    <a:pt x="891" y="2"/>
                  </a:cubicBezTo>
                  <a:cubicBezTo>
                    <a:pt x="891" y="10"/>
                    <a:pt x="891" y="10"/>
                    <a:pt x="891" y="10"/>
                  </a:cubicBezTo>
                  <a:cubicBezTo>
                    <a:pt x="892" y="10"/>
                    <a:pt x="892" y="10"/>
                    <a:pt x="892" y="10"/>
                  </a:cubicBezTo>
                  <a:cubicBezTo>
                    <a:pt x="895" y="8"/>
                    <a:pt x="899" y="8"/>
                    <a:pt x="904" y="8"/>
                  </a:cubicBezTo>
                  <a:cubicBezTo>
                    <a:pt x="921" y="8"/>
                    <a:pt x="929" y="16"/>
                    <a:pt x="929" y="33"/>
                  </a:cubicBezTo>
                  <a:cubicBezTo>
                    <a:pt x="929" y="72"/>
                    <a:pt x="929" y="72"/>
                    <a:pt x="929" y="72"/>
                  </a:cubicBezTo>
                  <a:cubicBezTo>
                    <a:pt x="938" y="72"/>
                    <a:pt x="938" y="72"/>
                    <a:pt x="938" y="72"/>
                  </a:cubicBezTo>
                  <a:lnTo>
                    <a:pt x="938" y="31"/>
                  </a:lnTo>
                  <a:close/>
                  <a:moveTo>
                    <a:pt x="867" y="58"/>
                  </a:moveTo>
                  <a:cubicBezTo>
                    <a:pt x="863" y="64"/>
                    <a:pt x="857" y="66"/>
                    <a:pt x="850" y="66"/>
                  </a:cubicBezTo>
                  <a:cubicBezTo>
                    <a:pt x="836" y="66"/>
                    <a:pt x="829" y="57"/>
                    <a:pt x="829" y="40"/>
                  </a:cubicBezTo>
                  <a:cubicBezTo>
                    <a:pt x="829" y="31"/>
                    <a:pt x="830" y="24"/>
                    <a:pt x="831" y="19"/>
                  </a:cubicBezTo>
                  <a:cubicBezTo>
                    <a:pt x="832" y="16"/>
                    <a:pt x="833" y="13"/>
                    <a:pt x="835" y="11"/>
                  </a:cubicBezTo>
                  <a:cubicBezTo>
                    <a:pt x="837" y="9"/>
                    <a:pt x="838" y="8"/>
                    <a:pt x="840" y="8"/>
                  </a:cubicBezTo>
                  <a:cubicBezTo>
                    <a:pt x="850" y="8"/>
                    <a:pt x="850" y="8"/>
                    <a:pt x="850" y="8"/>
                  </a:cubicBezTo>
                  <a:cubicBezTo>
                    <a:pt x="857" y="8"/>
                    <a:pt x="863" y="10"/>
                    <a:pt x="866" y="14"/>
                  </a:cubicBezTo>
                  <a:cubicBezTo>
                    <a:pt x="871" y="19"/>
                    <a:pt x="873" y="26"/>
                    <a:pt x="873" y="37"/>
                  </a:cubicBezTo>
                  <a:cubicBezTo>
                    <a:pt x="873" y="46"/>
                    <a:pt x="871" y="53"/>
                    <a:pt x="867" y="58"/>
                  </a:cubicBezTo>
                  <a:moveTo>
                    <a:pt x="873" y="8"/>
                  </a:moveTo>
                  <a:cubicBezTo>
                    <a:pt x="868" y="3"/>
                    <a:pt x="861" y="0"/>
                    <a:pt x="852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8"/>
                    <a:pt x="818" y="8"/>
                    <a:pt x="818" y="8"/>
                  </a:cubicBezTo>
                  <a:cubicBezTo>
                    <a:pt x="830" y="8"/>
                    <a:pt x="830" y="8"/>
                    <a:pt x="830" y="8"/>
                  </a:cubicBezTo>
                  <a:cubicBezTo>
                    <a:pt x="825" y="13"/>
                    <a:pt x="822" y="20"/>
                    <a:pt x="820" y="29"/>
                  </a:cubicBezTo>
                  <a:cubicBezTo>
                    <a:pt x="820" y="31"/>
                    <a:pt x="820" y="35"/>
                    <a:pt x="820" y="40"/>
                  </a:cubicBezTo>
                  <a:cubicBezTo>
                    <a:pt x="820" y="63"/>
                    <a:pt x="830" y="74"/>
                    <a:pt x="850" y="74"/>
                  </a:cubicBezTo>
                  <a:cubicBezTo>
                    <a:pt x="859" y="74"/>
                    <a:pt x="866" y="70"/>
                    <a:pt x="872" y="64"/>
                  </a:cubicBezTo>
                  <a:cubicBezTo>
                    <a:pt x="879" y="57"/>
                    <a:pt x="882" y="48"/>
                    <a:pt x="882" y="36"/>
                  </a:cubicBezTo>
                  <a:cubicBezTo>
                    <a:pt x="882" y="23"/>
                    <a:pt x="879" y="14"/>
                    <a:pt x="873" y="8"/>
                  </a:cubicBezTo>
                  <a:moveTo>
                    <a:pt x="803" y="15"/>
                  </a:moveTo>
                  <a:cubicBezTo>
                    <a:pt x="803" y="10"/>
                    <a:pt x="801" y="6"/>
                    <a:pt x="799" y="3"/>
                  </a:cubicBezTo>
                  <a:cubicBezTo>
                    <a:pt x="796" y="1"/>
                    <a:pt x="794" y="0"/>
                    <a:pt x="790" y="0"/>
                  </a:cubicBezTo>
                  <a:cubicBezTo>
                    <a:pt x="790" y="0"/>
                    <a:pt x="790" y="0"/>
                    <a:pt x="790" y="0"/>
                  </a:cubicBezTo>
                  <a:cubicBezTo>
                    <a:pt x="787" y="0"/>
                    <a:pt x="786" y="0"/>
                    <a:pt x="785" y="1"/>
                  </a:cubicBezTo>
                  <a:cubicBezTo>
                    <a:pt x="785" y="8"/>
                    <a:pt x="785" y="8"/>
                    <a:pt x="785" y="8"/>
                  </a:cubicBezTo>
                  <a:cubicBezTo>
                    <a:pt x="785" y="8"/>
                    <a:pt x="785" y="8"/>
                    <a:pt x="786" y="7"/>
                  </a:cubicBezTo>
                  <a:cubicBezTo>
                    <a:pt x="787" y="7"/>
                    <a:pt x="787" y="7"/>
                    <a:pt x="787" y="7"/>
                  </a:cubicBezTo>
                  <a:cubicBezTo>
                    <a:pt x="791" y="7"/>
                    <a:pt x="794" y="10"/>
                    <a:pt x="794" y="16"/>
                  </a:cubicBezTo>
                  <a:cubicBezTo>
                    <a:pt x="794" y="40"/>
                    <a:pt x="794" y="40"/>
                    <a:pt x="794" y="40"/>
                  </a:cubicBezTo>
                  <a:cubicBezTo>
                    <a:pt x="803" y="40"/>
                    <a:pt x="803" y="40"/>
                    <a:pt x="803" y="40"/>
                  </a:cubicBezTo>
                  <a:lnTo>
                    <a:pt x="803" y="15"/>
                  </a:lnTo>
                  <a:close/>
                  <a:moveTo>
                    <a:pt x="771" y="9"/>
                  </a:moveTo>
                  <a:cubicBezTo>
                    <a:pt x="767" y="3"/>
                    <a:pt x="762" y="0"/>
                    <a:pt x="756" y="0"/>
                  </a:cubicBezTo>
                  <a:cubicBezTo>
                    <a:pt x="749" y="0"/>
                    <a:pt x="745" y="3"/>
                    <a:pt x="742" y="9"/>
                  </a:cubicBezTo>
                  <a:cubicBezTo>
                    <a:pt x="742" y="18"/>
                    <a:pt x="742" y="18"/>
                    <a:pt x="742" y="18"/>
                  </a:cubicBezTo>
                  <a:cubicBezTo>
                    <a:pt x="743" y="18"/>
                    <a:pt x="743" y="18"/>
                    <a:pt x="743" y="18"/>
                  </a:cubicBezTo>
                  <a:cubicBezTo>
                    <a:pt x="747" y="11"/>
                    <a:pt x="751" y="8"/>
                    <a:pt x="755" y="8"/>
                  </a:cubicBezTo>
                  <a:cubicBezTo>
                    <a:pt x="763" y="8"/>
                    <a:pt x="767" y="17"/>
                    <a:pt x="767" y="35"/>
                  </a:cubicBezTo>
                  <a:cubicBezTo>
                    <a:pt x="767" y="45"/>
                    <a:pt x="765" y="53"/>
                    <a:pt x="761" y="59"/>
                  </a:cubicBezTo>
                  <a:cubicBezTo>
                    <a:pt x="757" y="63"/>
                    <a:pt x="752" y="66"/>
                    <a:pt x="746" y="66"/>
                  </a:cubicBezTo>
                  <a:cubicBezTo>
                    <a:pt x="733" y="66"/>
                    <a:pt x="727" y="57"/>
                    <a:pt x="727" y="39"/>
                  </a:cubicBezTo>
                  <a:cubicBezTo>
                    <a:pt x="727" y="0"/>
                    <a:pt x="727" y="0"/>
                    <a:pt x="727" y="0"/>
                  </a:cubicBezTo>
                  <a:cubicBezTo>
                    <a:pt x="718" y="0"/>
                    <a:pt x="718" y="0"/>
                    <a:pt x="718" y="0"/>
                  </a:cubicBezTo>
                  <a:cubicBezTo>
                    <a:pt x="718" y="38"/>
                    <a:pt x="718" y="38"/>
                    <a:pt x="718" y="38"/>
                  </a:cubicBezTo>
                  <a:cubicBezTo>
                    <a:pt x="718" y="62"/>
                    <a:pt x="727" y="73"/>
                    <a:pt x="746" y="73"/>
                  </a:cubicBezTo>
                  <a:cubicBezTo>
                    <a:pt x="755" y="73"/>
                    <a:pt x="762" y="70"/>
                    <a:pt x="768" y="63"/>
                  </a:cubicBezTo>
                  <a:cubicBezTo>
                    <a:pt x="774" y="56"/>
                    <a:pt x="777" y="46"/>
                    <a:pt x="777" y="34"/>
                  </a:cubicBezTo>
                  <a:cubicBezTo>
                    <a:pt x="777" y="23"/>
                    <a:pt x="775" y="14"/>
                    <a:pt x="771" y="9"/>
                  </a:cubicBezTo>
                  <a:moveTo>
                    <a:pt x="702" y="31"/>
                  </a:moveTo>
                  <a:cubicBezTo>
                    <a:pt x="702" y="19"/>
                    <a:pt x="698" y="11"/>
                    <a:pt x="691" y="6"/>
                  </a:cubicBezTo>
                  <a:cubicBezTo>
                    <a:pt x="686" y="2"/>
                    <a:pt x="677" y="0"/>
                    <a:pt x="666" y="0"/>
                  </a:cubicBezTo>
                  <a:cubicBezTo>
                    <a:pt x="656" y="0"/>
                    <a:pt x="647" y="1"/>
                    <a:pt x="639" y="2"/>
                  </a:cubicBezTo>
                  <a:cubicBezTo>
                    <a:pt x="639" y="10"/>
                    <a:pt x="639" y="10"/>
                    <a:pt x="639" y="10"/>
                  </a:cubicBezTo>
                  <a:cubicBezTo>
                    <a:pt x="644" y="9"/>
                    <a:pt x="648" y="8"/>
                    <a:pt x="652" y="8"/>
                  </a:cubicBezTo>
                  <a:cubicBezTo>
                    <a:pt x="650" y="12"/>
                    <a:pt x="649" y="17"/>
                    <a:pt x="649" y="21"/>
                  </a:cubicBezTo>
                  <a:cubicBezTo>
                    <a:pt x="649" y="51"/>
                    <a:pt x="649" y="51"/>
                    <a:pt x="649" y="51"/>
                  </a:cubicBezTo>
                  <a:cubicBezTo>
                    <a:pt x="649" y="61"/>
                    <a:pt x="645" y="66"/>
                    <a:pt x="638" y="66"/>
                  </a:cubicBezTo>
                  <a:cubicBezTo>
                    <a:pt x="637" y="66"/>
                    <a:pt x="636" y="65"/>
                    <a:pt x="635" y="64"/>
                  </a:cubicBezTo>
                  <a:cubicBezTo>
                    <a:pt x="634" y="65"/>
                    <a:pt x="634" y="65"/>
                    <a:pt x="634" y="65"/>
                  </a:cubicBezTo>
                  <a:cubicBezTo>
                    <a:pt x="634" y="70"/>
                    <a:pt x="634" y="70"/>
                    <a:pt x="634" y="70"/>
                  </a:cubicBezTo>
                  <a:cubicBezTo>
                    <a:pt x="635" y="72"/>
                    <a:pt x="637" y="73"/>
                    <a:pt x="640" y="73"/>
                  </a:cubicBezTo>
                  <a:cubicBezTo>
                    <a:pt x="645" y="73"/>
                    <a:pt x="649" y="71"/>
                    <a:pt x="652" y="67"/>
                  </a:cubicBezTo>
                  <a:cubicBezTo>
                    <a:pt x="656" y="63"/>
                    <a:pt x="658" y="58"/>
                    <a:pt x="658" y="50"/>
                  </a:cubicBezTo>
                  <a:cubicBezTo>
                    <a:pt x="658" y="10"/>
                    <a:pt x="658" y="10"/>
                    <a:pt x="658" y="10"/>
                  </a:cubicBezTo>
                  <a:cubicBezTo>
                    <a:pt x="658" y="9"/>
                    <a:pt x="658" y="8"/>
                    <a:pt x="659" y="8"/>
                  </a:cubicBezTo>
                  <a:cubicBezTo>
                    <a:pt x="662" y="7"/>
                    <a:pt x="664" y="7"/>
                    <a:pt x="665" y="7"/>
                  </a:cubicBezTo>
                  <a:cubicBezTo>
                    <a:pt x="674" y="7"/>
                    <a:pt x="681" y="9"/>
                    <a:pt x="685" y="12"/>
                  </a:cubicBezTo>
                  <a:cubicBezTo>
                    <a:pt x="690" y="15"/>
                    <a:pt x="693" y="22"/>
                    <a:pt x="693" y="31"/>
                  </a:cubicBezTo>
                  <a:cubicBezTo>
                    <a:pt x="693" y="72"/>
                    <a:pt x="693" y="72"/>
                    <a:pt x="693" y="72"/>
                  </a:cubicBezTo>
                  <a:cubicBezTo>
                    <a:pt x="702" y="72"/>
                    <a:pt x="702" y="72"/>
                    <a:pt x="702" y="72"/>
                  </a:cubicBezTo>
                  <a:lnTo>
                    <a:pt x="702" y="31"/>
                  </a:lnTo>
                  <a:close/>
                  <a:moveTo>
                    <a:pt x="599" y="64"/>
                  </a:moveTo>
                  <a:cubicBezTo>
                    <a:pt x="594" y="64"/>
                    <a:pt x="594" y="64"/>
                    <a:pt x="594" y="64"/>
                  </a:cubicBezTo>
                  <a:cubicBezTo>
                    <a:pt x="592" y="64"/>
                    <a:pt x="591" y="62"/>
                    <a:pt x="591" y="58"/>
                  </a:cubicBezTo>
                  <a:cubicBezTo>
                    <a:pt x="591" y="31"/>
                    <a:pt x="591" y="31"/>
                    <a:pt x="591" y="31"/>
                  </a:cubicBezTo>
                  <a:cubicBezTo>
                    <a:pt x="591" y="21"/>
                    <a:pt x="587" y="13"/>
                    <a:pt x="581" y="7"/>
                  </a:cubicBezTo>
                  <a:cubicBezTo>
                    <a:pt x="576" y="2"/>
                    <a:pt x="569" y="0"/>
                    <a:pt x="560" y="0"/>
                  </a:cubicBezTo>
                  <a:cubicBezTo>
                    <a:pt x="555" y="0"/>
                    <a:pt x="550" y="1"/>
                    <a:pt x="545" y="2"/>
                  </a:cubicBezTo>
                  <a:cubicBezTo>
                    <a:pt x="545" y="10"/>
                    <a:pt x="545" y="10"/>
                    <a:pt x="545" y="10"/>
                  </a:cubicBezTo>
                  <a:cubicBezTo>
                    <a:pt x="546" y="10"/>
                    <a:pt x="546" y="10"/>
                    <a:pt x="546" y="10"/>
                  </a:cubicBezTo>
                  <a:cubicBezTo>
                    <a:pt x="550" y="9"/>
                    <a:pt x="554" y="8"/>
                    <a:pt x="559" y="8"/>
                  </a:cubicBezTo>
                  <a:cubicBezTo>
                    <a:pt x="574" y="8"/>
                    <a:pt x="582" y="16"/>
                    <a:pt x="582" y="33"/>
                  </a:cubicBezTo>
                  <a:cubicBezTo>
                    <a:pt x="582" y="58"/>
                    <a:pt x="582" y="58"/>
                    <a:pt x="582" y="58"/>
                  </a:cubicBezTo>
                  <a:cubicBezTo>
                    <a:pt x="582" y="61"/>
                    <a:pt x="582" y="63"/>
                    <a:pt x="583" y="64"/>
                  </a:cubicBezTo>
                  <a:cubicBezTo>
                    <a:pt x="543" y="64"/>
                    <a:pt x="543" y="64"/>
                    <a:pt x="543" y="64"/>
                  </a:cubicBezTo>
                  <a:cubicBezTo>
                    <a:pt x="543" y="72"/>
                    <a:pt x="543" y="72"/>
                    <a:pt x="543" y="72"/>
                  </a:cubicBezTo>
                  <a:cubicBezTo>
                    <a:pt x="599" y="72"/>
                    <a:pt x="599" y="72"/>
                    <a:pt x="599" y="72"/>
                  </a:cubicBezTo>
                  <a:lnTo>
                    <a:pt x="599" y="64"/>
                  </a:lnTo>
                  <a:close/>
                  <a:moveTo>
                    <a:pt x="529" y="15"/>
                  </a:moveTo>
                  <a:cubicBezTo>
                    <a:pt x="529" y="10"/>
                    <a:pt x="528" y="6"/>
                    <a:pt x="525" y="3"/>
                  </a:cubicBezTo>
                  <a:cubicBezTo>
                    <a:pt x="523" y="1"/>
                    <a:pt x="520" y="0"/>
                    <a:pt x="517" y="0"/>
                  </a:cubicBezTo>
                  <a:cubicBezTo>
                    <a:pt x="516" y="0"/>
                    <a:pt x="516" y="0"/>
                    <a:pt x="516" y="0"/>
                  </a:cubicBezTo>
                  <a:cubicBezTo>
                    <a:pt x="514" y="0"/>
                    <a:pt x="512" y="0"/>
                    <a:pt x="511" y="1"/>
                  </a:cubicBezTo>
                  <a:cubicBezTo>
                    <a:pt x="511" y="8"/>
                    <a:pt x="511" y="8"/>
                    <a:pt x="511" y="8"/>
                  </a:cubicBezTo>
                  <a:cubicBezTo>
                    <a:pt x="512" y="8"/>
                    <a:pt x="512" y="8"/>
                    <a:pt x="512" y="7"/>
                  </a:cubicBezTo>
                  <a:cubicBezTo>
                    <a:pt x="513" y="7"/>
                    <a:pt x="513" y="7"/>
                    <a:pt x="513" y="7"/>
                  </a:cubicBezTo>
                  <a:cubicBezTo>
                    <a:pt x="518" y="7"/>
                    <a:pt x="520" y="10"/>
                    <a:pt x="520" y="16"/>
                  </a:cubicBezTo>
                  <a:cubicBezTo>
                    <a:pt x="520" y="97"/>
                    <a:pt x="520" y="97"/>
                    <a:pt x="520" y="97"/>
                  </a:cubicBezTo>
                  <a:cubicBezTo>
                    <a:pt x="529" y="97"/>
                    <a:pt x="529" y="97"/>
                    <a:pt x="529" y="97"/>
                  </a:cubicBezTo>
                  <a:lnTo>
                    <a:pt x="529" y="15"/>
                  </a:lnTo>
                  <a:close/>
                  <a:moveTo>
                    <a:pt x="503" y="33"/>
                  </a:moveTo>
                  <a:cubicBezTo>
                    <a:pt x="470" y="33"/>
                    <a:pt x="470" y="33"/>
                    <a:pt x="470" y="33"/>
                  </a:cubicBezTo>
                  <a:cubicBezTo>
                    <a:pt x="470" y="40"/>
                    <a:pt x="470" y="40"/>
                    <a:pt x="470" y="40"/>
                  </a:cubicBezTo>
                  <a:cubicBezTo>
                    <a:pt x="503" y="40"/>
                    <a:pt x="503" y="40"/>
                    <a:pt x="503" y="40"/>
                  </a:cubicBezTo>
                  <a:lnTo>
                    <a:pt x="503" y="33"/>
                  </a:lnTo>
                  <a:close/>
                  <a:moveTo>
                    <a:pt x="456" y="46"/>
                  </a:moveTo>
                  <a:cubicBezTo>
                    <a:pt x="456" y="26"/>
                    <a:pt x="456" y="26"/>
                    <a:pt x="456" y="26"/>
                  </a:cubicBezTo>
                  <a:cubicBezTo>
                    <a:pt x="456" y="18"/>
                    <a:pt x="454" y="11"/>
                    <a:pt x="450" y="6"/>
                  </a:cubicBezTo>
                  <a:cubicBezTo>
                    <a:pt x="446" y="2"/>
                    <a:pt x="440" y="0"/>
                    <a:pt x="434" y="0"/>
                  </a:cubicBezTo>
                  <a:cubicBezTo>
                    <a:pt x="431" y="0"/>
                    <a:pt x="429" y="0"/>
                    <a:pt x="427" y="1"/>
                  </a:cubicBezTo>
                  <a:cubicBezTo>
                    <a:pt x="427" y="8"/>
                    <a:pt x="427" y="8"/>
                    <a:pt x="427" y="8"/>
                  </a:cubicBezTo>
                  <a:cubicBezTo>
                    <a:pt x="428" y="8"/>
                    <a:pt x="428" y="8"/>
                    <a:pt x="428" y="8"/>
                  </a:cubicBezTo>
                  <a:cubicBezTo>
                    <a:pt x="429" y="8"/>
                    <a:pt x="430" y="8"/>
                    <a:pt x="432" y="8"/>
                  </a:cubicBezTo>
                  <a:cubicBezTo>
                    <a:pt x="437" y="8"/>
                    <a:pt x="441" y="9"/>
                    <a:pt x="444" y="13"/>
                  </a:cubicBezTo>
                  <a:cubicBezTo>
                    <a:pt x="446" y="16"/>
                    <a:pt x="448" y="21"/>
                    <a:pt x="448" y="28"/>
                  </a:cubicBezTo>
                  <a:cubicBezTo>
                    <a:pt x="448" y="29"/>
                    <a:pt x="448" y="29"/>
                    <a:pt x="448" y="29"/>
                  </a:cubicBezTo>
                  <a:cubicBezTo>
                    <a:pt x="448" y="36"/>
                    <a:pt x="446" y="43"/>
                    <a:pt x="444" y="49"/>
                  </a:cubicBezTo>
                  <a:cubicBezTo>
                    <a:pt x="442" y="54"/>
                    <a:pt x="439" y="58"/>
                    <a:pt x="436" y="61"/>
                  </a:cubicBezTo>
                  <a:cubicBezTo>
                    <a:pt x="433" y="63"/>
                    <a:pt x="430" y="65"/>
                    <a:pt x="428" y="65"/>
                  </a:cubicBezTo>
                  <a:cubicBezTo>
                    <a:pt x="426" y="65"/>
                    <a:pt x="424" y="64"/>
                    <a:pt x="422" y="63"/>
                  </a:cubicBezTo>
                  <a:cubicBezTo>
                    <a:pt x="421" y="63"/>
                    <a:pt x="421" y="63"/>
                    <a:pt x="421" y="63"/>
                  </a:cubicBezTo>
                  <a:cubicBezTo>
                    <a:pt x="421" y="71"/>
                    <a:pt x="421" y="71"/>
                    <a:pt x="421" y="71"/>
                  </a:cubicBezTo>
                  <a:cubicBezTo>
                    <a:pt x="423" y="73"/>
                    <a:pt x="425" y="73"/>
                    <a:pt x="427" y="73"/>
                  </a:cubicBezTo>
                  <a:cubicBezTo>
                    <a:pt x="436" y="73"/>
                    <a:pt x="442" y="67"/>
                    <a:pt x="447" y="53"/>
                  </a:cubicBezTo>
                  <a:cubicBezTo>
                    <a:pt x="447" y="53"/>
                    <a:pt x="447" y="52"/>
                    <a:pt x="448" y="52"/>
                  </a:cubicBezTo>
                  <a:cubicBezTo>
                    <a:pt x="448" y="52"/>
                    <a:pt x="448" y="53"/>
                    <a:pt x="449" y="53"/>
                  </a:cubicBezTo>
                  <a:cubicBezTo>
                    <a:pt x="449" y="61"/>
                    <a:pt x="450" y="68"/>
                    <a:pt x="451" y="72"/>
                  </a:cubicBezTo>
                  <a:cubicBezTo>
                    <a:pt x="459" y="72"/>
                    <a:pt x="459" y="72"/>
                    <a:pt x="459" y="72"/>
                  </a:cubicBezTo>
                  <a:cubicBezTo>
                    <a:pt x="459" y="71"/>
                    <a:pt x="459" y="71"/>
                    <a:pt x="459" y="71"/>
                  </a:cubicBezTo>
                  <a:cubicBezTo>
                    <a:pt x="457" y="63"/>
                    <a:pt x="456" y="55"/>
                    <a:pt x="456" y="46"/>
                  </a:cubicBezTo>
                  <a:moveTo>
                    <a:pt x="410" y="15"/>
                  </a:moveTo>
                  <a:cubicBezTo>
                    <a:pt x="410" y="10"/>
                    <a:pt x="408" y="6"/>
                    <a:pt x="406" y="3"/>
                  </a:cubicBezTo>
                  <a:cubicBezTo>
                    <a:pt x="403" y="1"/>
                    <a:pt x="400" y="0"/>
                    <a:pt x="397" y="0"/>
                  </a:cubicBezTo>
                  <a:cubicBezTo>
                    <a:pt x="397" y="0"/>
                    <a:pt x="397" y="0"/>
                    <a:pt x="397" y="0"/>
                  </a:cubicBezTo>
                  <a:cubicBezTo>
                    <a:pt x="394" y="0"/>
                    <a:pt x="393" y="0"/>
                    <a:pt x="392" y="1"/>
                  </a:cubicBezTo>
                  <a:cubicBezTo>
                    <a:pt x="392" y="8"/>
                    <a:pt x="392" y="8"/>
                    <a:pt x="392" y="8"/>
                  </a:cubicBezTo>
                  <a:cubicBezTo>
                    <a:pt x="392" y="8"/>
                    <a:pt x="392" y="8"/>
                    <a:pt x="393" y="7"/>
                  </a:cubicBezTo>
                  <a:cubicBezTo>
                    <a:pt x="394" y="7"/>
                    <a:pt x="394" y="7"/>
                    <a:pt x="394" y="7"/>
                  </a:cubicBezTo>
                  <a:cubicBezTo>
                    <a:pt x="398" y="7"/>
                    <a:pt x="401" y="10"/>
                    <a:pt x="401" y="16"/>
                  </a:cubicBezTo>
                  <a:cubicBezTo>
                    <a:pt x="401" y="72"/>
                    <a:pt x="401" y="72"/>
                    <a:pt x="401" y="72"/>
                  </a:cubicBezTo>
                  <a:cubicBezTo>
                    <a:pt x="410" y="72"/>
                    <a:pt x="410" y="72"/>
                    <a:pt x="410" y="72"/>
                  </a:cubicBezTo>
                  <a:lnTo>
                    <a:pt x="410" y="15"/>
                  </a:lnTo>
                  <a:close/>
                  <a:moveTo>
                    <a:pt x="380" y="31"/>
                  </a:moveTo>
                  <a:cubicBezTo>
                    <a:pt x="380" y="20"/>
                    <a:pt x="377" y="12"/>
                    <a:pt x="370" y="7"/>
                  </a:cubicBezTo>
                  <a:cubicBezTo>
                    <a:pt x="364" y="2"/>
                    <a:pt x="357" y="0"/>
                    <a:pt x="348" y="0"/>
                  </a:cubicBezTo>
                  <a:cubicBezTo>
                    <a:pt x="342" y="0"/>
                    <a:pt x="337" y="0"/>
                    <a:pt x="333" y="2"/>
                  </a:cubicBezTo>
                  <a:cubicBezTo>
                    <a:pt x="333" y="10"/>
                    <a:pt x="333" y="10"/>
                    <a:pt x="333" y="10"/>
                  </a:cubicBezTo>
                  <a:cubicBezTo>
                    <a:pt x="334" y="10"/>
                    <a:pt x="334" y="10"/>
                    <a:pt x="334" y="10"/>
                  </a:cubicBezTo>
                  <a:cubicBezTo>
                    <a:pt x="337" y="8"/>
                    <a:pt x="342" y="8"/>
                    <a:pt x="347" y="8"/>
                  </a:cubicBezTo>
                  <a:cubicBezTo>
                    <a:pt x="363" y="8"/>
                    <a:pt x="371" y="16"/>
                    <a:pt x="371" y="33"/>
                  </a:cubicBezTo>
                  <a:cubicBezTo>
                    <a:pt x="371" y="72"/>
                    <a:pt x="371" y="72"/>
                    <a:pt x="371" y="72"/>
                  </a:cubicBezTo>
                  <a:cubicBezTo>
                    <a:pt x="380" y="72"/>
                    <a:pt x="380" y="72"/>
                    <a:pt x="380" y="72"/>
                  </a:cubicBezTo>
                  <a:lnTo>
                    <a:pt x="380" y="31"/>
                  </a:lnTo>
                  <a:close/>
                  <a:moveTo>
                    <a:pt x="322" y="15"/>
                  </a:moveTo>
                  <a:cubicBezTo>
                    <a:pt x="322" y="10"/>
                    <a:pt x="321" y="6"/>
                    <a:pt x="318" y="3"/>
                  </a:cubicBezTo>
                  <a:cubicBezTo>
                    <a:pt x="316" y="1"/>
                    <a:pt x="313" y="0"/>
                    <a:pt x="310" y="0"/>
                  </a:cubicBezTo>
                  <a:cubicBezTo>
                    <a:pt x="309" y="0"/>
                    <a:pt x="309" y="0"/>
                    <a:pt x="309" y="0"/>
                  </a:cubicBezTo>
                  <a:cubicBezTo>
                    <a:pt x="307" y="0"/>
                    <a:pt x="305" y="0"/>
                    <a:pt x="304" y="1"/>
                  </a:cubicBezTo>
                  <a:cubicBezTo>
                    <a:pt x="304" y="8"/>
                    <a:pt x="304" y="8"/>
                    <a:pt x="304" y="8"/>
                  </a:cubicBezTo>
                  <a:cubicBezTo>
                    <a:pt x="305" y="8"/>
                    <a:pt x="305" y="8"/>
                    <a:pt x="305" y="7"/>
                  </a:cubicBezTo>
                  <a:cubicBezTo>
                    <a:pt x="306" y="7"/>
                    <a:pt x="306" y="7"/>
                    <a:pt x="306" y="7"/>
                  </a:cubicBezTo>
                  <a:cubicBezTo>
                    <a:pt x="311" y="7"/>
                    <a:pt x="313" y="10"/>
                    <a:pt x="313" y="16"/>
                  </a:cubicBezTo>
                  <a:cubicBezTo>
                    <a:pt x="313" y="40"/>
                    <a:pt x="313" y="40"/>
                    <a:pt x="313" y="40"/>
                  </a:cubicBezTo>
                  <a:cubicBezTo>
                    <a:pt x="322" y="40"/>
                    <a:pt x="322" y="40"/>
                    <a:pt x="322" y="40"/>
                  </a:cubicBezTo>
                  <a:lnTo>
                    <a:pt x="322" y="15"/>
                  </a:lnTo>
                  <a:close/>
                  <a:moveTo>
                    <a:pt x="293" y="15"/>
                  </a:moveTo>
                  <a:cubicBezTo>
                    <a:pt x="293" y="10"/>
                    <a:pt x="291" y="6"/>
                    <a:pt x="289" y="3"/>
                  </a:cubicBezTo>
                  <a:cubicBezTo>
                    <a:pt x="286" y="1"/>
                    <a:pt x="283" y="0"/>
                    <a:pt x="280" y="0"/>
                  </a:cubicBezTo>
                  <a:cubicBezTo>
                    <a:pt x="280" y="0"/>
                    <a:pt x="280" y="0"/>
                    <a:pt x="280" y="0"/>
                  </a:cubicBezTo>
                  <a:cubicBezTo>
                    <a:pt x="277" y="0"/>
                    <a:pt x="276" y="0"/>
                    <a:pt x="275" y="1"/>
                  </a:cubicBezTo>
                  <a:cubicBezTo>
                    <a:pt x="275" y="8"/>
                    <a:pt x="275" y="8"/>
                    <a:pt x="275" y="8"/>
                  </a:cubicBezTo>
                  <a:cubicBezTo>
                    <a:pt x="275" y="8"/>
                    <a:pt x="275" y="8"/>
                    <a:pt x="276" y="7"/>
                  </a:cubicBezTo>
                  <a:cubicBezTo>
                    <a:pt x="277" y="7"/>
                    <a:pt x="277" y="7"/>
                    <a:pt x="277" y="7"/>
                  </a:cubicBezTo>
                  <a:cubicBezTo>
                    <a:pt x="281" y="7"/>
                    <a:pt x="284" y="10"/>
                    <a:pt x="284" y="16"/>
                  </a:cubicBezTo>
                  <a:cubicBezTo>
                    <a:pt x="284" y="72"/>
                    <a:pt x="284" y="72"/>
                    <a:pt x="284" y="72"/>
                  </a:cubicBezTo>
                  <a:cubicBezTo>
                    <a:pt x="293" y="72"/>
                    <a:pt x="293" y="72"/>
                    <a:pt x="293" y="72"/>
                  </a:cubicBezTo>
                  <a:lnTo>
                    <a:pt x="293" y="15"/>
                  </a:lnTo>
                  <a:close/>
                  <a:moveTo>
                    <a:pt x="263" y="15"/>
                  </a:moveTo>
                  <a:cubicBezTo>
                    <a:pt x="263" y="10"/>
                    <a:pt x="261" y="6"/>
                    <a:pt x="258" y="3"/>
                  </a:cubicBezTo>
                  <a:cubicBezTo>
                    <a:pt x="256" y="1"/>
                    <a:pt x="253" y="0"/>
                    <a:pt x="250" y="0"/>
                  </a:cubicBezTo>
                  <a:cubicBezTo>
                    <a:pt x="250" y="0"/>
                    <a:pt x="250" y="0"/>
                    <a:pt x="250" y="0"/>
                  </a:cubicBezTo>
                  <a:cubicBezTo>
                    <a:pt x="247" y="0"/>
                    <a:pt x="246" y="0"/>
                    <a:pt x="245" y="1"/>
                  </a:cubicBezTo>
                  <a:cubicBezTo>
                    <a:pt x="245" y="8"/>
                    <a:pt x="245" y="8"/>
                    <a:pt x="245" y="8"/>
                  </a:cubicBezTo>
                  <a:cubicBezTo>
                    <a:pt x="245" y="8"/>
                    <a:pt x="245" y="8"/>
                    <a:pt x="246" y="7"/>
                  </a:cubicBezTo>
                  <a:cubicBezTo>
                    <a:pt x="246" y="7"/>
                    <a:pt x="246" y="7"/>
                    <a:pt x="246" y="7"/>
                  </a:cubicBezTo>
                  <a:cubicBezTo>
                    <a:pt x="251" y="7"/>
                    <a:pt x="254" y="10"/>
                    <a:pt x="254" y="16"/>
                  </a:cubicBezTo>
                  <a:cubicBezTo>
                    <a:pt x="254" y="97"/>
                    <a:pt x="254" y="97"/>
                    <a:pt x="254" y="97"/>
                  </a:cubicBezTo>
                  <a:cubicBezTo>
                    <a:pt x="263" y="97"/>
                    <a:pt x="263" y="97"/>
                    <a:pt x="263" y="97"/>
                  </a:cubicBezTo>
                  <a:lnTo>
                    <a:pt x="263" y="15"/>
                  </a:lnTo>
                  <a:close/>
                  <a:moveTo>
                    <a:pt x="210" y="64"/>
                  </a:moveTo>
                  <a:cubicBezTo>
                    <a:pt x="205" y="64"/>
                    <a:pt x="205" y="64"/>
                    <a:pt x="205" y="64"/>
                  </a:cubicBezTo>
                  <a:cubicBezTo>
                    <a:pt x="202" y="64"/>
                    <a:pt x="201" y="62"/>
                    <a:pt x="201" y="58"/>
                  </a:cubicBezTo>
                  <a:cubicBezTo>
                    <a:pt x="201" y="31"/>
                    <a:pt x="201" y="31"/>
                    <a:pt x="201" y="31"/>
                  </a:cubicBezTo>
                  <a:cubicBezTo>
                    <a:pt x="201" y="21"/>
                    <a:pt x="198" y="13"/>
                    <a:pt x="191" y="7"/>
                  </a:cubicBezTo>
                  <a:cubicBezTo>
                    <a:pt x="186" y="2"/>
                    <a:pt x="179" y="0"/>
                    <a:pt x="171" y="0"/>
                  </a:cubicBezTo>
                  <a:cubicBezTo>
                    <a:pt x="165" y="0"/>
                    <a:pt x="160" y="1"/>
                    <a:pt x="156" y="2"/>
                  </a:cubicBezTo>
                  <a:cubicBezTo>
                    <a:pt x="156" y="10"/>
                    <a:pt x="156" y="10"/>
                    <a:pt x="156" y="10"/>
                  </a:cubicBezTo>
                  <a:cubicBezTo>
                    <a:pt x="156" y="10"/>
                    <a:pt x="156" y="10"/>
                    <a:pt x="156" y="10"/>
                  </a:cubicBezTo>
                  <a:cubicBezTo>
                    <a:pt x="160" y="9"/>
                    <a:pt x="164" y="8"/>
                    <a:pt x="169" y="8"/>
                  </a:cubicBezTo>
                  <a:cubicBezTo>
                    <a:pt x="184" y="8"/>
                    <a:pt x="192" y="16"/>
                    <a:pt x="192" y="33"/>
                  </a:cubicBezTo>
                  <a:cubicBezTo>
                    <a:pt x="192" y="58"/>
                    <a:pt x="192" y="58"/>
                    <a:pt x="192" y="58"/>
                  </a:cubicBezTo>
                  <a:cubicBezTo>
                    <a:pt x="192" y="61"/>
                    <a:pt x="192" y="63"/>
                    <a:pt x="193" y="64"/>
                  </a:cubicBezTo>
                  <a:cubicBezTo>
                    <a:pt x="153" y="64"/>
                    <a:pt x="153" y="64"/>
                    <a:pt x="153" y="64"/>
                  </a:cubicBezTo>
                  <a:cubicBezTo>
                    <a:pt x="153" y="72"/>
                    <a:pt x="153" y="72"/>
                    <a:pt x="153" y="72"/>
                  </a:cubicBezTo>
                  <a:cubicBezTo>
                    <a:pt x="210" y="72"/>
                    <a:pt x="210" y="72"/>
                    <a:pt x="210" y="72"/>
                  </a:cubicBezTo>
                  <a:lnTo>
                    <a:pt x="210" y="64"/>
                  </a:lnTo>
                  <a:close/>
                  <a:moveTo>
                    <a:pt x="140" y="23"/>
                  </a:moveTo>
                  <a:cubicBezTo>
                    <a:pt x="140" y="15"/>
                    <a:pt x="138" y="9"/>
                    <a:pt x="134" y="5"/>
                  </a:cubicBezTo>
                  <a:cubicBezTo>
                    <a:pt x="130" y="2"/>
                    <a:pt x="125" y="0"/>
                    <a:pt x="120" y="0"/>
                  </a:cubicBezTo>
                  <a:cubicBezTo>
                    <a:pt x="117" y="0"/>
                    <a:pt x="114" y="1"/>
                    <a:pt x="113" y="1"/>
                  </a:cubicBezTo>
                  <a:cubicBezTo>
                    <a:pt x="113" y="9"/>
                    <a:pt x="113" y="9"/>
                    <a:pt x="113" y="9"/>
                  </a:cubicBezTo>
                  <a:cubicBezTo>
                    <a:pt x="114" y="9"/>
                    <a:pt x="114" y="9"/>
                    <a:pt x="114" y="9"/>
                  </a:cubicBezTo>
                  <a:cubicBezTo>
                    <a:pt x="115" y="8"/>
                    <a:pt x="117" y="8"/>
                    <a:pt x="118" y="8"/>
                  </a:cubicBezTo>
                  <a:cubicBezTo>
                    <a:pt x="127" y="8"/>
                    <a:pt x="131" y="13"/>
                    <a:pt x="131" y="24"/>
                  </a:cubicBezTo>
                  <a:cubicBezTo>
                    <a:pt x="131" y="64"/>
                    <a:pt x="131" y="64"/>
                    <a:pt x="131" y="64"/>
                  </a:cubicBezTo>
                  <a:cubicBezTo>
                    <a:pt x="111" y="64"/>
                    <a:pt x="111" y="64"/>
                    <a:pt x="111" y="64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40" y="72"/>
                    <a:pt x="140" y="72"/>
                    <a:pt x="140" y="72"/>
                  </a:cubicBezTo>
                  <a:lnTo>
                    <a:pt x="140" y="23"/>
                  </a:lnTo>
                  <a:close/>
                  <a:moveTo>
                    <a:pt x="96" y="46"/>
                  </a:moveTo>
                  <a:cubicBezTo>
                    <a:pt x="96" y="26"/>
                    <a:pt x="96" y="26"/>
                    <a:pt x="96" y="26"/>
                  </a:cubicBezTo>
                  <a:cubicBezTo>
                    <a:pt x="96" y="18"/>
                    <a:pt x="94" y="11"/>
                    <a:pt x="90" y="6"/>
                  </a:cubicBezTo>
                  <a:cubicBezTo>
                    <a:pt x="86" y="2"/>
                    <a:pt x="81" y="0"/>
                    <a:pt x="74" y="0"/>
                  </a:cubicBezTo>
                  <a:cubicBezTo>
                    <a:pt x="71" y="0"/>
                    <a:pt x="69" y="0"/>
                    <a:pt x="67" y="1"/>
                  </a:cubicBezTo>
                  <a:cubicBezTo>
                    <a:pt x="67" y="8"/>
                    <a:pt x="67" y="8"/>
                    <a:pt x="67" y="8"/>
                  </a:cubicBezTo>
                  <a:cubicBezTo>
                    <a:pt x="68" y="8"/>
                    <a:pt x="68" y="8"/>
                    <a:pt x="68" y="8"/>
                  </a:cubicBezTo>
                  <a:cubicBezTo>
                    <a:pt x="69" y="8"/>
                    <a:pt x="71" y="8"/>
                    <a:pt x="73" y="8"/>
                  </a:cubicBezTo>
                  <a:cubicBezTo>
                    <a:pt x="77" y="8"/>
                    <a:pt x="81" y="9"/>
                    <a:pt x="84" y="13"/>
                  </a:cubicBezTo>
                  <a:cubicBezTo>
                    <a:pt x="86" y="16"/>
                    <a:pt x="88" y="21"/>
                    <a:pt x="88" y="28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36"/>
                    <a:pt x="87" y="43"/>
                    <a:pt x="84" y="49"/>
                  </a:cubicBezTo>
                  <a:cubicBezTo>
                    <a:pt x="82" y="54"/>
                    <a:pt x="79" y="58"/>
                    <a:pt x="76" y="61"/>
                  </a:cubicBezTo>
                  <a:cubicBezTo>
                    <a:pt x="73" y="63"/>
                    <a:pt x="70" y="65"/>
                    <a:pt x="68" y="65"/>
                  </a:cubicBezTo>
                  <a:cubicBezTo>
                    <a:pt x="66" y="65"/>
                    <a:pt x="64" y="64"/>
                    <a:pt x="62" y="63"/>
                  </a:cubicBezTo>
                  <a:cubicBezTo>
                    <a:pt x="61" y="63"/>
                    <a:pt x="61" y="63"/>
                    <a:pt x="61" y="63"/>
                  </a:cubicBezTo>
                  <a:cubicBezTo>
                    <a:pt x="61" y="71"/>
                    <a:pt x="61" y="71"/>
                    <a:pt x="61" y="71"/>
                  </a:cubicBezTo>
                  <a:cubicBezTo>
                    <a:pt x="63" y="73"/>
                    <a:pt x="65" y="73"/>
                    <a:pt x="67" y="73"/>
                  </a:cubicBezTo>
                  <a:cubicBezTo>
                    <a:pt x="76" y="73"/>
                    <a:pt x="82" y="67"/>
                    <a:pt x="87" y="53"/>
                  </a:cubicBezTo>
                  <a:cubicBezTo>
                    <a:pt x="87" y="53"/>
                    <a:pt x="87" y="52"/>
                    <a:pt x="88" y="52"/>
                  </a:cubicBezTo>
                  <a:cubicBezTo>
                    <a:pt x="88" y="52"/>
                    <a:pt x="89" y="53"/>
                    <a:pt x="89" y="53"/>
                  </a:cubicBezTo>
                  <a:cubicBezTo>
                    <a:pt x="89" y="61"/>
                    <a:pt x="90" y="68"/>
                    <a:pt x="91" y="72"/>
                  </a:cubicBezTo>
                  <a:cubicBezTo>
                    <a:pt x="99" y="72"/>
                    <a:pt x="99" y="72"/>
                    <a:pt x="99" y="72"/>
                  </a:cubicBezTo>
                  <a:cubicBezTo>
                    <a:pt x="99" y="71"/>
                    <a:pt x="99" y="71"/>
                    <a:pt x="99" y="71"/>
                  </a:cubicBezTo>
                  <a:cubicBezTo>
                    <a:pt x="97" y="63"/>
                    <a:pt x="96" y="55"/>
                    <a:pt x="96" y="46"/>
                  </a:cubicBezTo>
                  <a:moveTo>
                    <a:pt x="56" y="64"/>
                  </a:moveTo>
                  <a:cubicBezTo>
                    <a:pt x="51" y="64"/>
                    <a:pt x="51" y="64"/>
                    <a:pt x="51" y="64"/>
                  </a:cubicBezTo>
                  <a:cubicBezTo>
                    <a:pt x="48" y="64"/>
                    <a:pt x="47" y="62"/>
                    <a:pt x="47" y="58"/>
                  </a:cubicBezTo>
                  <a:cubicBezTo>
                    <a:pt x="47" y="31"/>
                    <a:pt x="47" y="31"/>
                    <a:pt x="47" y="31"/>
                  </a:cubicBezTo>
                  <a:cubicBezTo>
                    <a:pt x="47" y="21"/>
                    <a:pt x="44" y="13"/>
                    <a:pt x="38" y="7"/>
                  </a:cubicBezTo>
                  <a:cubicBezTo>
                    <a:pt x="32" y="2"/>
                    <a:pt x="25" y="0"/>
                    <a:pt x="17" y="0"/>
                  </a:cubicBezTo>
                  <a:cubicBezTo>
                    <a:pt x="11" y="0"/>
                    <a:pt x="6" y="1"/>
                    <a:pt x="2" y="2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6" y="9"/>
                    <a:pt x="10" y="8"/>
                    <a:pt x="15" y="8"/>
                  </a:cubicBezTo>
                  <a:cubicBezTo>
                    <a:pt x="31" y="8"/>
                    <a:pt x="38" y="16"/>
                    <a:pt x="38" y="33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8" y="61"/>
                    <a:pt x="39" y="63"/>
                    <a:pt x="40" y="64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56" y="72"/>
                    <a:pt x="56" y="72"/>
                    <a:pt x="56" y="72"/>
                  </a:cubicBezTo>
                  <a:lnTo>
                    <a:pt x="56" y="64"/>
                  </a:ln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2FE2104-1613-4965-A4ED-53BA3581DE51}"/>
                </a:ext>
              </a:extLst>
            </p:cNvPr>
            <p:cNvGrpSpPr/>
            <p:nvPr userDrawn="1"/>
          </p:nvGrpSpPr>
          <p:grpSpPr>
            <a:xfrm>
              <a:off x="2530476" y="6227763"/>
              <a:ext cx="412750" cy="417513"/>
              <a:chOff x="2530476" y="6227763"/>
              <a:chExt cx="412750" cy="417513"/>
            </a:xfrm>
          </p:grpSpPr>
          <p:sp>
            <p:nvSpPr>
              <p:cNvPr id="10" name="Oval 7">
                <a:extLst>
                  <a:ext uri="{FF2B5EF4-FFF2-40B4-BE49-F238E27FC236}">
                    <a16:creationId xmlns:a16="http://schemas.microsoft.com/office/drawing/2014/main" id="{2DA2F4A4-B81B-4574-A4A2-E8A6B075D08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2530476" y="6227763"/>
                <a:ext cx="412750" cy="4175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8">
                <a:extLst>
                  <a:ext uri="{FF2B5EF4-FFF2-40B4-BE49-F238E27FC236}">
                    <a16:creationId xmlns:a16="http://schemas.microsoft.com/office/drawing/2014/main" id="{138E14E4-183C-4888-A492-992EADB6EE4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2752726" y="6480175"/>
                <a:ext cx="65088" cy="96838"/>
              </a:xfrm>
              <a:custGeom>
                <a:avLst/>
                <a:gdLst>
                  <a:gd name="T0" fmla="*/ 38 w 38"/>
                  <a:gd name="T1" fmla="*/ 56 h 56"/>
                  <a:gd name="T2" fmla="*/ 32 w 38"/>
                  <a:gd name="T3" fmla="*/ 7 h 56"/>
                  <a:gd name="T4" fmla="*/ 18 w 38"/>
                  <a:gd name="T5" fmla="*/ 0 h 56"/>
                  <a:gd name="T6" fmla="*/ 11 w 38"/>
                  <a:gd name="T7" fmla="*/ 56 h 56"/>
                  <a:gd name="T8" fmla="*/ 38 w 38"/>
                  <a:gd name="T9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56">
                    <a:moveTo>
                      <a:pt x="38" y="56"/>
                    </a:moveTo>
                    <a:cubicBezTo>
                      <a:pt x="18" y="45"/>
                      <a:pt x="20" y="24"/>
                      <a:pt x="32" y="7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" y="12"/>
                      <a:pt x="0" y="41"/>
                      <a:pt x="11" y="56"/>
                    </a:cubicBezTo>
                    <a:lnTo>
                      <a:pt x="38" y="5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Freeform 9">
                <a:extLst>
                  <a:ext uri="{FF2B5EF4-FFF2-40B4-BE49-F238E27FC236}">
                    <a16:creationId xmlns:a16="http://schemas.microsoft.com/office/drawing/2014/main" id="{EAA81855-0880-4F78-93BF-6157E0101C9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2576513" y="6284913"/>
                <a:ext cx="238125" cy="292100"/>
              </a:xfrm>
              <a:custGeom>
                <a:avLst/>
                <a:gdLst>
                  <a:gd name="T0" fmla="*/ 81 w 140"/>
                  <a:gd name="T1" fmla="*/ 169 h 169"/>
                  <a:gd name="T2" fmla="*/ 107 w 140"/>
                  <a:gd name="T3" fmla="*/ 169 h 169"/>
                  <a:gd name="T4" fmla="*/ 107 w 140"/>
                  <a:gd name="T5" fmla="*/ 124 h 169"/>
                  <a:gd name="T6" fmla="*/ 139 w 140"/>
                  <a:gd name="T7" fmla="*/ 73 h 169"/>
                  <a:gd name="T8" fmla="*/ 83 w 140"/>
                  <a:gd name="T9" fmla="*/ 0 h 169"/>
                  <a:gd name="T10" fmla="*/ 80 w 140"/>
                  <a:gd name="T11" fmla="*/ 119 h 169"/>
                  <a:gd name="T12" fmla="*/ 85 w 140"/>
                  <a:gd name="T13" fmla="*/ 109 h 169"/>
                  <a:gd name="T14" fmla="*/ 90 w 140"/>
                  <a:gd name="T15" fmla="*/ 101 h 169"/>
                  <a:gd name="T16" fmla="*/ 91 w 140"/>
                  <a:gd name="T17" fmla="*/ 13 h 169"/>
                  <a:gd name="T18" fmla="*/ 119 w 140"/>
                  <a:gd name="T19" fmla="*/ 71 h 169"/>
                  <a:gd name="T20" fmla="*/ 91 w 140"/>
                  <a:gd name="T21" fmla="*/ 111 h 169"/>
                  <a:gd name="T22" fmla="*/ 81 w 140"/>
                  <a:gd name="T23" fmla="*/ 169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40" h="169">
                    <a:moveTo>
                      <a:pt x="81" y="169"/>
                    </a:moveTo>
                    <a:cubicBezTo>
                      <a:pt x="107" y="169"/>
                      <a:pt x="107" y="169"/>
                      <a:pt x="107" y="169"/>
                    </a:cubicBezTo>
                    <a:cubicBezTo>
                      <a:pt x="100" y="156"/>
                      <a:pt x="101" y="138"/>
                      <a:pt x="107" y="124"/>
                    </a:cubicBezTo>
                    <a:cubicBezTo>
                      <a:pt x="115" y="106"/>
                      <a:pt x="140" y="96"/>
                      <a:pt x="139" y="73"/>
                    </a:cubicBezTo>
                    <a:cubicBezTo>
                      <a:pt x="138" y="43"/>
                      <a:pt x="108" y="13"/>
                      <a:pt x="83" y="0"/>
                    </a:cubicBezTo>
                    <a:cubicBezTo>
                      <a:pt x="101" y="35"/>
                      <a:pt x="0" y="78"/>
                      <a:pt x="80" y="119"/>
                    </a:cubicBezTo>
                    <a:cubicBezTo>
                      <a:pt x="80" y="119"/>
                      <a:pt x="83" y="113"/>
                      <a:pt x="85" y="109"/>
                    </a:cubicBezTo>
                    <a:cubicBezTo>
                      <a:pt x="86" y="106"/>
                      <a:pt x="90" y="101"/>
                      <a:pt x="90" y="101"/>
                    </a:cubicBezTo>
                    <a:cubicBezTo>
                      <a:pt x="42" y="78"/>
                      <a:pt x="95" y="47"/>
                      <a:pt x="91" y="13"/>
                    </a:cubicBezTo>
                    <a:cubicBezTo>
                      <a:pt x="103" y="26"/>
                      <a:pt x="121" y="53"/>
                      <a:pt x="119" y="71"/>
                    </a:cubicBezTo>
                    <a:cubicBezTo>
                      <a:pt x="117" y="89"/>
                      <a:pt x="100" y="97"/>
                      <a:pt x="91" y="111"/>
                    </a:cubicBezTo>
                    <a:cubicBezTo>
                      <a:pt x="81" y="124"/>
                      <a:pt x="80" y="149"/>
                      <a:pt x="81" y="169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Freeform 10">
                <a:extLst>
                  <a:ext uri="{FF2B5EF4-FFF2-40B4-BE49-F238E27FC236}">
                    <a16:creationId xmlns:a16="http://schemas.microsoft.com/office/drawing/2014/main" id="{278EDA77-DC9D-4BB9-9531-646D410426F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2652713" y="6473825"/>
                <a:ext cx="57150" cy="103188"/>
              </a:xfrm>
              <a:custGeom>
                <a:avLst/>
                <a:gdLst>
                  <a:gd name="T0" fmla="*/ 33 w 33"/>
                  <a:gd name="T1" fmla="*/ 15 h 59"/>
                  <a:gd name="T2" fmla="*/ 23 w 33"/>
                  <a:gd name="T3" fmla="*/ 9 h 59"/>
                  <a:gd name="T4" fmla="*/ 10 w 33"/>
                  <a:gd name="T5" fmla="*/ 0 h 59"/>
                  <a:gd name="T6" fmla="*/ 0 w 33"/>
                  <a:gd name="T7" fmla="*/ 59 h 59"/>
                  <a:gd name="T8" fmla="*/ 30 w 33"/>
                  <a:gd name="T9" fmla="*/ 59 h 59"/>
                  <a:gd name="T10" fmla="*/ 33 w 33"/>
                  <a:gd name="T11" fmla="*/ 15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" h="59">
                    <a:moveTo>
                      <a:pt x="33" y="15"/>
                    </a:moveTo>
                    <a:cubicBezTo>
                      <a:pt x="33" y="15"/>
                      <a:pt x="27" y="12"/>
                      <a:pt x="23" y="9"/>
                    </a:cubicBezTo>
                    <a:cubicBezTo>
                      <a:pt x="18" y="6"/>
                      <a:pt x="10" y="0"/>
                      <a:pt x="10" y="0"/>
                    </a:cubicBezTo>
                    <a:cubicBezTo>
                      <a:pt x="16" y="20"/>
                      <a:pt x="16" y="45"/>
                      <a:pt x="0" y="59"/>
                    </a:cubicBezTo>
                    <a:cubicBezTo>
                      <a:pt x="30" y="59"/>
                      <a:pt x="30" y="59"/>
                      <a:pt x="30" y="59"/>
                    </a:cubicBezTo>
                    <a:cubicBezTo>
                      <a:pt x="30" y="42"/>
                      <a:pt x="30" y="29"/>
                      <a:pt x="33" y="15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3354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D98B74B4-99AD-4A7C-8C25-EB2620233D5E}"/>
              </a:ext>
            </a:extLst>
          </p:cNvPr>
          <p:cNvSpPr/>
          <p:nvPr userDrawn="1"/>
        </p:nvSpPr>
        <p:spPr>
          <a:xfrm rot="19795236" flipH="1">
            <a:off x="5920963" y="805826"/>
            <a:ext cx="7141728" cy="3313804"/>
          </a:xfrm>
          <a:custGeom>
            <a:avLst/>
            <a:gdLst>
              <a:gd name="connsiteX0" fmla="*/ 0 w 7141728"/>
              <a:gd name="connsiteY0" fmla="*/ 879151 h 3313804"/>
              <a:gd name="connsiteX1" fmla="*/ 1517874 w 7141728"/>
              <a:gd name="connsiteY1" fmla="*/ 0 h 3313804"/>
              <a:gd name="connsiteX2" fmla="*/ 5222375 w 7141728"/>
              <a:gd name="connsiteY2" fmla="*/ 0 h 3313804"/>
              <a:gd name="connsiteX3" fmla="*/ 7141728 w 7141728"/>
              <a:gd name="connsiteY3" fmla="*/ 3313804 h 3313804"/>
              <a:gd name="connsiteX4" fmla="*/ 1410150 w 7141728"/>
              <a:gd name="connsiteY4" fmla="*/ 3313804 h 3313804"/>
              <a:gd name="connsiteX5" fmla="*/ 0 w 7141728"/>
              <a:gd name="connsiteY5" fmla="*/ 879151 h 3313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41728" h="3313804">
                <a:moveTo>
                  <a:pt x="0" y="879151"/>
                </a:moveTo>
                <a:lnTo>
                  <a:pt x="1517874" y="0"/>
                </a:lnTo>
                <a:lnTo>
                  <a:pt x="5222375" y="0"/>
                </a:lnTo>
                <a:lnTo>
                  <a:pt x="7141728" y="3313804"/>
                </a:lnTo>
                <a:lnTo>
                  <a:pt x="1410150" y="3313804"/>
                </a:lnTo>
                <a:lnTo>
                  <a:pt x="0" y="87915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0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6743756-CD24-4CF8-84C4-F4B1A545E6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32348" y="1880748"/>
            <a:ext cx="4966001" cy="4983602"/>
          </a:xfrm>
          <a:custGeom>
            <a:avLst/>
            <a:gdLst>
              <a:gd name="connsiteX0" fmla="*/ 0 w 4959716"/>
              <a:gd name="connsiteY0" fmla="*/ 5017892 h 5017892"/>
              <a:gd name="connsiteX1" fmla="*/ 1239929 w 4959716"/>
              <a:gd name="connsiteY1" fmla="*/ 0 h 5017892"/>
              <a:gd name="connsiteX2" fmla="*/ 4959716 w 4959716"/>
              <a:gd name="connsiteY2" fmla="*/ 0 h 5017892"/>
              <a:gd name="connsiteX3" fmla="*/ 3719787 w 4959716"/>
              <a:gd name="connsiteY3" fmla="*/ 5017892 h 5017892"/>
              <a:gd name="connsiteX4" fmla="*/ 0 w 4959716"/>
              <a:gd name="connsiteY4" fmla="*/ 5017892 h 5017892"/>
              <a:gd name="connsiteX0" fmla="*/ 4671 w 4964387"/>
              <a:gd name="connsiteY0" fmla="*/ 5030592 h 5030592"/>
              <a:gd name="connsiteX1" fmla="*/ 0 w 4964387"/>
              <a:gd name="connsiteY1" fmla="*/ 0 h 5030592"/>
              <a:gd name="connsiteX2" fmla="*/ 4964387 w 4964387"/>
              <a:gd name="connsiteY2" fmla="*/ 12700 h 5030592"/>
              <a:gd name="connsiteX3" fmla="*/ 3724458 w 4964387"/>
              <a:gd name="connsiteY3" fmla="*/ 5030592 h 5030592"/>
              <a:gd name="connsiteX4" fmla="*/ 4671 w 4964387"/>
              <a:gd name="connsiteY4" fmla="*/ 5030592 h 5030592"/>
              <a:gd name="connsiteX0" fmla="*/ 4671 w 4970737"/>
              <a:gd name="connsiteY0" fmla="*/ 5030592 h 5030592"/>
              <a:gd name="connsiteX1" fmla="*/ 0 w 4970737"/>
              <a:gd name="connsiteY1" fmla="*/ 0 h 5030592"/>
              <a:gd name="connsiteX2" fmla="*/ 4970737 w 4970737"/>
              <a:gd name="connsiteY2" fmla="*/ 2908300 h 5030592"/>
              <a:gd name="connsiteX3" fmla="*/ 3724458 w 4970737"/>
              <a:gd name="connsiteY3" fmla="*/ 5030592 h 5030592"/>
              <a:gd name="connsiteX4" fmla="*/ 4671 w 4970737"/>
              <a:gd name="connsiteY4" fmla="*/ 5030592 h 5030592"/>
              <a:gd name="connsiteX0" fmla="*/ 4671 w 4970737"/>
              <a:gd name="connsiteY0" fmla="*/ 5030592 h 5036942"/>
              <a:gd name="connsiteX1" fmla="*/ 0 w 4970737"/>
              <a:gd name="connsiteY1" fmla="*/ 0 h 5036942"/>
              <a:gd name="connsiteX2" fmla="*/ 4970737 w 4970737"/>
              <a:gd name="connsiteY2" fmla="*/ 2908300 h 5036942"/>
              <a:gd name="connsiteX3" fmla="*/ 4969058 w 4970737"/>
              <a:gd name="connsiteY3" fmla="*/ 5036942 h 5036942"/>
              <a:gd name="connsiteX4" fmla="*/ 4671 w 4970737"/>
              <a:gd name="connsiteY4" fmla="*/ 5030592 h 5036942"/>
              <a:gd name="connsiteX0" fmla="*/ 4671 w 4970737"/>
              <a:gd name="connsiteY0" fmla="*/ 5030592 h 5036942"/>
              <a:gd name="connsiteX1" fmla="*/ 5038 w 4970737"/>
              <a:gd name="connsiteY1" fmla="*/ 5030592 h 5036942"/>
              <a:gd name="connsiteX2" fmla="*/ 0 w 4970737"/>
              <a:gd name="connsiteY2" fmla="*/ 0 h 5036942"/>
              <a:gd name="connsiteX3" fmla="*/ 4970737 w 4970737"/>
              <a:gd name="connsiteY3" fmla="*/ 2908300 h 5036942"/>
              <a:gd name="connsiteX4" fmla="*/ 4969058 w 4970737"/>
              <a:gd name="connsiteY4" fmla="*/ 5036942 h 5036942"/>
              <a:gd name="connsiteX5" fmla="*/ 4671 w 4970737"/>
              <a:gd name="connsiteY5" fmla="*/ 5030592 h 5036942"/>
              <a:gd name="connsiteX0" fmla="*/ 703171 w 4970737"/>
              <a:gd name="connsiteY0" fmla="*/ 4522592 h 5036942"/>
              <a:gd name="connsiteX1" fmla="*/ 5038 w 4970737"/>
              <a:gd name="connsiteY1" fmla="*/ 5030592 h 5036942"/>
              <a:gd name="connsiteX2" fmla="*/ 0 w 4970737"/>
              <a:gd name="connsiteY2" fmla="*/ 0 h 5036942"/>
              <a:gd name="connsiteX3" fmla="*/ 4970737 w 4970737"/>
              <a:gd name="connsiteY3" fmla="*/ 2908300 h 5036942"/>
              <a:gd name="connsiteX4" fmla="*/ 4969058 w 4970737"/>
              <a:gd name="connsiteY4" fmla="*/ 5036942 h 5036942"/>
              <a:gd name="connsiteX5" fmla="*/ 703171 w 4970737"/>
              <a:gd name="connsiteY5" fmla="*/ 4522592 h 5036942"/>
              <a:gd name="connsiteX0" fmla="*/ 2081121 w 4970737"/>
              <a:gd name="connsiteY0" fmla="*/ 5036942 h 5036942"/>
              <a:gd name="connsiteX1" fmla="*/ 5038 w 4970737"/>
              <a:gd name="connsiteY1" fmla="*/ 5030592 h 5036942"/>
              <a:gd name="connsiteX2" fmla="*/ 0 w 4970737"/>
              <a:gd name="connsiteY2" fmla="*/ 0 h 5036942"/>
              <a:gd name="connsiteX3" fmla="*/ 4970737 w 4970737"/>
              <a:gd name="connsiteY3" fmla="*/ 2908300 h 5036942"/>
              <a:gd name="connsiteX4" fmla="*/ 4969058 w 4970737"/>
              <a:gd name="connsiteY4" fmla="*/ 5036942 h 5036942"/>
              <a:gd name="connsiteX5" fmla="*/ 2081121 w 4970737"/>
              <a:gd name="connsiteY5" fmla="*/ 5036942 h 5036942"/>
              <a:gd name="connsiteX0" fmla="*/ 2081121 w 4970737"/>
              <a:gd name="connsiteY0" fmla="*/ 5036942 h 5036942"/>
              <a:gd name="connsiteX1" fmla="*/ 5038 w 4970737"/>
              <a:gd name="connsiteY1" fmla="*/ 3849492 h 5036942"/>
              <a:gd name="connsiteX2" fmla="*/ 0 w 4970737"/>
              <a:gd name="connsiteY2" fmla="*/ 0 h 5036942"/>
              <a:gd name="connsiteX3" fmla="*/ 4970737 w 4970737"/>
              <a:gd name="connsiteY3" fmla="*/ 2908300 h 5036942"/>
              <a:gd name="connsiteX4" fmla="*/ 4969058 w 4970737"/>
              <a:gd name="connsiteY4" fmla="*/ 5036942 h 5036942"/>
              <a:gd name="connsiteX5" fmla="*/ 2081121 w 4970737"/>
              <a:gd name="connsiteY5" fmla="*/ 5036942 h 5036942"/>
              <a:gd name="connsiteX0" fmla="*/ 2081121 w 4970737"/>
              <a:gd name="connsiteY0" fmla="*/ 5036942 h 5036942"/>
              <a:gd name="connsiteX1" fmla="*/ 5038 w 4970737"/>
              <a:gd name="connsiteY1" fmla="*/ 3849492 h 5036942"/>
              <a:gd name="connsiteX2" fmla="*/ 0 w 4970737"/>
              <a:gd name="connsiteY2" fmla="*/ 0 h 5036942"/>
              <a:gd name="connsiteX3" fmla="*/ 4970737 w 4970737"/>
              <a:gd name="connsiteY3" fmla="*/ 2901950 h 5036942"/>
              <a:gd name="connsiteX4" fmla="*/ 4969058 w 4970737"/>
              <a:gd name="connsiteY4" fmla="*/ 5036942 h 5036942"/>
              <a:gd name="connsiteX5" fmla="*/ 2081121 w 4970737"/>
              <a:gd name="connsiteY5" fmla="*/ 5036942 h 5036942"/>
              <a:gd name="connsiteX0" fmla="*/ 2076279 w 4965895"/>
              <a:gd name="connsiteY0" fmla="*/ 4979792 h 4979792"/>
              <a:gd name="connsiteX1" fmla="*/ 196 w 4965895"/>
              <a:gd name="connsiteY1" fmla="*/ 3792342 h 4979792"/>
              <a:gd name="connsiteX2" fmla="*/ 6588 w 4965895"/>
              <a:gd name="connsiteY2" fmla="*/ 0 h 4979792"/>
              <a:gd name="connsiteX3" fmla="*/ 4965895 w 4965895"/>
              <a:gd name="connsiteY3" fmla="*/ 2844800 h 4979792"/>
              <a:gd name="connsiteX4" fmla="*/ 4964216 w 4965895"/>
              <a:gd name="connsiteY4" fmla="*/ 4979792 h 4979792"/>
              <a:gd name="connsiteX5" fmla="*/ 2076279 w 4965895"/>
              <a:gd name="connsiteY5" fmla="*/ 4979792 h 4979792"/>
              <a:gd name="connsiteX0" fmla="*/ 2076385 w 4966001"/>
              <a:gd name="connsiteY0" fmla="*/ 4983602 h 4983602"/>
              <a:gd name="connsiteX1" fmla="*/ 302 w 4966001"/>
              <a:gd name="connsiteY1" fmla="*/ 3796152 h 4983602"/>
              <a:gd name="connsiteX2" fmla="*/ 2884 w 4966001"/>
              <a:gd name="connsiteY2" fmla="*/ 0 h 4983602"/>
              <a:gd name="connsiteX3" fmla="*/ 4966001 w 4966001"/>
              <a:gd name="connsiteY3" fmla="*/ 2848610 h 4983602"/>
              <a:gd name="connsiteX4" fmla="*/ 4964322 w 4966001"/>
              <a:gd name="connsiteY4" fmla="*/ 4983602 h 4983602"/>
              <a:gd name="connsiteX5" fmla="*/ 2076385 w 4966001"/>
              <a:gd name="connsiteY5" fmla="*/ 4983602 h 4983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66001" h="4983602">
                <a:moveTo>
                  <a:pt x="2076385" y="4983602"/>
                </a:moveTo>
                <a:lnTo>
                  <a:pt x="302" y="3796152"/>
                </a:lnTo>
                <a:cubicBezTo>
                  <a:pt x="-1377" y="2119288"/>
                  <a:pt x="4563" y="1676864"/>
                  <a:pt x="2884" y="0"/>
                </a:cubicBezTo>
                <a:lnTo>
                  <a:pt x="4966001" y="2848610"/>
                </a:lnTo>
                <a:cubicBezTo>
                  <a:pt x="4965441" y="3558157"/>
                  <a:pt x="4964882" y="4274055"/>
                  <a:pt x="4964322" y="4983602"/>
                </a:cubicBezTo>
                <a:lnTo>
                  <a:pt x="2076385" y="4983602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C7CF1B05-9F4D-40A5-A7B1-38A66E024E1C}"/>
              </a:ext>
            </a:extLst>
          </p:cNvPr>
          <p:cNvSpPr/>
          <p:nvPr userDrawn="1"/>
        </p:nvSpPr>
        <p:spPr>
          <a:xfrm flipH="1">
            <a:off x="0" y="1840110"/>
            <a:ext cx="7071360" cy="5017890"/>
          </a:xfrm>
          <a:custGeom>
            <a:avLst/>
            <a:gdLst>
              <a:gd name="connsiteX0" fmla="*/ 0 w 7071360"/>
              <a:gd name="connsiteY0" fmla="*/ 0 h 5017890"/>
              <a:gd name="connsiteX1" fmla="*/ 7071360 w 7071360"/>
              <a:gd name="connsiteY1" fmla="*/ 0 h 5017890"/>
              <a:gd name="connsiteX2" fmla="*/ 7071360 w 7071360"/>
              <a:gd name="connsiteY2" fmla="*/ 5017890 h 5017890"/>
              <a:gd name="connsiteX3" fmla="*/ 2050060 w 7071360"/>
              <a:gd name="connsiteY3" fmla="*/ 5017890 h 5017890"/>
              <a:gd name="connsiteX4" fmla="*/ 0 w 7071360"/>
              <a:gd name="connsiteY4" fmla="*/ 3903628 h 5017890"/>
              <a:gd name="connsiteX5" fmla="*/ 0 w 7071360"/>
              <a:gd name="connsiteY5" fmla="*/ 0 h 5017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71360" h="5017890">
                <a:moveTo>
                  <a:pt x="0" y="0"/>
                </a:moveTo>
                <a:lnTo>
                  <a:pt x="7071360" y="0"/>
                </a:lnTo>
                <a:lnTo>
                  <a:pt x="7071360" y="5017890"/>
                </a:lnTo>
                <a:lnTo>
                  <a:pt x="2050060" y="5017890"/>
                </a:lnTo>
                <a:lnTo>
                  <a:pt x="0" y="390362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783D4C-B068-43AD-88C9-A0D18B249B7B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398231" y="2118837"/>
            <a:ext cx="5627829" cy="2387600"/>
          </a:xfrm>
        </p:spPr>
        <p:txBody>
          <a:bodyPr anchor="b">
            <a:normAutofit/>
          </a:bodyPr>
          <a:lstStyle>
            <a:lvl1pPr algn="l" rtl="0">
              <a:defRPr sz="44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9CDE13-FEF2-43B7-810A-8EF488D11322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398231" y="4598512"/>
            <a:ext cx="5627829" cy="1655762"/>
          </a:xfrm>
        </p:spPr>
        <p:txBody>
          <a:bodyPr/>
          <a:lstStyle>
            <a:lvl1pPr marL="0" indent="0" algn="l" rtl="0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76DF87-7F27-4FF6-8B9F-A508696968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231" y="710434"/>
            <a:ext cx="2546134" cy="419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067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DEEA9B80-F9CE-4951-9F23-9442A864C4B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8684561" cy="5076312"/>
          </a:xfrm>
          <a:custGeom>
            <a:avLst/>
            <a:gdLst>
              <a:gd name="connsiteX0" fmla="*/ 0 w 4959716"/>
              <a:gd name="connsiteY0" fmla="*/ 5017892 h 5017892"/>
              <a:gd name="connsiteX1" fmla="*/ 1239929 w 4959716"/>
              <a:gd name="connsiteY1" fmla="*/ 0 h 5017892"/>
              <a:gd name="connsiteX2" fmla="*/ 4959716 w 4959716"/>
              <a:gd name="connsiteY2" fmla="*/ 0 h 5017892"/>
              <a:gd name="connsiteX3" fmla="*/ 3719787 w 4959716"/>
              <a:gd name="connsiteY3" fmla="*/ 5017892 h 5017892"/>
              <a:gd name="connsiteX4" fmla="*/ 0 w 4959716"/>
              <a:gd name="connsiteY4" fmla="*/ 5017892 h 5017892"/>
              <a:gd name="connsiteX0" fmla="*/ 4671 w 4964387"/>
              <a:gd name="connsiteY0" fmla="*/ 5030592 h 5030592"/>
              <a:gd name="connsiteX1" fmla="*/ 0 w 4964387"/>
              <a:gd name="connsiteY1" fmla="*/ 0 h 5030592"/>
              <a:gd name="connsiteX2" fmla="*/ 4964387 w 4964387"/>
              <a:gd name="connsiteY2" fmla="*/ 12700 h 5030592"/>
              <a:gd name="connsiteX3" fmla="*/ 3724458 w 4964387"/>
              <a:gd name="connsiteY3" fmla="*/ 5030592 h 5030592"/>
              <a:gd name="connsiteX4" fmla="*/ 4671 w 4964387"/>
              <a:gd name="connsiteY4" fmla="*/ 5030592 h 5030592"/>
              <a:gd name="connsiteX0" fmla="*/ 4671 w 4970737"/>
              <a:gd name="connsiteY0" fmla="*/ 5030592 h 5030592"/>
              <a:gd name="connsiteX1" fmla="*/ 0 w 4970737"/>
              <a:gd name="connsiteY1" fmla="*/ 0 h 5030592"/>
              <a:gd name="connsiteX2" fmla="*/ 4970737 w 4970737"/>
              <a:gd name="connsiteY2" fmla="*/ 2908300 h 5030592"/>
              <a:gd name="connsiteX3" fmla="*/ 3724458 w 4970737"/>
              <a:gd name="connsiteY3" fmla="*/ 5030592 h 5030592"/>
              <a:gd name="connsiteX4" fmla="*/ 4671 w 4970737"/>
              <a:gd name="connsiteY4" fmla="*/ 5030592 h 5030592"/>
              <a:gd name="connsiteX0" fmla="*/ 4671 w 4970737"/>
              <a:gd name="connsiteY0" fmla="*/ 5030592 h 5036942"/>
              <a:gd name="connsiteX1" fmla="*/ 0 w 4970737"/>
              <a:gd name="connsiteY1" fmla="*/ 0 h 5036942"/>
              <a:gd name="connsiteX2" fmla="*/ 4970737 w 4970737"/>
              <a:gd name="connsiteY2" fmla="*/ 2908300 h 5036942"/>
              <a:gd name="connsiteX3" fmla="*/ 4969058 w 4970737"/>
              <a:gd name="connsiteY3" fmla="*/ 5036942 h 5036942"/>
              <a:gd name="connsiteX4" fmla="*/ 4671 w 4970737"/>
              <a:gd name="connsiteY4" fmla="*/ 5030592 h 5036942"/>
              <a:gd name="connsiteX0" fmla="*/ 4671 w 4970737"/>
              <a:gd name="connsiteY0" fmla="*/ 5030592 h 5036942"/>
              <a:gd name="connsiteX1" fmla="*/ 5038 w 4970737"/>
              <a:gd name="connsiteY1" fmla="*/ 5030592 h 5036942"/>
              <a:gd name="connsiteX2" fmla="*/ 0 w 4970737"/>
              <a:gd name="connsiteY2" fmla="*/ 0 h 5036942"/>
              <a:gd name="connsiteX3" fmla="*/ 4970737 w 4970737"/>
              <a:gd name="connsiteY3" fmla="*/ 2908300 h 5036942"/>
              <a:gd name="connsiteX4" fmla="*/ 4969058 w 4970737"/>
              <a:gd name="connsiteY4" fmla="*/ 5036942 h 5036942"/>
              <a:gd name="connsiteX5" fmla="*/ 4671 w 4970737"/>
              <a:gd name="connsiteY5" fmla="*/ 5030592 h 5036942"/>
              <a:gd name="connsiteX0" fmla="*/ 703171 w 4970737"/>
              <a:gd name="connsiteY0" fmla="*/ 4522592 h 5036942"/>
              <a:gd name="connsiteX1" fmla="*/ 5038 w 4970737"/>
              <a:gd name="connsiteY1" fmla="*/ 5030592 h 5036942"/>
              <a:gd name="connsiteX2" fmla="*/ 0 w 4970737"/>
              <a:gd name="connsiteY2" fmla="*/ 0 h 5036942"/>
              <a:gd name="connsiteX3" fmla="*/ 4970737 w 4970737"/>
              <a:gd name="connsiteY3" fmla="*/ 2908300 h 5036942"/>
              <a:gd name="connsiteX4" fmla="*/ 4969058 w 4970737"/>
              <a:gd name="connsiteY4" fmla="*/ 5036942 h 5036942"/>
              <a:gd name="connsiteX5" fmla="*/ 703171 w 4970737"/>
              <a:gd name="connsiteY5" fmla="*/ 4522592 h 5036942"/>
              <a:gd name="connsiteX0" fmla="*/ 2081121 w 4970737"/>
              <a:gd name="connsiteY0" fmla="*/ 5036942 h 5036942"/>
              <a:gd name="connsiteX1" fmla="*/ 5038 w 4970737"/>
              <a:gd name="connsiteY1" fmla="*/ 5030592 h 5036942"/>
              <a:gd name="connsiteX2" fmla="*/ 0 w 4970737"/>
              <a:gd name="connsiteY2" fmla="*/ 0 h 5036942"/>
              <a:gd name="connsiteX3" fmla="*/ 4970737 w 4970737"/>
              <a:gd name="connsiteY3" fmla="*/ 2908300 h 5036942"/>
              <a:gd name="connsiteX4" fmla="*/ 4969058 w 4970737"/>
              <a:gd name="connsiteY4" fmla="*/ 5036942 h 5036942"/>
              <a:gd name="connsiteX5" fmla="*/ 2081121 w 4970737"/>
              <a:gd name="connsiteY5" fmla="*/ 5036942 h 5036942"/>
              <a:gd name="connsiteX0" fmla="*/ 2081121 w 4970737"/>
              <a:gd name="connsiteY0" fmla="*/ 5036942 h 5036942"/>
              <a:gd name="connsiteX1" fmla="*/ 5038 w 4970737"/>
              <a:gd name="connsiteY1" fmla="*/ 3849492 h 5036942"/>
              <a:gd name="connsiteX2" fmla="*/ 0 w 4970737"/>
              <a:gd name="connsiteY2" fmla="*/ 0 h 5036942"/>
              <a:gd name="connsiteX3" fmla="*/ 4970737 w 4970737"/>
              <a:gd name="connsiteY3" fmla="*/ 2908300 h 5036942"/>
              <a:gd name="connsiteX4" fmla="*/ 4969058 w 4970737"/>
              <a:gd name="connsiteY4" fmla="*/ 5036942 h 5036942"/>
              <a:gd name="connsiteX5" fmla="*/ 2081121 w 4970737"/>
              <a:gd name="connsiteY5" fmla="*/ 5036942 h 5036942"/>
              <a:gd name="connsiteX0" fmla="*/ 2081121 w 4970737"/>
              <a:gd name="connsiteY0" fmla="*/ 5036942 h 5036942"/>
              <a:gd name="connsiteX1" fmla="*/ 5038 w 4970737"/>
              <a:gd name="connsiteY1" fmla="*/ 3849492 h 5036942"/>
              <a:gd name="connsiteX2" fmla="*/ 0 w 4970737"/>
              <a:gd name="connsiteY2" fmla="*/ 0 h 5036942"/>
              <a:gd name="connsiteX3" fmla="*/ 4970737 w 4970737"/>
              <a:gd name="connsiteY3" fmla="*/ 2901950 h 5036942"/>
              <a:gd name="connsiteX4" fmla="*/ 4969058 w 4970737"/>
              <a:gd name="connsiteY4" fmla="*/ 5036942 h 5036942"/>
              <a:gd name="connsiteX5" fmla="*/ 2081121 w 4970737"/>
              <a:gd name="connsiteY5" fmla="*/ 5036942 h 5036942"/>
              <a:gd name="connsiteX0" fmla="*/ 2076279 w 4965895"/>
              <a:gd name="connsiteY0" fmla="*/ 4979792 h 4979792"/>
              <a:gd name="connsiteX1" fmla="*/ 196 w 4965895"/>
              <a:gd name="connsiteY1" fmla="*/ 3792342 h 4979792"/>
              <a:gd name="connsiteX2" fmla="*/ 6588 w 4965895"/>
              <a:gd name="connsiteY2" fmla="*/ 0 h 4979792"/>
              <a:gd name="connsiteX3" fmla="*/ 4965895 w 4965895"/>
              <a:gd name="connsiteY3" fmla="*/ 2844800 h 4979792"/>
              <a:gd name="connsiteX4" fmla="*/ 4964216 w 4965895"/>
              <a:gd name="connsiteY4" fmla="*/ 4979792 h 4979792"/>
              <a:gd name="connsiteX5" fmla="*/ 2076279 w 4965895"/>
              <a:gd name="connsiteY5" fmla="*/ 4979792 h 4979792"/>
              <a:gd name="connsiteX0" fmla="*/ 2076385 w 4966001"/>
              <a:gd name="connsiteY0" fmla="*/ 4983602 h 4983602"/>
              <a:gd name="connsiteX1" fmla="*/ 302 w 4966001"/>
              <a:gd name="connsiteY1" fmla="*/ 3796152 h 4983602"/>
              <a:gd name="connsiteX2" fmla="*/ 2884 w 4966001"/>
              <a:gd name="connsiteY2" fmla="*/ 0 h 4983602"/>
              <a:gd name="connsiteX3" fmla="*/ 4966001 w 4966001"/>
              <a:gd name="connsiteY3" fmla="*/ 2848610 h 4983602"/>
              <a:gd name="connsiteX4" fmla="*/ 4964322 w 4966001"/>
              <a:gd name="connsiteY4" fmla="*/ 4983602 h 4983602"/>
              <a:gd name="connsiteX5" fmla="*/ 2076385 w 4966001"/>
              <a:gd name="connsiteY5" fmla="*/ 4983602 h 4983602"/>
              <a:gd name="connsiteX0" fmla="*/ 9297261 w 12186877"/>
              <a:gd name="connsiteY0" fmla="*/ 6853042 h 6853042"/>
              <a:gd name="connsiteX1" fmla="*/ 7221178 w 12186877"/>
              <a:gd name="connsiteY1" fmla="*/ 5665592 h 6853042"/>
              <a:gd name="connsiteX2" fmla="*/ 0 w 12186877"/>
              <a:gd name="connsiteY2" fmla="*/ 0 h 6853042"/>
              <a:gd name="connsiteX3" fmla="*/ 12186877 w 12186877"/>
              <a:gd name="connsiteY3" fmla="*/ 4718050 h 6853042"/>
              <a:gd name="connsiteX4" fmla="*/ 12185198 w 12186877"/>
              <a:gd name="connsiteY4" fmla="*/ 6853042 h 6853042"/>
              <a:gd name="connsiteX5" fmla="*/ 9297261 w 12186877"/>
              <a:gd name="connsiteY5" fmla="*/ 6853042 h 6853042"/>
              <a:gd name="connsiteX0" fmla="*/ 9300145 w 12189761"/>
              <a:gd name="connsiteY0" fmla="*/ 6853042 h 6853042"/>
              <a:gd name="connsiteX1" fmla="*/ 302 w 12189761"/>
              <a:gd name="connsiteY1" fmla="*/ 5076312 h 6853042"/>
              <a:gd name="connsiteX2" fmla="*/ 2884 w 12189761"/>
              <a:gd name="connsiteY2" fmla="*/ 0 h 6853042"/>
              <a:gd name="connsiteX3" fmla="*/ 12189761 w 12189761"/>
              <a:gd name="connsiteY3" fmla="*/ 4718050 h 6853042"/>
              <a:gd name="connsiteX4" fmla="*/ 12188082 w 12189761"/>
              <a:gd name="connsiteY4" fmla="*/ 6853042 h 6853042"/>
              <a:gd name="connsiteX5" fmla="*/ 9300145 w 12189761"/>
              <a:gd name="connsiteY5" fmla="*/ 6853042 h 6853042"/>
              <a:gd name="connsiteX0" fmla="*/ 9300145 w 12188082"/>
              <a:gd name="connsiteY0" fmla="*/ 6853042 h 6853042"/>
              <a:gd name="connsiteX1" fmla="*/ 302 w 12188082"/>
              <a:gd name="connsiteY1" fmla="*/ 5076312 h 6853042"/>
              <a:gd name="connsiteX2" fmla="*/ 2884 w 12188082"/>
              <a:gd name="connsiteY2" fmla="*/ 0 h 6853042"/>
              <a:gd name="connsiteX3" fmla="*/ 8684561 w 12188082"/>
              <a:gd name="connsiteY3" fmla="*/ 3810 h 6853042"/>
              <a:gd name="connsiteX4" fmla="*/ 12188082 w 12188082"/>
              <a:gd name="connsiteY4" fmla="*/ 6853042 h 6853042"/>
              <a:gd name="connsiteX5" fmla="*/ 9300145 w 12188082"/>
              <a:gd name="connsiteY5" fmla="*/ 6853042 h 6853042"/>
              <a:gd name="connsiteX0" fmla="*/ 12188082 w 12188082"/>
              <a:gd name="connsiteY0" fmla="*/ 6853042 h 6853042"/>
              <a:gd name="connsiteX1" fmla="*/ 302 w 12188082"/>
              <a:gd name="connsiteY1" fmla="*/ 5076312 h 6853042"/>
              <a:gd name="connsiteX2" fmla="*/ 2884 w 12188082"/>
              <a:gd name="connsiteY2" fmla="*/ 0 h 6853042"/>
              <a:gd name="connsiteX3" fmla="*/ 8684561 w 12188082"/>
              <a:gd name="connsiteY3" fmla="*/ 3810 h 6853042"/>
              <a:gd name="connsiteX4" fmla="*/ 12188082 w 12188082"/>
              <a:gd name="connsiteY4" fmla="*/ 6853042 h 6853042"/>
              <a:gd name="connsiteX0" fmla="*/ 3724802 w 8684561"/>
              <a:gd name="connsiteY0" fmla="*/ 2027042 h 5076312"/>
              <a:gd name="connsiteX1" fmla="*/ 302 w 8684561"/>
              <a:gd name="connsiteY1" fmla="*/ 5076312 h 5076312"/>
              <a:gd name="connsiteX2" fmla="*/ 2884 w 8684561"/>
              <a:gd name="connsiteY2" fmla="*/ 0 h 5076312"/>
              <a:gd name="connsiteX3" fmla="*/ 8684561 w 8684561"/>
              <a:gd name="connsiteY3" fmla="*/ 3810 h 5076312"/>
              <a:gd name="connsiteX4" fmla="*/ 3724802 w 8684561"/>
              <a:gd name="connsiteY4" fmla="*/ 2027042 h 5076312"/>
              <a:gd name="connsiteX0" fmla="*/ 8684561 w 8684561"/>
              <a:gd name="connsiteY0" fmla="*/ 3810 h 5076312"/>
              <a:gd name="connsiteX1" fmla="*/ 302 w 8684561"/>
              <a:gd name="connsiteY1" fmla="*/ 5076312 h 5076312"/>
              <a:gd name="connsiteX2" fmla="*/ 2884 w 8684561"/>
              <a:gd name="connsiteY2" fmla="*/ 0 h 5076312"/>
              <a:gd name="connsiteX3" fmla="*/ 8684561 w 8684561"/>
              <a:gd name="connsiteY3" fmla="*/ 3810 h 5076312"/>
              <a:gd name="connsiteX0" fmla="*/ 8684561 w 8746449"/>
              <a:gd name="connsiteY0" fmla="*/ 3810 h 5076312"/>
              <a:gd name="connsiteX1" fmla="*/ 302 w 8746449"/>
              <a:gd name="connsiteY1" fmla="*/ 5076312 h 5076312"/>
              <a:gd name="connsiteX2" fmla="*/ 2884 w 8746449"/>
              <a:gd name="connsiteY2" fmla="*/ 0 h 5076312"/>
              <a:gd name="connsiteX3" fmla="*/ 8684561 w 8746449"/>
              <a:gd name="connsiteY3" fmla="*/ 3810 h 5076312"/>
              <a:gd name="connsiteX0" fmla="*/ 8684561 w 8737741"/>
              <a:gd name="connsiteY0" fmla="*/ 3810 h 5285899"/>
              <a:gd name="connsiteX1" fmla="*/ 302 w 8737741"/>
              <a:gd name="connsiteY1" fmla="*/ 5076312 h 5285899"/>
              <a:gd name="connsiteX2" fmla="*/ 2884 w 8737741"/>
              <a:gd name="connsiteY2" fmla="*/ 0 h 5285899"/>
              <a:gd name="connsiteX3" fmla="*/ 8684561 w 8737741"/>
              <a:gd name="connsiteY3" fmla="*/ 3810 h 5285899"/>
              <a:gd name="connsiteX0" fmla="*/ 8684561 w 8776054"/>
              <a:gd name="connsiteY0" fmla="*/ 3810 h 5076312"/>
              <a:gd name="connsiteX1" fmla="*/ 302 w 8776054"/>
              <a:gd name="connsiteY1" fmla="*/ 5076312 h 5076312"/>
              <a:gd name="connsiteX2" fmla="*/ 2884 w 8776054"/>
              <a:gd name="connsiteY2" fmla="*/ 0 h 5076312"/>
              <a:gd name="connsiteX3" fmla="*/ 8684561 w 8776054"/>
              <a:gd name="connsiteY3" fmla="*/ 3810 h 5076312"/>
              <a:gd name="connsiteX0" fmla="*/ 8684561 w 8684561"/>
              <a:gd name="connsiteY0" fmla="*/ 3810 h 5076312"/>
              <a:gd name="connsiteX1" fmla="*/ 302 w 8684561"/>
              <a:gd name="connsiteY1" fmla="*/ 5076312 h 5076312"/>
              <a:gd name="connsiteX2" fmla="*/ 2884 w 8684561"/>
              <a:gd name="connsiteY2" fmla="*/ 0 h 5076312"/>
              <a:gd name="connsiteX3" fmla="*/ 8684561 w 8684561"/>
              <a:gd name="connsiteY3" fmla="*/ 3810 h 5076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84561" h="5076312">
                <a:moveTo>
                  <a:pt x="8684561" y="3810"/>
                </a:moveTo>
                <a:lnTo>
                  <a:pt x="302" y="5076312"/>
                </a:lnTo>
                <a:cubicBezTo>
                  <a:pt x="-1377" y="3399448"/>
                  <a:pt x="4563" y="1676864"/>
                  <a:pt x="2884" y="0"/>
                </a:cubicBezTo>
                <a:lnTo>
                  <a:pt x="8684561" y="381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F5EAE63C-EC70-4AEF-966F-C58F24C3D247}"/>
              </a:ext>
            </a:extLst>
          </p:cNvPr>
          <p:cNvSpPr/>
          <p:nvPr userDrawn="1"/>
        </p:nvSpPr>
        <p:spPr>
          <a:xfrm flipH="1">
            <a:off x="7680960" y="4681771"/>
            <a:ext cx="4511040" cy="2176229"/>
          </a:xfrm>
          <a:prstGeom prst="rtTriangle">
            <a:avLst/>
          </a:prstGeom>
          <a:gradFill>
            <a:gsLst>
              <a:gs pos="0">
                <a:schemeClr val="accent1"/>
              </a:gs>
              <a:gs pos="90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14C1BE3-7F4A-485C-B102-FAFA21DB3143}"/>
              </a:ext>
            </a:extLst>
          </p:cNvPr>
          <p:cNvSpPr/>
          <p:nvPr userDrawn="1"/>
        </p:nvSpPr>
        <p:spPr>
          <a:xfrm flipH="1">
            <a:off x="3089801" y="2599736"/>
            <a:ext cx="3192430" cy="3728034"/>
          </a:xfrm>
          <a:custGeom>
            <a:avLst/>
            <a:gdLst>
              <a:gd name="connsiteX0" fmla="*/ 0 w 3453719"/>
              <a:gd name="connsiteY0" fmla="*/ 0 h 4033160"/>
              <a:gd name="connsiteX1" fmla="*/ 3453719 w 3453719"/>
              <a:gd name="connsiteY1" fmla="*/ 1994006 h 4033160"/>
              <a:gd name="connsiteX2" fmla="*/ 3453719 w 3453719"/>
              <a:gd name="connsiteY2" fmla="*/ 4033160 h 4033160"/>
              <a:gd name="connsiteX3" fmla="*/ 0 w 3453719"/>
              <a:gd name="connsiteY3" fmla="*/ 2039155 h 4033160"/>
              <a:gd name="connsiteX4" fmla="*/ 0 w 3453719"/>
              <a:gd name="connsiteY4" fmla="*/ 0 h 4033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3719" h="4033160">
                <a:moveTo>
                  <a:pt x="0" y="0"/>
                </a:moveTo>
                <a:lnTo>
                  <a:pt x="3453719" y="1994006"/>
                </a:lnTo>
                <a:lnTo>
                  <a:pt x="3453719" y="4033160"/>
                </a:lnTo>
                <a:lnTo>
                  <a:pt x="0" y="203915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C61DD3E-49D8-49B9-B808-72AC8DE26438}"/>
              </a:ext>
            </a:extLst>
          </p:cNvPr>
          <p:cNvSpPr/>
          <p:nvPr userDrawn="1"/>
        </p:nvSpPr>
        <p:spPr>
          <a:xfrm flipH="1">
            <a:off x="0" y="1505078"/>
            <a:ext cx="3657228" cy="4311532"/>
          </a:xfrm>
          <a:custGeom>
            <a:avLst/>
            <a:gdLst>
              <a:gd name="connsiteX0" fmla="*/ 3657228 w 3657228"/>
              <a:gd name="connsiteY0" fmla="*/ 0 h 4311532"/>
              <a:gd name="connsiteX1" fmla="*/ 3657228 w 3657228"/>
              <a:gd name="connsiteY1" fmla="*/ 2470756 h 4311532"/>
              <a:gd name="connsiteX2" fmla="*/ 0 w 3657228"/>
              <a:gd name="connsiteY2" fmla="*/ 4311532 h 4311532"/>
              <a:gd name="connsiteX3" fmla="*/ 0 w 3657228"/>
              <a:gd name="connsiteY3" fmla="*/ 1840777 h 4311532"/>
              <a:gd name="connsiteX4" fmla="*/ 3657228 w 3657228"/>
              <a:gd name="connsiteY4" fmla="*/ 0 h 4311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57228" h="4311532">
                <a:moveTo>
                  <a:pt x="3657228" y="0"/>
                </a:moveTo>
                <a:lnTo>
                  <a:pt x="3657228" y="2470756"/>
                </a:lnTo>
                <a:lnTo>
                  <a:pt x="0" y="4311532"/>
                </a:lnTo>
                <a:lnTo>
                  <a:pt x="0" y="1840777"/>
                </a:lnTo>
                <a:lnTo>
                  <a:pt x="3657228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4B963A9-C745-45E4-AD41-23E363DFB90B}"/>
              </a:ext>
            </a:extLst>
          </p:cNvPr>
          <p:cNvGrpSpPr/>
          <p:nvPr userDrawn="1"/>
        </p:nvGrpSpPr>
        <p:grpSpPr>
          <a:xfrm>
            <a:off x="9478246" y="6226175"/>
            <a:ext cx="2547937" cy="419101"/>
            <a:chOff x="396876" y="6226175"/>
            <a:chExt cx="2547937" cy="419101"/>
          </a:xfrm>
        </p:grpSpPr>
        <p:sp>
          <p:nvSpPr>
            <p:cNvPr id="11" name="AutoShape 3">
              <a:extLst>
                <a:ext uri="{FF2B5EF4-FFF2-40B4-BE49-F238E27FC236}">
                  <a16:creationId xmlns:a16="http://schemas.microsoft.com/office/drawing/2014/main" id="{0EB83A17-6400-482F-9AC1-4B15DC4AA7A0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398463" y="6226175"/>
              <a:ext cx="2546350" cy="41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E018F50C-54AA-4014-91F5-A0895CFE1C2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6876" y="6459538"/>
              <a:ext cx="2012950" cy="141288"/>
            </a:xfrm>
            <a:custGeom>
              <a:avLst/>
              <a:gdLst>
                <a:gd name="T0" fmla="*/ 1160 w 1179"/>
                <a:gd name="T1" fmla="*/ 55 h 82"/>
                <a:gd name="T2" fmla="*/ 1131 w 1179"/>
                <a:gd name="T3" fmla="*/ 38 h 82"/>
                <a:gd name="T4" fmla="*/ 1136 w 1179"/>
                <a:gd name="T5" fmla="*/ 61 h 82"/>
                <a:gd name="T6" fmla="*/ 1077 w 1179"/>
                <a:gd name="T7" fmla="*/ 57 h 82"/>
                <a:gd name="T8" fmla="*/ 1095 w 1179"/>
                <a:gd name="T9" fmla="*/ 21 h 82"/>
                <a:gd name="T10" fmla="*/ 1088 w 1179"/>
                <a:gd name="T11" fmla="*/ 56 h 82"/>
                <a:gd name="T12" fmla="*/ 1089 w 1179"/>
                <a:gd name="T13" fmla="*/ 76 h 82"/>
                <a:gd name="T14" fmla="*/ 1052 w 1179"/>
                <a:gd name="T15" fmla="*/ 43 h 82"/>
                <a:gd name="T16" fmla="*/ 1038 w 1179"/>
                <a:gd name="T17" fmla="*/ 58 h 82"/>
                <a:gd name="T18" fmla="*/ 985 w 1179"/>
                <a:gd name="T19" fmla="*/ 33 h 82"/>
                <a:gd name="T20" fmla="*/ 1003 w 1179"/>
                <a:gd name="T21" fmla="*/ 53 h 82"/>
                <a:gd name="T22" fmla="*/ 926 w 1179"/>
                <a:gd name="T23" fmla="*/ 26 h 82"/>
                <a:gd name="T24" fmla="*/ 927 w 1179"/>
                <a:gd name="T25" fmla="*/ 64 h 82"/>
                <a:gd name="T26" fmla="*/ 873 w 1179"/>
                <a:gd name="T27" fmla="*/ 63 h 82"/>
                <a:gd name="T28" fmla="*/ 899 w 1179"/>
                <a:gd name="T29" fmla="*/ 38 h 82"/>
                <a:gd name="T30" fmla="*/ 866 w 1179"/>
                <a:gd name="T31" fmla="*/ 63 h 82"/>
                <a:gd name="T32" fmla="*/ 844 w 1179"/>
                <a:gd name="T33" fmla="*/ 61 h 82"/>
                <a:gd name="T34" fmla="*/ 858 w 1179"/>
                <a:gd name="T35" fmla="*/ 27 h 82"/>
                <a:gd name="T36" fmla="*/ 816 w 1179"/>
                <a:gd name="T37" fmla="*/ 27 h 82"/>
                <a:gd name="T38" fmla="*/ 814 w 1179"/>
                <a:gd name="T39" fmla="*/ 0 h 82"/>
                <a:gd name="T40" fmla="*/ 800 w 1179"/>
                <a:gd name="T41" fmla="*/ 63 h 82"/>
                <a:gd name="T42" fmla="*/ 772 w 1179"/>
                <a:gd name="T43" fmla="*/ 20 h 82"/>
                <a:gd name="T44" fmla="*/ 710 w 1179"/>
                <a:gd name="T45" fmla="*/ 62 h 82"/>
                <a:gd name="T46" fmla="*/ 732 w 1179"/>
                <a:gd name="T47" fmla="*/ 21 h 82"/>
                <a:gd name="T48" fmla="*/ 695 w 1179"/>
                <a:gd name="T49" fmla="*/ 21 h 82"/>
                <a:gd name="T50" fmla="*/ 677 w 1179"/>
                <a:gd name="T51" fmla="*/ 61 h 82"/>
                <a:gd name="T52" fmla="*/ 691 w 1179"/>
                <a:gd name="T53" fmla="*/ 27 h 82"/>
                <a:gd name="T54" fmla="*/ 657 w 1179"/>
                <a:gd name="T55" fmla="*/ 14 h 82"/>
                <a:gd name="T56" fmla="*/ 661 w 1179"/>
                <a:gd name="T57" fmla="*/ 21 h 82"/>
                <a:gd name="T58" fmla="*/ 642 w 1179"/>
                <a:gd name="T59" fmla="*/ 28 h 82"/>
                <a:gd name="T60" fmla="*/ 621 w 1179"/>
                <a:gd name="T61" fmla="*/ 55 h 82"/>
                <a:gd name="T62" fmla="*/ 615 w 1179"/>
                <a:gd name="T63" fmla="*/ 27 h 82"/>
                <a:gd name="T64" fmla="*/ 596 w 1179"/>
                <a:gd name="T65" fmla="*/ 34 h 82"/>
                <a:gd name="T66" fmla="*/ 587 w 1179"/>
                <a:gd name="T67" fmla="*/ 40 h 82"/>
                <a:gd name="T68" fmla="*/ 560 w 1179"/>
                <a:gd name="T69" fmla="*/ 43 h 82"/>
                <a:gd name="T70" fmla="*/ 535 w 1179"/>
                <a:gd name="T71" fmla="*/ 44 h 82"/>
                <a:gd name="T72" fmla="*/ 498 w 1179"/>
                <a:gd name="T73" fmla="*/ 9 h 82"/>
                <a:gd name="T74" fmla="*/ 506 w 1179"/>
                <a:gd name="T75" fmla="*/ 63 h 82"/>
                <a:gd name="T76" fmla="*/ 480 w 1179"/>
                <a:gd name="T77" fmla="*/ 39 h 82"/>
                <a:gd name="T78" fmla="*/ 460 w 1179"/>
                <a:gd name="T79" fmla="*/ 21 h 82"/>
                <a:gd name="T80" fmla="*/ 442 w 1179"/>
                <a:gd name="T81" fmla="*/ 39 h 82"/>
                <a:gd name="T82" fmla="*/ 402 w 1179"/>
                <a:gd name="T83" fmla="*/ 5 h 82"/>
                <a:gd name="T84" fmla="*/ 367 w 1179"/>
                <a:gd name="T85" fmla="*/ 63 h 82"/>
                <a:gd name="T86" fmla="*/ 340 w 1179"/>
                <a:gd name="T87" fmla="*/ 21 h 82"/>
                <a:gd name="T88" fmla="*/ 313 w 1179"/>
                <a:gd name="T89" fmla="*/ 26 h 82"/>
                <a:gd name="T90" fmla="*/ 277 w 1179"/>
                <a:gd name="T91" fmla="*/ 9 h 82"/>
                <a:gd name="T92" fmla="*/ 285 w 1179"/>
                <a:gd name="T93" fmla="*/ 63 h 82"/>
                <a:gd name="T94" fmla="*/ 270 w 1179"/>
                <a:gd name="T95" fmla="*/ 27 h 82"/>
                <a:gd name="T96" fmla="*/ 251 w 1179"/>
                <a:gd name="T97" fmla="*/ 34 h 82"/>
                <a:gd name="T98" fmla="*/ 214 w 1179"/>
                <a:gd name="T99" fmla="*/ 44 h 82"/>
                <a:gd name="T100" fmla="*/ 233 w 1179"/>
                <a:gd name="T101" fmla="*/ 63 h 82"/>
                <a:gd name="T102" fmla="*/ 189 w 1179"/>
                <a:gd name="T103" fmla="*/ 38 h 82"/>
                <a:gd name="T104" fmla="*/ 181 w 1179"/>
                <a:gd name="T105" fmla="*/ 4 h 82"/>
                <a:gd name="T106" fmla="*/ 145 w 1179"/>
                <a:gd name="T107" fmla="*/ 42 h 82"/>
                <a:gd name="T108" fmla="*/ 92 w 1179"/>
                <a:gd name="T109" fmla="*/ 34 h 82"/>
                <a:gd name="T110" fmla="*/ 91 w 1179"/>
                <a:gd name="T111" fmla="*/ 28 h 82"/>
                <a:gd name="T112" fmla="*/ 59 w 1179"/>
                <a:gd name="T113" fmla="*/ 26 h 82"/>
                <a:gd name="T114" fmla="*/ 60 w 1179"/>
                <a:gd name="T115" fmla="*/ 64 h 82"/>
                <a:gd name="T116" fmla="*/ 13 w 1179"/>
                <a:gd name="T117" fmla="*/ 35 h 82"/>
                <a:gd name="T118" fmla="*/ 25 w 1179"/>
                <a:gd name="T119" fmla="*/ 19 h 82"/>
                <a:gd name="T120" fmla="*/ 35 w 1179"/>
                <a:gd name="T121" fmla="*/ 46 h 82"/>
                <a:gd name="T122" fmla="*/ 0 w 1179"/>
                <a:gd name="T123" fmla="*/ 63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179" h="82">
                  <a:moveTo>
                    <a:pt x="1142" y="21"/>
                  </a:moveTo>
                  <a:cubicBezTo>
                    <a:pt x="1157" y="63"/>
                    <a:pt x="1157" y="63"/>
                    <a:pt x="1157" y="63"/>
                  </a:cubicBezTo>
                  <a:cubicBezTo>
                    <a:pt x="1163" y="63"/>
                    <a:pt x="1163" y="63"/>
                    <a:pt x="1163" y="63"/>
                  </a:cubicBezTo>
                  <a:cubicBezTo>
                    <a:pt x="1179" y="21"/>
                    <a:pt x="1179" y="21"/>
                    <a:pt x="1179" y="21"/>
                  </a:cubicBezTo>
                  <a:cubicBezTo>
                    <a:pt x="1171" y="21"/>
                    <a:pt x="1171" y="21"/>
                    <a:pt x="1171" y="21"/>
                  </a:cubicBezTo>
                  <a:cubicBezTo>
                    <a:pt x="1164" y="44"/>
                    <a:pt x="1164" y="44"/>
                    <a:pt x="1164" y="44"/>
                  </a:cubicBezTo>
                  <a:cubicBezTo>
                    <a:pt x="1162" y="48"/>
                    <a:pt x="1161" y="52"/>
                    <a:pt x="1160" y="55"/>
                  </a:cubicBezTo>
                  <a:cubicBezTo>
                    <a:pt x="1160" y="55"/>
                    <a:pt x="1160" y="55"/>
                    <a:pt x="1160" y="55"/>
                  </a:cubicBezTo>
                  <a:cubicBezTo>
                    <a:pt x="1159" y="52"/>
                    <a:pt x="1158" y="48"/>
                    <a:pt x="1157" y="44"/>
                  </a:cubicBezTo>
                  <a:cubicBezTo>
                    <a:pt x="1149" y="21"/>
                    <a:pt x="1149" y="21"/>
                    <a:pt x="1149" y="21"/>
                  </a:cubicBezTo>
                  <a:lnTo>
                    <a:pt x="1142" y="21"/>
                  </a:lnTo>
                  <a:close/>
                  <a:moveTo>
                    <a:pt x="1110" y="38"/>
                  </a:moveTo>
                  <a:cubicBezTo>
                    <a:pt x="1111" y="33"/>
                    <a:pt x="1114" y="26"/>
                    <a:pt x="1121" y="26"/>
                  </a:cubicBezTo>
                  <a:cubicBezTo>
                    <a:pt x="1129" y="26"/>
                    <a:pt x="1131" y="33"/>
                    <a:pt x="1131" y="38"/>
                  </a:cubicBezTo>
                  <a:lnTo>
                    <a:pt x="1110" y="38"/>
                  </a:lnTo>
                  <a:close/>
                  <a:moveTo>
                    <a:pt x="1138" y="43"/>
                  </a:moveTo>
                  <a:cubicBezTo>
                    <a:pt x="1138" y="42"/>
                    <a:pt x="1138" y="41"/>
                    <a:pt x="1138" y="40"/>
                  </a:cubicBezTo>
                  <a:cubicBezTo>
                    <a:pt x="1138" y="32"/>
                    <a:pt x="1135" y="20"/>
                    <a:pt x="1122" y="20"/>
                  </a:cubicBezTo>
                  <a:cubicBezTo>
                    <a:pt x="1110" y="20"/>
                    <a:pt x="1104" y="30"/>
                    <a:pt x="1104" y="43"/>
                  </a:cubicBezTo>
                  <a:cubicBezTo>
                    <a:pt x="1104" y="55"/>
                    <a:pt x="1111" y="64"/>
                    <a:pt x="1123" y="64"/>
                  </a:cubicBezTo>
                  <a:cubicBezTo>
                    <a:pt x="1129" y="64"/>
                    <a:pt x="1133" y="62"/>
                    <a:pt x="1136" y="61"/>
                  </a:cubicBezTo>
                  <a:cubicBezTo>
                    <a:pt x="1134" y="56"/>
                    <a:pt x="1134" y="56"/>
                    <a:pt x="1134" y="56"/>
                  </a:cubicBezTo>
                  <a:cubicBezTo>
                    <a:pt x="1132" y="57"/>
                    <a:pt x="1129" y="58"/>
                    <a:pt x="1124" y="58"/>
                  </a:cubicBezTo>
                  <a:cubicBezTo>
                    <a:pt x="1117" y="58"/>
                    <a:pt x="1110" y="54"/>
                    <a:pt x="1110" y="43"/>
                  </a:cubicBezTo>
                  <a:lnTo>
                    <a:pt x="1138" y="43"/>
                  </a:lnTo>
                  <a:close/>
                  <a:moveTo>
                    <a:pt x="1088" y="45"/>
                  </a:moveTo>
                  <a:cubicBezTo>
                    <a:pt x="1088" y="46"/>
                    <a:pt x="1087" y="48"/>
                    <a:pt x="1087" y="49"/>
                  </a:cubicBezTo>
                  <a:cubicBezTo>
                    <a:pt x="1086" y="54"/>
                    <a:pt x="1082" y="57"/>
                    <a:pt x="1077" y="57"/>
                  </a:cubicBezTo>
                  <a:cubicBezTo>
                    <a:pt x="1070" y="57"/>
                    <a:pt x="1066" y="50"/>
                    <a:pt x="1066" y="42"/>
                  </a:cubicBezTo>
                  <a:cubicBezTo>
                    <a:pt x="1066" y="32"/>
                    <a:pt x="1071" y="26"/>
                    <a:pt x="1077" y="26"/>
                  </a:cubicBezTo>
                  <a:cubicBezTo>
                    <a:pt x="1083" y="26"/>
                    <a:pt x="1086" y="30"/>
                    <a:pt x="1087" y="34"/>
                  </a:cubicBezTo>
                  <a:cubicBezTo>
                    <a:pt x="1088" y="35"/>
                    <a:pt x="1088" y="36"/>
                    <a:pt x="1088" y="37"/>
                  </a:cubicBezTo>
                  <a:lnTo>
                    <a:pt x="1088" y="45"/>
                  </a:lnTo>
                  <a:close/>
                  <a:moveTo>
                    <a:pt x="1095" y="32"/>
                  </a:moveTo>
                  <a:cubicBezTo>
                    <a:pt x="1095" y="27"/>
                    <a:pt x="1095" y="24"/>
                    <a:pt x="1095" y="21"/>
                  </a:cubicBezTo>
                  <a:cubicBezTo>
                    <a:pt x="1089" y="21"/>
                    <a:pt x="1089" y="21"/>
                    <a:pt x="1089" y="21"/>
                  </a:cubicBezTo>
                  <a:cubicBezTo>
                    <a:pt x="1089" y="27"/>
                    <a:pt x="1089" y="27"/>
                    <a:pt x="1089" y="27"/>
                  </a:cubicBezTo>
                  <a:cubicBezTo>
                    <a:pt x="1088" y="27"/>
                    <a:pt x="1088" y="27"/>
                    <a:pt x="1088" y="27"/>
                  </a:cubicBezTo>
                  <a:cubicBezTo>
                    <a:pt x="1087" y="24"/>
                    <a:pt x="1083" y="20"/>
                    <a:pt x="1076" y="20"/>
                  </a:cubicBezTo>
                  <a:cubicBezTo>
                    <a:pt x="1067" y="20"/>
                    <a:pt x="1059" y="28"/>
                    <a:pt x="1059" y="42"/>
                  </a:cubicBezTo>
                  <a:cubicBezTo>
                    <a:pt x="1059" y="54"/>
                    <a:pt x="1066" y="63"/>
                    <a:pt x="1075" y="63"/>
                  </a:cubicBezTo>
                  <a:cubicBezTo>
                    <a:pt x="1081" y="63"/>
                    <a:pt x="1085" y="60"/>
                    <a:pt x="1088" y="56"/>
                  </a:cubicBezTo>
                  <a:cubicBezTo>
                    <a:pt x="1088" y="56"/>
                    <a:pt x="1088" y="56"/>
                    <a:pt x="1088" y="56"/>
                  </a:cubicBezTo>
                  <a:cubicBezTo>
                    <a:pt x="1088" y="60"/>
                    <a:pt x="1088" y="60"/>
                    <a:pt x="1088" y="60"/>
                  </a:cubicBezTo>
                  <a:cubicBezTo>
                    <a:pt x="1088" y="71"/>
                    <a:pt x="1082" y="75"/>
                    <a:pt x="1075" y="75"/>
                  </a:cubicBezTo>
                  <a:cubicBezTo>
                    <a:pt x="1070" y="75"/>
                    <a:pt x="1066" y="73"/>
                    <a:pt x="1064" y="72"/>
                  </a:cubicBezTo>
                  <a:cubicBezTo>
                    <a:pt x="1062" y="77"/>
                    <a:pt x="1062" y="77"/>
                    <a:pt x="1062" y="77"/>
                  </a:cubicBezTo>
                  <a:cubicBezTo>
                    <a:pt x="1065" y="80"/>
                    <a:pt x="1070" y="81"/>
                    <a:pt x="1075" y="81"/>
                  </a:cubicBezTo>
                  <a:cubicBezTo>
                    <a:pt x="1080" y="81"/>
                    <a:pt x="1085" y="80"/>
                    <a:pt x="1089" y="76"/>
                  </a:cubicBezTo>
                  <a:cubicBezTo>
                    <a:pt x="1093" y="72"/>
                    <a:pt x="1095" y="66"/>
                    <a:pt x="1095" y="57"/>
                  </a:cubicBezTo>
                  <a:lnTo>
                    <a:pt x="1095" y="32"/>
                  </a:lnTo>
                  <a:close/>
                  <a:moveTo>
                    <a:pt x="1025" y="38"/>
                  </a:moveTo>
                  <a:cubicBezTo>
                    <a:pt x="1026" y="33"/>
                    <a:pt x="1029" y="26"/>
                    <a:pt x="1036" y="26"/>
                  </a:cubicBezTo>
                  <a:cubicBezTo>
                    <a:pt x="1044" y="26"/>
                    <a:pt x="1046" y="33"/>
                    <a:pt x="1046" y="38"/>
                  </a:cubicBezTo>
                  <a:lnTo>
                    <a:pt x="1025" y="38"/>
                  </a:lnTo>
                  <a:close/>
                  <a:moveTo>
                    <a:pt x="1052" y="43"/>
                  </a:moveTo>
                  <a:cubicBezTo>
                    <a:pt x="1053" y="42"/>
                    <a:pt x="1053" y="41"/>
                    <a:pt x="1053" y="40"/>
                  </a:cubicBezTo>
                  <a:cubicBezTo>
                    <a:pt x="1053" y="32"/>
                    <a:pt x="1049" y="20"/>
                    <a:pt x="1037" y="20"/>
                  </a:cubicBezTo>
                  <a:cubicBezTo>
                    <a:pt x="1025" y="20"/>
                    <a:pt x="1018" y="30"/>
                    <a:pt x="1018" y="43"/>
                  </a:cubicBezTo>
                  <a:cubicBezTo>
                    <a:pt x="1018" y="55"/>
                    <a:pt x="1026" y="64"/>
                    <a:pt x="1037" y="64"/>
                  </a:cubicBezTo>
                  <a:cubicBezTo>
                    <a:pt x="1044" y="64"/>
                    <a:pt x="1048" y="62"/>
                    <a:pt x="1051" y="61"/>
                  </a:cubicBezTo>
                  <a:cubicBezTo>
                    <a:pt x="1049" y="56"/>
                    <a:pt x="1049" y="56"/>
                    <a:pt x="1049" y="56"/>
                  </a:cubicBezTo>
                  <a:cubicBezTo>
                    <a:pt x="1047" y="57"/>
                    <a:pt x="1044" y="58"/>
                    <a:pt x="1038" y="58"/>
                  </a:cubicBezTo>
                  <a:cubicBezTo>
                    <a:pt x="1031" y="58"/>
                    <a:pt x="1025" y="54"/>
                    <a:pt x="1025" y="43"/>
                  </a:cubicBezTo>
                  <a:lnTo>
                    <a:pt x="1052" y="43"/>
                  </a:lnTo>
                  <a:close/>
                  <a:moveTo>
                    <a:pt x="975" y="63"/>
                  </a:moveTo>
                  <a:cubicBezTo>
                    <a:pt x="975" y="38"/>
                    <a:pt x="975" y="38"/>
                    <a:pt x="975" y="38"/>
                  </a:cubicBezTo>
                  <a:cubicBezTo>
                    <a:pt x="975" y="28"/>
                    <a:pt x="975" y="21"/>
                    <a:pt x="975" y="14"/>
                  </a:cubicBezTo>
                  <a:cubicBezTo>
                    <a:pt x="975" y="14"/>
                    <a:pt x="975" y="14"/>
                    <a:pt x="975" y="14"/>
                  </a:cubicBezTo>
                  <a:cubicBezTo>
                    <a:pt x="978" y="20"/>
                    <a:pt x="981" y="27"/>
                    <a:pt x="985" y="33"/>
                  </a:cubicBezTo>
                  <a:cubicBezTo>
                    <a:pt x="1002" y="63"/>
                    <a:pt x="1002" y="63"/>
                    <a:pt x="1002" y="63"/>
                  </a:cubicBezTo>
                  <a:cubicBezTo>
                    <a:pt x="1009" y="63"/>
                    <a:pt x="1009" y="63"/>
                    <a:pt x="1009" y="63"/>
                  </a:cubicBezTo>
                  <a:cubicBezTo>
                    <a:pt x="1009" y="5"/>
                    <a:pt x="1009" y="5"/>
                    <a:pt x="1009" y="5"/>
                  </a:cubicBezTo>
                  <a:cubicBezTo>
                    <a:pt x="1003" y="5"/>
                    <a:pt x="1003" y="5"/>
                    <a:pt x="1003" y="5"/>
                  </a:cubicBezTo>
                  <a:cubicBezTo>
                    <a:pt x="1003" y="29"/>
                    <a:pt x="1003" y="29"/>
                    <a:pt x="1003" y="29"/>
                  </a:cubicBezTo>
                  <a:cubicBezTo>
                    <a:pt x="1003" y="38"/>
                    <a:pt x="1003" y="45"/>
                    <a:pt x="1003" y="53"/>
                  </a:cubicBezTo>
                  <a:cubicBezTo>
                    <a:pt x="1003" y="53"/>
                    <a:pt x="1003" y="53"/>
                    <a:pt x="1003" y="53"/>
                  </a:cubicBezTo>
                  <a:cubicBezTo>
                    <a:pt x="1001" y="47"/>
                    <a:pt x="997" y="41"/>
                    <a:pt x="994" y="34"/>
                  </a:cubicBezTo>
                  <a:cubicBezTo>
                    <a:pt x="976" y="5"/>
                    <a:pt x="976" y="5"/>
                    <a:pt x="976" y="5"/>
                  </a:cubicBezTo>
                  <a:cubicBezTo>
                    <a:pt x="969" y="5"/>
                    <a:pt x="969" y="5"/>
                    <a:pt x="969" y="5"/>
                  </a:cubicBezTo>
                  <a:cubicBezTo>
                    <a:pt x="969" y="63"/>
                    <a:pt x="969" y="63"/>
                    <a:pt x="969" y="63"/>
                  </a:cubicBezTo>
                  <a:lnTo>
                    <a:pt x="975" y="63"/>
                  </a:lnTo>
                  <a:close/>
                  <a:moveTo>
                    <a:pt x="915" y="38"/>
                  </a:moveTo>
                  <a:cubicBezTo>
                    <a:pt x="916" y="33"/>
                    <a:pt x="919" y="26"/>
                    <a:pt x="926" y="26"/>
                  </a:cubicBezTo>
                  <a:cubicBezTo>
                    <a:pt x="934" y="26"/>
                    <a:pt x="936" y="33"/>
                    <a:pt x="936" y="38"/>
                  </a:cubicBezTo>
                  <a:lnTo>
                    <a:pt x="915" y="38"/>
                  </a:lnTo>
                  <a:close/>
                  <a:moveTo>
                    <a:pt x="942" y="43"/>
                  </a:moveTo>
                  <a:cubicBezTo>
                    <a:pt x="942" y="42"/>
                    <a:pt x="942" y="41"/>
                    <a:pt x="942" y="40"/>
                  </a:cubicBezTo>
                  <a:cubicBezTo>
                    <a:pt x="942" y="32"/>
                    <a:pt x="939" y="20"/>
                    <a:pt x="926" y="20"/>
                  </a:cubicBezTo>
                  <a:cubicBezTo>
                    <a:pt x="915" y="20"/>
                    <a:pt x="908" y="30"/>
                    <a:pt x="908" y="43"/>
                  </a:cubicBezTo>
                  <a:cubicBezTo>
                    <a:pt x="908" y="55"/>
                    <a:pt x="915" y="64"/>
                    <a:pt x="927" y="64"/>
                  </a:cubicBezTo>
                  <a:cubicBezTo>
                    <a:pt x="933" y="64"/>
                    <a:pt x="938" y="62"/>
                    <a:pt x="940" y="61"/>
                  </a:cubicBezTo>
                  <a:cubicBezTo>
                    <a:pt x="939" y="56"/>
                    <a:pt x="939" y="56"/>
                    <a:pt x="939" y="56"/>
                  </a:cubicBezTo>
                  <a:cubicBezTo>
                    <a:pt x="936" y="57"/>
                    <a:pt x="933" y="58"/>
                    <a:pt x="928" y="58"/>
                  </a:cubicBezTo>
                  <a:cubicBezTo>
                    <a:pt x="921" y="58"/>
                    <a:pt x="915" y="54"/>
                    <a:pt x="915" y="43"/>
                  </a:cubicBezTo>
                  <a:lnTo>
                    <a:pt x="942" y="43"/>
                  </a:lnTo>
                  <a:close/>
                  <a:moveTo>
                    <a:pt x="866" y="63"/>
                  </a:moveTo>
                  <a:cubicBezTo>
                    <a:pt x="873" y="63"/>
                    <a:pt x="873" y="63"/>
                    <a:pt x="873" y="63"/>
                  </a:cubicBezTo>
                  <a:cubicBezTo>
                    <a:pt x="873" y="38"/>
                    <a:pt x="873" y="38"/>
                    <a:pt x="873" y="38"/>
                  </a:cubicBezTo>
                  <a:cubicBezTo>
                    <a:pt x="873" y="36"/>
                    <a:pt x="873" y="35"/>
                    <a:pt x="874" y="34"/>
                  </a:cubicBezTo>
                  <a:cubicBezTo>
                    <a:pt x="875" y="30"/>
                    <a:pt x="879" y="26"/>
                    <a:pt x="883" y="26"/>
                  </a:cubicBezTo>
                  <a:cubicBezTo>
                    <a:pt x="890" y="26"/>
                    <a:pt x="892" y="32"/>
                    <a:pt x="892" y="39"/>
                  </a:cubicBezTo>
                  <a:cubicBezTo>
                    <a:pt x="892" y="63"/>
                    <a:pt x="892" y="63"/>
                    <a:pt x="892" y="63"/>
                  </a:cubicBezTo>
                  <a:cubicBezTo>
                    <a:pt x="899" y="63"/>
                    <a:pt x="899" y="63"/>
                    <a:pt x="899" y="63"/>
                  </a:cubicBezTo>
                  <a:cubicBezTo>
                    <a:pt x="899" y="38"/>
                    <a:pt x="899" y="38"/>
                    <a:pt x="899" y="38"/>
                  </a:cubicBezTo>
                  <a:cubicBezTo>
                    <a:pt x="899" y="24"/>
                    <a:pt x="891" y="20"/>
                    <a:pt x="886" y="20"/>
                  </a:cubicBezTo>
                  <a:cubicBezTo>
                    <a:pt x="883" y="20"/>
                    <a:pt x="881" y="21"/>
                    <a:pt x="879" y="22"/>
                  </a:cubicBezTo>
                  <a:cubicBezTo>
                    <a:pt x="876" y="23"/>
                    <a:pt x="875" y="25"/>
                    <a:pt x="874" y="28"/>
                  </a:cubicBezTo>
                  <a:cubicBezTo>
                    <a:pt x="873" y="28"/>
                    <a:pt x="873" y="28"/>
                    <a:pt x="873" y="28"/>
                  </a:cubicBezTo>
                  <a:cubicBezTo>
                    <a:pt x="873" y="1"/>
                    <a:pt x="873" y="1"/>
                    <a:pt x="873" y="1"/>
                  </a:cubicBezTo>
                  <a:cubicBezTo>
                    <a:pt x="866" y="1"/>
                    <a:pt x="866" y="1"/>
                    <a:pt x="866" y="1"/>
                  </a:cubicBezTo>
                  <a:lnTo>
                    <a:pt x="866" y="63"/>
                  </a:lnTo>
                  <a:close/>
                  <a:moveTo>
                    <a:pt x="841" y="13"/>
                  </a:moveTo>
                  <a:cubicBezTo>
                    <a:pt x="841" y="21"/>
                    <a:pt x="841" y="21"/>
                    <a:pt x="841" y="21"/>
                  </a:cubicBezTo>
                  <a:cubicBezTo>
                    <a:pt x="835" y="21"/>
                    <a:pt x="835" y="21"/>
                    <a:pt x="835" y="21"/>
                  </a:cubicBezTo>
                  <a:cubicBezTo>
                    <a:pt x="835" y="27"/>
                    <a:pt x="835" y="27"/>
                    <a:pt x="835" y="27"/>
                  </a:cubicBezTo>
                  <a:cubicBezTo>
                    <a:pt x="841" y="27"/>
                    <a:pt x="841" y="27"/>
                    <a:pt x="841" y="27"/>
                  </a:cubicBezTo>
                  <a:cubicBezTo>
                    <a:pt x="841" y="50"/>
                    <a:pt x="841" y="50"/>
                    <a:pt x="841" y="50"/>
                  </a:cubicBezTo>
                  <a:cubicBezTo>
                    <a:pt x="841" y="54"/>
                    <a:pt x="842" y="58"/>
                    <a:pt x="844" y="61"/>
                  </a:cubicBezTo>
                  <a:cubicBezTo>
                    <a:pt x="846" y="63"/>
                    <a:pt x="848" y="64"/>
                    <a:pt x="852" y="64"/>
                  </a:cubicBezTo>
                  <a:cubicBezTo>
                    <a:pt x="854" y="64"/>
                    <a:pt x="857" y="63"/>
                    <a:pt x="858" y="63"/>
                  </a:cubicBezTo>
                  <a:cubicBezTo>
                    <a:pt x="858" y="57"/>
                    <a:pt x="858" y="57"/>
                    <a:pt x="858" y="57"/>
                  </a:cubicBezTo>
                  <a:cubicBezTo>
                    <a:pt x="857" y="57"/>
                    <a:pt x="855" y="57"/>
                    <a:pt x="854" y="57"/>
                  </a:cubicBezTo>
                  <a:cubicBezTo>
                    <a:pt x="850" y="57"/>
                    <a:pt x="848" y="54"/>
                    <a:pt x="848" y="49"/>
                  </a:cubicBezTo>
                  <a:cubicBezTo>
                    <a:pt x="848" y="27"/>
                    <a:pt x="848" y="27"/>
                    <a:pt x="848" y="27"/>
                  </a:cubicBezTo>
                  <a:cubicBezTo>
                    <a:pt x="858" y="27"/>
                    <a:pt x="858" y="27"/>
                    <a:pt x="858" y="27"/>
                  </a:cubicBezTo>
                  <a:cubicBezTo>
                    <a:pt x="858" y="21"/>
                    <a:pt x="858" y="21"/>
                    <a:pt x="858" y="21"/>
                  </a:cubicBezTo>
                  <a:cubicBezTo>
                    <a:pt x="848" y="21"/>
                    <a:pt x="848" y="21"/>
                    <a:pt x="848" y="21"/>
                  </a:cubicBezTo>
                  <a:cubicBezTo>
                    <a:pt x="848" y="11"/>
                    <a:pt x="848" y="11"/>
                    <a:pt x="848" y="11"/>
                  </a:cubicBezTo>
                  <a:lnTo>
                    <a:pt x="841" y="13"/>
                  </a:lnTo>
                  <a:close/>
                  <a:moveTo>
                    <a:pt x="807" y="63"/>
                  </a:moveTo>
                  <a:cubicBezTo>
                    <a:pt x="807" y="27"/>
                    <a:pt x="807" y="27"/>
                    <a:pt x="807" y="27"/>
                  </a:cubicBezTo>
                  <a:cubicBezTo>
                    <a:pt x="816" y="27"/>
                    <a:pt x="816" y="27"/>
                    <a:pt x="816" y="27"/>
                  </a:cubicBezTo>
                  <a:cubicBezTo>
                    <a:pt x="816" y="21"/>
                    <a:pt x="816" y="21"/>
                    <a:pt x="816" y="21"/>
                  </a:cubicBezTo>
                  <a:cubicBezTo>
                    <a:pt x="807" y="21"/>
                    <a:pt x="807" y="21"/>
                    <a:pt x="807" y="21"/>
                  </a:cubicBezTo>
                  <a:cubicBezTo>
                    <a:pt x="807" y="19"/>
                    <a:pt x="807" y="19"/>
                    <a:pt x="807" y="19"/>
                  </a:cubicBezTo>
                  <a:cubicBezTo>
                    <a:pt x="807" y="12"/>
                    <a:pt x="808" y="7"/>
                    <a:pt x="814" y="7"/>
                  </a:cubicBezTo>
                  <a:cubicBezTo>
                    <a:pt x="817" y="7"/>
                    <a:pt x="818" y="7"/>
                    <a:pt x="819" y="8"/>
                  </a:cubicBezTo>
                  <a:cubicBezTo>
                    <a:pt x="820" y="2"/>
                    <a:pt x="820" y="2"/>
                    <a:pt x="820" y="2"/>
                  </a:cubicBezTo>
                  <a:cubicBezTo>
                    <a:pt x="819" y="1"/>
                    <a:pt x="816" y="0"/>
                    <a:pt x="814" y="0"/>
                  </a:cubicBezTo>
                  <a:cubicBezTo>
                    <a:pt x="811" y="0"/>
                    <a:pt x="807" y="2"/>
                    <a:pt x="804" y="4"/>
                  </a:cubicBezTo>
                  <a:cubicBezTo>
                    <a:pt x="801" y="8"/>
                    <a:pt x="800" y="13"/>
                    <a:pt x="800" y="19"/>
                  </a:cubicBezTo>
                  <a:cubicBezTo>
                    <a:pt x="800" y="21"/>
                    <a:pt x="800" y="21"/>
                    <a:pt x="800" y="21"/>
                  </a:cubicBezTo>
                  <a:cubicBezTo>
                    <a:pt x="795" y="21"/>
                    <a:pt x="795" y="21"/>
                    <a:pt x="795" y="21"/>
                  </a:cubicBezTo>
                  <a:cubicBezTo>
                    <a:pt x="795" y="27"/>
                    <a:pt x="795" y="27"/>
                    <a:pt x="795" y="27"/>
                  </a:cubicBezTo>
                  <a:cubicBezTo>
                    <a:pt x="800" y="27"/>
                    <a:pt x="800" y="27"/>
                    <a:pt x="800" y="27"/>
                  </a:cubicBezTo>
                  <a:cubicBezTo>
                    <a:pt x="800" y="63"/>
                    <a:pt x="800" y="63"/>
                    <a:pt x="800" y="63"/>
                  </a:cubicBezTo>
                  <a:lnTo>
                    <a:pt x="807" y="63"/>
                  </a:lnTo>
                  <a:close/>
                  <a:moveTo>
                    <a:pt x="771" y="26"/>
                  </a:moveTo>
                  <a:cubicBezTo>
                    <a:pt x="780" y="26"/>
                    <a:pt x="783" y="35"/>
                    <a:pt x="783" y="42"/>
                  </a:cubicBezTo>
                  <a:cubicBezTo>
                    <a:pt x="783" y="51"/>
                    <a:pt x="778" y="58"/>
                    <a:pt x="771" y="58"/>
                  </a:cubicBezTo>
                  <a:cubicBezTo>
                    <a:pt x="764" y="58"/>
                    <a:pt x="759" y="51"/>
                    <a:pt x="759" y="42"/>
                  </a:cubicBezTo>
                  <a:cubicBezTo>
                    <a:pt x="759" y="34"/>
                    <a:pt x="763" y="26"/>
                    <a:pt x="771" y="26"/>
                  </a:cubicBezTo>
                  <a:moveTo>
                    <a:pt x="772" y="20"/>
                  </a:moveTo>
                  <a:cubicBezTo>
                    <a:pt x="761" y="20"/>
                    <a:pt x="752" y="28"/>
                    <a:pt x="752" y="42"/>
                  </a:cubicBezTo>
                  <a:cubicBezTo>
                    <a:pt x="752" y="55"/>
                    <a:pt x="760" y="64"/>
                    <a:pt x="771" y="64"/>
                  </a:cubicBezTo>
                  <a:cubicBezTo>
                    <a:pt x="780" y="64"/>
                    <a:pt x="790" y="57"/>
                    <a:pt x="790" y="42"/>
                  </a:cubicBezTo>
                  <a:cubicBezTo>
                    <a:pt x="790" y="29"/>
                    <a:pt x="783" y="20"/>
                    <a:pt x="772" y="20"/>
                  </a:cubicBezTo>
                  <a:moveTo>
                    <a:pt x="695" y="21"/>
                  </a:moveTo>
                  <a:cubicBezTo>
                    <a:pt x="709" y="60"/>
                    <a:pt x="709" y="60"/>
                    <a:pt x="709" y="60"/>
                  </a:cubicBezTo>
                  <a:cubicBezTo>
                    <a:pt x="710" y="60"/>
                    <a:pt x="710" y="61"/>
                    <a:pt x="710" y="62"/>
                  </a:cubicBezTo>
                  <a:cubicBezTo>
                    <a:pt x="710" y="62"/>
                    <a:pt x="710" y="63"/>
                    <a:pt x="709" y="63"/>
                  </a:cubicBezTo>
                  <a:cubicBezTo>
                    <a:pt x="708" y="67"/>
                    <a:pt x="705" y="70"/>
                    <a:pt x="703" y="72"/>
                  </a:cubicBezTo>
                  <a:cubicBezTo>
                    <a:pt x="701" y="74"/>
                    <a:pt x="699" y="75"/>
                    <a:pt x="697" y="76"/>
                  </a:cubicBezTo>
                  <a:cubicBezTo>
                    <a:pt x="699" y="82"/>
                    <a:pt x="699" y="82"/>
                    <a:pt x="699" y="82"/>
                  </a:cubicBezTo>
                  <a:cubicBezTo>
                    <a:pt x="701" y="81"/>
                    <a:pt x="704" y="80"/>
                    <a:pt x="708" y="77"/>
                  </a:cubicBezTo>
                  <a:cubicBezTo>
                    <a:pt x="712" y="72"/>
                    <a:pt x="716" y="65"/>
                    <a:pt x="721" y="51"/>
                  </a:cubicBezTo>
                  <a:cubicBezTo>
                    <a:pt x="732" y="21"/>
                    <a:pt x="732" y="21"/>
                    <a:pt x="732" y="21"/>
                  </a:cubicBezTo>
                  <a:cubicBezTo>
                    <a:pt x="724" y="21"/>
                    <a:pt x="724" y="21"/>
                    <a:pt x="724" y="21"/>
                  </a:cubicBezTo>
                  <a:cubicBezTo>
                    <a:pt x="716" y="46"/>
                    <a:pt x="716" y="46"/>
                    <a:pt x="716" y="46"/>
                  </a:cubicBezTo>
                  <a:cubicBezTo>
                    <a:pt x="715" y="49"/>
                    <a:pt x="715" y="52"/>
                    <a:pt x="714" y="54"/>
                  </a:cubicBezTo>
                  <a:cubicBezTo>
                    <a:pt x="714" y="54"/>
                    <a:pt x="714" y="54"/>
                    <a:pt x="714" y="54"/>
                  </a:cubicBezTo>
                  <a:cubicBezTo>
                    <a:pt x="713" y="52"/>
                    <a:pt x="712" y="48"/>
                    <a:pt x="711" y="46"/>
                  </a:cubicBezTo>
                  <a:cubicBezTo>
                    <a:pt x="703" y="21"/>
                    <a:pt x="703" y="21"/>
                    <a:pt x="703" y="21"/>
                  </a:cubicBezTo>
                  <a:lnTo>
                    <a:pt x="695" y="21"/>
                  </a:lnTo>
                  <a:close/>
                  <a:moveTo>
                    <a:pt x="674" y="13"/>
                  </a:moveTo>
                  <a:cubicBezTo>
                    <a:pt x="674" y="21"/>
                    <a:pt x="674" y="21"/>
                    <a:pt x="674" y="21"/>
                  </a:cubicBezTo>
                  <a:cubicBezTo>
                    <a:pt x="668" y="21"/>
                    <a:pt x="668" y="21"/>
                    <a:pt x="668" y="21"/>
                  </a:cubicBezTo>
                  <a:cubicBezTo>
                    <a:pt x="668" y="27"/>
                    <a:pt x="668" y="27"/>
                    <a:pt x="668" y="27"/>
                  </a:cubicBezTo>
                  <a:cubicBezTo>
                    <a:pt x="674" y="27"/>
                    <a:pt x="674" y="27"/>
                    <a:pt x="674" y="27"/>
                  </a:cubicBezTo>
                  <a:cubicBezTo>
                    <a:pt x="674" y="50"/>
                    <a:pt x="674" y="50"/>
                    <a:pt x="674" y="50"/>
                  </a:cubicBezTo>
                  <a:cubicBezTo>
                    <a:pt x="674" y="54"/>
                    <a:pt x="675" y="58"/>
                    <a:pt x="677" y="61"/>
                  </a:cubicBezTo>
                  <a:cubicBezTo>
                    <a:pt x="679" y="63"/>
                    <a:pt x="681" y="64"/>
                    <a:pt x="685" y="64"/>
                  </a:cubicBezTo>
                  <a:cubicBezTo>
                    <a:pt x="688" y="64"/>
                    <a:pt x="690" y="63"/>
                    <a:pt x="691" y="63"/>
                  </a:cubicBezTo>
                  <a:cubicBezTo>
                    <a:pt x="691" y="57"/>
                    <a:pt x="691" y="57"/>
                    <a:pt x="691" y="57"/>
                  </a:cubicBezTo>
                  <a:cubicBezTo>
                    <a:pt x="690" y="57"/>
                    <a:pt x="689" y="57"/>
                    <a:pt x="687" y="57"/>
                  </a:cubicBezTo>
                  <a:cubicBezTo>
                    <a:pt x="683" y="57"/>
                    <a:pt x="681" y="54"/>
                    <a:pt x="681" y="49"/>
                  </a:cubicBezTo>
                  <a:cubicBezTo>
                    <a:pt x="681" y="27"/>
                    <a:pt x="681" y="27"/>
                    <a:pt x="681" y="27"/>
                  </a:cubicBezTo>
                  <a:cubicBezTo>
                    <a:pt x="691" y="27"/>
                    <a:pt x="691" y="27"/>
                    <a:pt x="691" y="27"/>
                  </a:cubicBezTo>
                  <a:cubicBezTo>
                    <a:pt x="691" y="21"/>
                    <a:pt x="691" y="21"/>
                    <a:pt x="691" y="21"/>
                  </a:cubicBezTo>
                  <a:cubicBezTo>
                    <a:pt x="681" y="21"/>
                    <a:pt x="681" y="21"/>
                    <a:pt x="681" y="21"/>
                  </a:cubicBezTo>
                  <a:cubicBezTo>
                    <a:pt x="681" y="11"/>
                    <a:pt x="681" y="11"/>
                    <a:pt x="681" y="11"/>
                  </a:cubicBezTo>
                  <a:lnTo>
                    <a:pt x="674" y="13"/>
                  </a:lnTo>
                  <a:close/>
                  <a:moveTo>
                    <a:pt x="658" y="4"/>
                  </a:moveTo>
                  <a:cubicBezTo>
                    <a:pt x="655" y="4"/>
                    <a:pt x="653" y="7"/>
                    <a:pt x="653" y="9"/>
                  </a:cubicBezTo>
                  <a:cubicBezTo>
                    <a:pt x="653" y="12"/>
                    <a:pt x="655" y="14"/>
                    <a:pt x="657" y="14"/>
                  </a:cubicBezTo>
                  <a:cubicBezTo>
                    <a:pt x="660" y="14"/>
                    <a:pt x="662" y="12"/>
                    <a:pt x="662" y="9"/>
                  </a:cubicBezTo>
                  <a:cubicBezTo>
                    <a:pt x="662" y="6"/>
                    <a:pt x="660" y="4"/>
                    <a:pt x="658" y="4"/>
                  </a:cubicBezTo>
                  <a:moveTo>
                    <a:pt x="661" y="21"/>
                  </a:moveTo>
                  <a:cubicBezTo>
                    <a:pt x="654" y="21"/>
                    <a:pt x="654" y="21"/>
                    <a:pt x="654" y="21"/>
                  </a:cubicBezTo>
                  <a:cubicBezTo>
                    <a:pt x="654" y="63"/>
                    <a:pt x="654" y="63"/>
                    <a:pt x="654" y="63"/>
                  </a:cubicBezTo>
                  <a:cubicBezTo>
                    <a:pt x="661" y="63"/>
                    <a:pt x="661" y="63"/>
                    <a:pt x="661" y="63"/>
                  </a:cubicBezTo>
                  <a:lnTo>
                    <a:pt x="661" y="21"/>
                  </a:lnTo>
                  <a:close/>
                  <a:moveTo>
                    <a:pt x="619" y="61"/>
                  </a:moveTo>
                  <a:cubicBezTo>
                    <a:pt x="622" y="63"/>
                    <a:pt x="626" y="64"/>
                    <a:pt x="630" y="64"/>
                  </a:cubicBezTo>
                  <a:cubicBezTo>
                    <a:pt x="640" y="64"/>
                    <a:pt x="645" y="59"/>
                    <a:pt x="645" y="51"/>
                  </a:cubicBezTo>
                  <a:cubicBezTo>
                    <a:pt x="645" y="45"/>
                    <a:pt x="641" y="41"/>
                    <a:pt x="635" y="39"/>
                  </a:cubicBezTo>
                  <a:cubicBezTo>
                    <a:pt x="630" y="36"/>
                    <a:pt x="627" y="35"/>
                    <a:pt x="627" y="31"/>
                  </a:cubicBezTo>
                  <a:cubicBezTo>
                    <a:pt x="627" y="28"/>
                    <a:pt x="630" y="26"/>
                    <a:pt x="634" y="26"/>
                  </a:cubicBezTo>
                  <a:cubicBezTo>
                    <a:pt x="637" y="26"/>
                    <a:pt x="640" y="27"/>
                    <a:pt x="642" y="28"/>
                  </a:cubicBezTo>
                  <a:cubicBezTo>
                    <a:pt x="643" y="23"/>
                    <a:pt x="643" y="23"/>
                    <a:pt x="643" y="23"/>
                  </a:cubicBezTo>
                  <a:cubicBezTo>
                    <a:pt x="641" y="21"/>
                    <a:pt x="638" y="20"/>
                    <a:pt x="634" y="20"/>
                  </a:cubicBezTo>
                  <a:cubicBezTo>
                    <a:pt x="626" y="20"/>
                    <a:pt x="621" y="26"/>
                    <a:pt x="621" y="32"/>
                  </a:cubicBezTo>
                  <a:cubicBezTo>
                    <a:pt x="621" y="37"/>
                    <a:pt x="624" y="41"/>
                    <a:pt x="631" y="44"/>
                  </a:cubicBezTo>
                  <a:cubicBezTo>
                    <a:pt x="636" y="46"/>
                    <a:pt x="638" y="48"/>
                    <a:pt x="638" y="52"/>
                  </a:cubicBezTo>
                  <a:cubicBezTo>
                    <a:pt x="638" y="55"/>
                    <a:pt x="636" y="58"/>
                    <a:pt x="631" y="58"/>
                  </a:cubicBezTo>
                  <a:cubicBezTo>
                    <a:pt x="627" y="58"/>
                    <a:pt x="623" y="56"/>
                    <a:pt x="621" y="55"/>
                  </a:cubicBezTo>
                  <a:lnTo>
                    <a:pt x="619" y="61"/>
                  </a:lnTo>
                  <a:close/>
                  <a:moveTo>
                    <a:pt x="596" y="63"/>
                  </a:moveTo>
                  <a:cubicBezTo>
                    <a:pt x="603" y="63"/>
                    <a:pt x="603" y="63"/>
                    <a:pt x="603" y="63"/>
                  </a:cubicBezTo>
                  <a:cubicBezTo>
                    <a:pt x="603" y="40"/>
                    <a:pt x="603" y="40"/>
                    <a:pt x="603" y="40"/>
                  </a:cubicBezTo>
                  <a:cubicBezTo>
                    <a:pt x="603" y="39"/>
                    <a:pt x="603" y="38"/>
                    <a:pt x="603" y="37"/>
                  </a:cubicBezTo>
                  <a:cubicBezTo>
                    <a:pt x="604" y="31"/>
                    <a:pt x="608" y="27"/>
                    <a:pt x="613" y="27"/>
                  </a:cubicBezTo>
                  <a:cubicBezTo>
                    <a:pt x="614" y="27"/>
                    <a:pt x="614" y="27"/>
                    <a:pt x="615" y="27"/>
                  </a:cubicBezTo>
                  <a:cubicBezTo>
                    <a:pt x="615" y="20"/>
                    <a:pt x="615" y="20"/>
                    <a:pt x="615" y="20"/>
                  </a:cubicBezTo>
                  <a:cubicBezTo>
                    <a:pt x="614" y="20"/>
                    <a:pt x="614" y="20"/>
                    <a:pt x="613" y="20"/>
                  </a:cubicBezTo>
                  <a:cubicBezTo>
                    <a:pt x="608" y="20"/>
                    <a:pt x="604" y="24"/>
                    <a:pt x="602" y="29"/>
                  </a:cubicBezTo>
                  <a:cubicBezTo>
                    <a:pt x="602" y="29"/>
                    <a:pt x="602" y="29"/>
                    <a:pt x="602" y="29"/>
                  </a:cubicBezTo>
                  <a:cubicBezTo>
                    <a:pt x="602" y="21"/>
                    <a:pt x="602" y="21"/>
                    <a:pt x="602" y="21"/>
                  </a:cubicBezTo>
                  <a:cubicBezTo>
                    <a:pt x="596" y="21"/>
                    <a:pt x="596" y="21"/>
                    <a:pt x="596" y="21"/>
                  </a:cubicBezTo>
                  <a:cubicBezTo>
                    <a:pt x="596" y="25"/>
                    <a:pt x="596" y="29"/>
                    <a:pt x="596" y="34"/>
                  </a:cubicBezTo>
                  <a:lnTo>
                    <a:pt x="596" y="63"/>
                  </a:lnTo>
                  <a:close/>
                  <a:moveTo>
                    <a:pt x="560" y="38"/>
                  </a:moveTo>
                  <a:cubicBezTo>
                    <a:pt x="560" y="33"/>
                    <a:pt x="563" y="26"/>
                    <a:pt x="570" y="26"/>
                  </a:cubicBezTo>
                  <a:cubicBezTo>
                    <a:pt x="578" y="26"/>
                    <a:pt x="580" y="33"/>
                    <a:pt x="580" y="38"/>
                  </a:cubicBezTo>
                  <a:lnTo>
                    <a:pt x="560" y="38"/>
                  </a:lnTo>
                  <a:close/>
                  <a:moveTo>
                    <a:pt x="587" y="43"/>
                  </a:moveTo>
                  <a:cubicBezTo>
                    <a:pt x="587" y="42"/>
                    <a:pt x="587" y="41"/>
                    <a:pt x="587" y="40"/>
                  </a:cubicBezTo>
                  <a:cubicBezTo>
                    <a:pt x="587" y="32"/>
                    <a:pt x="584" y="20"/>
                    <a:pt x="571" y="20"/>
                  </a:cubicBezTo>
                  <a:cubicBezTo>
                    <a:pt x="560" y="20"/>
                    <a:pt x="553" y="30"/>
                    <a:pt x="553" y="43"/>
                  </a:cubicBezTo>
                  <a:cubicBezTo>
                    <a:pt x="553" y="55"/>
                    <a:pt x="560" y="64"/>
                    <a:pt x="572" y="64"/>
                  </a:cubicBezTo>
                  <a:cubicBezTo>
                    <a:pt x="578" y="64"/>
                    <a:pt x="582" y="62"/>
                    <a:pt x="585" y="61"/>
                  </a:cubicBezTo>
                  <a:cubicBezTo>
                    <a:pt x="584" y="56"/>
                    <a:pt x="584" y="56"/>
                    <a:pt x="584" y="56"/>
                  </a:cubicBezTo>
                  <a:cubicBezTo>
                    <a:pt x="581" y="57"/>
                    <a:pt x="578" y="58"/>
                    <a:pt x="573" y="58"/>
                  </a:cubicBezTo>
                  <a:cubicBezTo>
                    <a:pt x="566" y="58"/>
                    <a:pt x="560" y="54"/>
                    <a:pt x="560" y="43"/>
                  </a:cubicBezTo>
                  <a:lnTo>
                    <a:pt x="587" y="43"/>
                  </a:lnTo>
                  <a:close/>
                  <a:moveTo>
                    <a:pt x="513" y="21"/>
                  </a:moveTo>
                  <a:cubicBezTo>
                    <a:pt x="528" y="63"/>
                    <a:pt x="528" y="63"/>
                    <a:pt x="528" y="63"/>
                  </a:cubicBezTo>
                  <a:cubicBezTo>
                    <a:pt x="534" y="63"/>
                    <a:pt x="534" y="63"/>
                    <a:pt x="534" y="63"/>
                  </a:cubicBezTo>
                  <a:cubicBezTo>
                    <a:pt x="550" y="21"/>
                    <a:pt x="550" y="21"/>
                    <a:pt x="550" y="21"/>
                  </a:cubicBezTo>
                  <a:cubicBezTo>
                    <a:pt x="542" y="21"/>
                    <a:pt x="542" y="21"/>
                    <a:pt x="542" y="21"/>
                  </a:cubicBezTo>
                  <a:cubicBezTo>
                    <a:pt x="535" y="44"/>
                    <a:pt x="535" y="44"/>
                    <a:pt x="535" y="44"/>
                  </a:cubicBezTo>
                  <a:cubicBezTo>
                    <a:pt x="533" y="48"/>
                    <a:pt x="532" y="52"/>
                    <a:pt x="531" y="55"/>
                  </a:cubicBezTo>
                  <a:cubicBezTo>
                    <a:pt x="531" y="55"/>
                    <a:pt x="531" y="55"/>
                    <a:pt x="531" y="55"/>
                  </a:cubicBezTo>
                  <a:cubicBezTo>
                    <a:pt x="530" y="52"/>
                    <a:pt x="529" y="48"/>
                    <a:pt x="528" y="44"/>
                  </a:cubicBezTo>
                  <a:cubicBezTo>
                    <a:pt x="520" y="21"/>
                    <a:pt x="520" y="21"/>
                    <a:pt x="520" y="21"/>
                  </a:cubicBezTo>
                  <a:lnTo>
                    <a:pt x="513" y="21"/>
                  </a:lnTo>
                  <a:close/>
                  <a:moveTo>
                    <a:pt x="502" y="4"/>
                  </a:moveTo>
                  <a:cubicBezTo>
                    <a:pt x="500" y="4"/>
                    <a:pt x="498" y="7"/>
                    <a:pt x="498" y="9"/>
                  </a:cubicBezTo>
                  <a:cubicBezTo>
                    <a:pt x="498" y="12"/>
                    <a:pt x="500" y="14"/>
                    <a:pt x="502" y="14"/>
                  </a:cubicBezTo>
                  <a:cubicBezTo>
                    <a:pt x="505" y="14"/>
                    <a:pt x="507" y="12"/>
                    <a:pt x="507" y="9"/>
                  </a:cubicBezTo>
                  <a:cubicBezTo>
                    <a:pt x="507" y="6"/>
                    <a:pt x="505" y="4"/>
                    <a:pt x="502" y="4"/>
                  </a:cubicBezTo>
                  <a:moveTo>
                    <a:pt x="506" y="21"/>
                  </a:moveTo>
                  <a:cubicBezTo>
                    <a:pt x="499" y="21"/>
                    <a:pt x="499" y="21"/>
                    <a:pt x="499" y="21"/>
                  </a:cubicBezTo>
                  <a:cubicBezTo>
                    <a:pt x="499" y="63"/>
                    <a:pt x="499" y="63"/>
                    <a:pt x="499" y="63"/>
                  </a:cubicBezTo>
                  <a:cubicBezTo>
                    <a:pt x="506" y="63"/>
                    <a:pt x="506" y="63"/>
                    <a:pt x="506" y="63"/>
                  </a:cubicBezTo>
                  <a:lnTo>
                    <a:pt x="506" y="21"/>
                  </a:lnTo>
                  <a:close/>
                  <a:moveTo>
                    <a:pt x="454" y="63"/>
                  </a:moveTo>
                  <a:cubicBezTo>
                    <a:pt x="461" y="63"/>
                    <a:pt x="461" y="63"/>
                    <a:pt x="461" y="63"/>
                  </a:cubicBezTo>
                  <a:cubicBezTo>
                    <a:pt x="461" y="38"/>
                    <a:pt x="461" y="38"/>
                    <a:pt x="461" y="38"/>
                  </a:cubicBezTo>
                  <a:cubicBezTo>
                    <a:pt x="461" y="36"/>
                    <a:pt x="462" y="35"/>
                    <a:pt x="462" y="34"/>
                  </a:cubicBezTo>
                  <a:cubicBezTo>
                    <a:pt x="463" y="30"/>
                    <a:pt x="467" y="26"/>
                    <a:pt x="471" y="26"/>
                  </a:cubicBezTo>
                  <a:cubicBezTo>
                    <a:pt x="478" y="26"/>
                    <a:pt x="480" y="32"/>
                    <a:pt x="480" y="39"/>
                  </a:cubicBezTo>
                  <a:cubicBezTo>
                    <a:pt x="480" y="63"/>
                    <a:pt x="480" y="63"/>
                    <a:pt x="480" y="63"/>
                  </a:cubicBezTo>
                  <a:cubicBezTo>
                    <a:pt x="487" y="63"/>
                    <a:pt x="487" y="63"/>
                    <a:pt x="487" y="63"/>
                  </a:cubicBezTo>
                  <a:cubicBezTo>
                    <a:pt x="487" y="38"/>
                    <a:pt x="487" y="38"/>
                    <a:pt x="487" y="38"/>
                  </a:cubicBezTo>
                  <a:cubicBezTo>
                    <a:pt x="487" y="24"/>
                    <a:pt x="479" y="20"/>
                    <a:pt x="474" y="20"/>
                  </a:cubicBezTo>
                  <a:cubicBezTo>
                    <a:pt x="467" y="20"/>
                    <a:pt x="463" y="24"/>
                    <a:pt x="461" y="28"/>
                  </a:cubicBezTo>
                  <a:cubicBezTo>
                    <a:pt x="461" y="28"/>
                    <a:pt x="461" y="28"/>
                    <a:pt x="461" y="28"/>
                  </a:cubicBezTo>
                  <a:cubicBezTo>
                    <a:pt x="460" y="21"/>
                    <a:pt x="460" y="21"/>
                    <a:pt x="460" y="21"/>
                  </a:cubicBezTo>
                  <a:cubicBezTo>
                    <a:pt x="454" y="21"/>
                    <a:pt x="454" y="21"/>
                    <a:pt x="454" y="21"/>
                  </a:cubicBezTo>
                  <a:cubicBezTo>
                    <a:pt x="454" y="24"/>
                    <a:pt x="454" y="28"/>
                    <a:pt x="454" y="32"/>
                  </a:cubicBezTo>
                  <a:lnTo>
                    <a:pt x="454" y="63"/>
                  </a:lnTo>
                  <a:close/>
                  <a:moveTo>
                    <a:pt x="402" y="5"/>
                  </a:moveTo>
                  <a:cubicBezTo>
                    <a:pt x="402" y="39"/>
                    <a:pt x="402" y="39"/>
                    <a:pt x="402" y="39"/>
                  </a:cubicBezTo>
                  <a:cubicBezTo>
                    <a:pt x="402" y="57"/>
                    <a:pt x="411" y="64"/>
                    <a:pt x="422" y="64"/>
                  </a:cubicBezTo>
                  <a:cubicBezTo>
                    <a:pt x="434" y="64"/>
                    <a:pt x="442" y="56"/>
                    <a:pt x="442" y="39"/>
                  </a:cubicBezTo>
                  <a:cubicBezTo>
                    <a:pt x="442" y="5"/>
                    <a:pt x="442" y="5"/>
                    <a:pt x="442" y="5"/>
                  </a:cubicBezTo>
                  <a:cubicBezTo>
                    <a:pt x="435" y="5"/>
                    <a:pt x="435" y="5"/>
                    <a:pt x="435" y="5"/>
                  </a:cubicBezTo>
                  <a:cubicBezTo>
                    <a:pt x="435" y="39"/>
                    <a:pt x="435" y="39"/>
                    <a:pt x="435" y="39"/>
                  </a:cubicBezTo>
                  <a:cubicBezTo>
                    <a:pt x="435" y="52"/>
                    <a:pt x="430" y="58"/>
                    <a:pt x="422" y="58"/>
                  </a:cubicBezTo>
                  <a:cubicBezTo>
                    <a:pt x="415" y="58"/>
                    <a:pt x="409" y="52"/>
                    <a:pt x="409" y="39"/>
                  </a:cubicBezTo>
                  <a:cubicBezTo>
                    <a:pt x="409" y="5"/>
                    <a:pt x="409" y="5"/>
                    <a:pt x="409" y="5"/>
                  </a:cubicBezTo>
                  <a:lnTo>
                    <a:pt x="402" y="5"/>
                  </a:lnTo>
                  <a:close/>
                  <a:moveTo>
                    <a:pt x="341" y="63"/>
                  </a:moveTo>
                  <a:cubicBezTo>
                    <a:pt x="348" y="63"/>
                    <a:pt x="348" y="63"/>
                    <a:pt x="348" y="63"/>
                  </a:cubicBezTo>
                  <a:cubicBezTo>
                    <a:pt x="348" y="38"/>
                    <a:pt x="348" y="38"/>
                    <a:pt x="348" y="38"/>
                  </a:cubicBezTo>
                  <a:cubicBezTo>
                    <a:pt x="348" y="36"/>
                    <a:pt x="348" y="35"/>
                    <a:pt x="348" y="34"/>
                  </a:cubicBezTo>
                  <a:cubicBezTo>
                    <a:pt x="349" y="30"/>
                    <a:pt x="353" y="26"/>
                    <a:pt x="358" y="26"/>
                  </a:cubicBezTo>
                  <a:cubicBezTo>
                    <a:pt x="364" y="26"/>
                    <a:pt x="367" y="32"/>
                    <a:pt x="367" y="39"/>
                  </a:cubicBezTo>
                  <a:cubicBezTo>
                    <a:pt x="367" y="63"/>
                    <a:pt x="367" y="63"/>
                    <a:pt x="367" y="63"/>
                  </a:cubicBezTo>
                  <a:cubicBezTo>
                    <a:pt x="374" y="63"/>
                    <a:pt x="374" y="63"/>
                    <a:pt x="374" y="63"/>
                  </a:cubicBezTo>
                  <a:cubicBezTo>
                    <a:pt x="374" y="38"/>
                    <a:pt x="374" y="38"/>
                    <a:pt x="374" y="38"/>
                  </a:cubicBezTo>
                  <a:cubicBezTo>
                    <a:pt x="374" y="24"/>
                    <a:pt x="365" y="20"/>
                    <a:pt x="360" y="20"/>
                  </a:cubicBezTo>
                  <a:cubicBezTo>
                    <a:pt x="354" y="20"/>
                    <a:pt x="349" y="24"/>
                    <a:pt x="347" y="28"/>
                  </a:cubicBezTo>
                  <a:cubicBezTo>
                    <a:pt x="347" y="28"/>
                    <a:pt x="347" y="28"/>
                    <a:pt x="347" y="28"/>
                  </a:cubicBezTo>
                  <a:cubicBezTo>
                    <a:pt x="347" y="21"/>
                    <a:pt x="347" y="21"/>
                    <a:pt x="347" y="2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1" y="24"/>
                    <a:pt x="341" y="28"/>
                    <a:pt x="341" y="32"/>
                  </a:cubicBezTo>
                  <a:lnTo>
                    <a:pt x="341" y="63"/>
                  </a:lnTo>
                  <a:close/>
                  <a:moveTo>
                    <a:pt x="313" y="26"/>
                  </a:moveTo>
                  <a:cubicBezTo>
                    <a:pt x="321" y="26"/>
                    <a:pt x="324" y="35"/>
                    <a:pt x="324" y="42"/>
                  </a:cubicBezTo>
                  <a:cubicBezTo>
                    <a:pt x="324" y="51"/>
                    <a:pt x="319" y="58"/>
                    <a:pt x="313" y="58"/>
                  </a:cubicBezTo>
                  <a:cubicBezTo>
                    <a:pt x="306" y="58"/>
                    <a:pt x="301" y="51"/>
                    <a:pt x="301" y="42"/>
                  </a:cubicBezTo>
                  <a:cubicBezTo>
                    <a:pt x="301" y="34"/>
                    <a:pt x="304" y="26"/>
                    <a:pt x="313" y="26"/>
                  </a:cubicBezTo>
                  <a:moveTo>
                    <a:pt x="313" y="20"/>
                  </a:moveTo>
                  <a:cubicBezTo>
                    <a:pt x="302" y="20"/>
                    <a:pt x="294" y="28"/>
                    <a:pt x="294" y="42"/>
                  </a:cubicBezTo>
                  <a:cubicBezTo>
                    <a:pt x="294" y="55"/>
                    <a:pt x="302" y="64"/>
                    <a:pt x="312" y="64"/>
                  </a:cubicBezTo>
                  <a:cubicBezTo>
                    <a:pt x="322" y="64"/>
                    <a:pt x="332" y="57"/>
                    <a:pt x="332" y="42"/>
                  </a:cubicBezTo>
                  <a:cubicBezTo>
                    <a:pt x="332" y="29"/>
                    <a:pt x="324" y="20"/>
                    <a:pt x="313" y="20"/>
                  </a:cubicBezTo>
                  <a:moveTo>
                    <a:pt x="281" y="4"/>
                  </a:moveTo>
                  <a:cubicBezTo>
                    <a:pt x="279" y="4"/>
                    <a:pt x="277" y="7"/>
                    <a:pt x="277" y="9"/>
                  </a:cubicBezTo>
                  <a:cubicBezTo>
                    <a:pt x="277" y="12"/>
                    <a:pt x="278" y="14"/>
                    <a:pt x="281" y="14"/>
                  </a:cubicBezTo>
                  <a:cubicBezTo>
                    <a:pt x="284" y="14"/>
                    <a:pt x="286" y="12"/>
                    <a:pt x="286" y="9"/>
                  </a:cubicBezTo>
                  <a:cubicBezTo>
                    <a:pt x="286" y="6"/>
                    <a:pt x="284" y="4"/>
                    <a:pt x="281" y="4"/>
                  </a:cubicBezTo>
                  <a:moveTo>
                    <a:pt x="285" y="21"/>
                  </a:moveTo>
                  <a:cubicBezTo>
                    <a:pt x="278" y="21"/>
                    <a:pt x="278" y="21"/>
                    <a:pt x="278" y="21"/>
                  </a:cubicBezTo>
                  <a:cubicBezTo>
                    <a:pt x="278" y="63"/>
                    <a:pt x="278" y="63"/>
                    <a:pt x="278" y="63"/>
                  </a:cubicBezTo>
                  <a:cubicBezTo>
                    <a:pt x="285" y="63"/>
                    <a:pt x="285" y="63"/>
                    <a:pt x="285" y="63"/>
                  </a:cubicBezTo>
                  <a:lnTo>
                    <a:pt x="285" y="21"/>
                  </a:lnTo>
                  <a:close/>
                  <a:moveTo>
                    <a:pt x="251" y="63"/>
                  </a:moveTo>
                  <a:cubicBezTo>
                    <a:pt x="258" y="63"/>
                    <a:pt x="258" y="63"/>
                    <a:pt x="258" y="63"/>
                  </a:cubicBezTo>
                  <a:cubicBezTo>
                    <a:pt x="258" y="40"/>
                    <a:pt x="258" y="40"/>
                    <a:pt x="258" y="40"/>
                  </a:cubicBezTo>
                  <a:cubicBezTo>
                    <a:pt x="258" y="39"/>
                    <a:pt x="258" y="38"/>
                    <a:pt x="258" y="37"/>
                  </a:cubicBezTo>
                  <a:cubicBezTo>
                    <a:pt x="259" y="31"/>
                    <a:pt x="263" y="27"/>
                    <a:pt x="268" y="27"/>
                  </a:cubicBezTo>
                  <a:cubicBezTo>
                    <a:pt x="269" y="27"/>
                    <a:pt x="270" y="27"/>
                    <a:pt x="270" y="27"/>
                  </a:cubicBezTo>
                  <a:cubicBezTo>
                    <a:pt x="270" y="20"/>
                    <a:pt x="270" y="20"/>
                    <a:pt x="270" y="20"/>
                  </a:cubicBezTo>
                  <a:cubicBezTo>
                    <a:pt x="270" y="20"/>
                    <a:pt x="269" y="20"/>
                    <a:pt x="268" y="20"/>
                  </a:cubicBezTo>
                  <a:cubicBezTo>
                    <a:pt x="264" y="20"/>
                    <a:pt x="259" y="24"/>
                    <a:pt x="257" y="29"/>
                  </a:cubicBezTo>
                  <a:cubicBezTo>
                    <a:pt x="257" y="29"/>
                    <a:pt x="257" y="29"/>
                    <a:pt x="257" y="29"/>
                  </a:cubicBezTo>
                  <a:cubicBezTo>
                    <a:pt x="257" y="21"/>
                    <a:pt x="257" y="21"/>
                    <a:pt x="257" y="21"/>
                  </a:cubicBezTo>
                  <a:cubicBezTo>
                    <a:pt x="251" y="21"/>
                    <a:pt x="251" y="21"/>
                    <a:pt x="251" y="21"/>
                  </a:cubicBezTo>
                  <a:cubicBezTo>
                    <a:pt x="251" y="25"/>
                    <a:pt x="251" y="29"/>
                    <a:pt x="251" y="34"/>
                  </a:cubicBezTo>
                  <a:lnTo>
                    <a:pt x="251" y="63"/>
                  </a:lnTo>
                  <a:close/>
                  <a:moveTo>
                    <a:pt x="239" y="21"/>
                  </a:moveTo>
                  <a:cubicBezTo>
                    <a:pt x="232" y="21"/>
                    <a:pt x="232" y="21"/>
                    <a:pt x="232" y="21"/>
                  </a:cubicBezTo>
                  <a:cubicBezTo>
                    <a:pt x="232" y="47"/>
                    <a:pt x="232" y="47"/>
                    <a:pt x="232" y="47"/>
                  </a:cubicBezTo>
                  <a:cubicBezTo>
                    <a:pt x="232" y="48"/>
                    <a:pt x="232" y="49"/>
                    <a:pt x="232" y="50"/>
                  </a:cubicBezTo>
                  <a:cubicBezTo>
                    <a:pt x="230" y="54"/>
                    <a:pt x="227" y="57"/>
                    <a:pt x="222" y="57"/>
                  </a:cubicBezTo>
                  <a:cubicBezTo>
                    <a:pt x="216" y="57"/>
                    <a:pt x="214" y="52"/>
                    <a:pt x="214" y="44"/>
                  </a:cubicBezTo>
                  <a:cubicBezTo>
                    <a:pt x="214" y="21"/>
                    <a:pt x="214" y="21"/>
                    <a:pt x="214" y="21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6" y="45"/>
                    <a:pt x="206" y="45"/>
                    <a:pt x="206" y="45"/>
                  </a:cubicBezTo>
                  <a:cubicBezTo>
                    <a:pt x="206" y="60"/>
                    <a:pt x="214" y="64"/>
                    <a:pt x="220" y="64"/>
                  </a:cubicBezTo>
                  <a:cubicBezTo>
                    <a:pt x="227" y="64"/>
                    <a:pt x="231" y="59"/>
                    <a:pt x="233" y="56"/>
                  </a:cubicBezTo>
                  <a:cubicBezTo>
                    <a:pt x="233" y="56"/>
                    <a:pt x="233" y="56"/>
                    <a:pt x="233" y="56"/>
                  </a:cubicBezTo>
                  <a:cubicBezTo>
                    <a:pt x="233" y="63"/>
                    <a:pt x="233" y="63"/>
                    <a:pt x="233" y="63"/>
                  </a:cubicBezTo>
                  <a:cubicBezTo>
                    <a:pt x="240" y="63"/>
                    <a:pt x="240" y="63"/>
                    <a:pt x="240" y="63"/>
                  </a:cubicBezTo>
                  <a:cubicBezTo>
                    <a:pt x="239" y="60"/>
                    <a:pt x="239" y="56"/>
                    <a:pt x="239" y="51"/>
                  </a:cubicBezTo>
                  <a:lnTo>
                    <a:pt x="239" y="21"/>
                  </a:lnTo>
                  <a:close/>
                  <a:moveTo>
                    <a:pt x="196" y="32"/>
                  </a:moveTo>
                  <a:cubicBezTo>
                    <a:pt x="178" y="32"/>
                    <a:pt x="178" y="32"/>
                    <a:pt x="178" y="32"/>
                  </a:cubicBezTo>
                  <a:cubicBezTo>
                    <a:pt x="178" y="38"/>
                    <a:pt x="178" y="38"/>
                    <a:pt x="178" y="38"/>
                  </a:cubicBezTo>
                  <a:cubicBezTo>
                    <a:pt x="189" y="38"/>
                    <a:pt x="189" y="38"/>
                    <a:pt x="189" y="38"/>
                  </a:cubicBezTo>
                  <a:cubicBezTo>
                    <a:pt x="189" y="56"/>
                    <a:pt x="189" y="56"/>
                    <a:pt x="189" y="56"/>
                  </a:cubicBezTo>
                  <a:cubicBezTo>
                    <a:pt x="188" y="56"/>
                    <a:pt x="185" y="57"/>
                    <a:pt x="180" y="57"/>
                  </a:cubicBezTo>
                  <a:cubicBezTo>
                    <a:pt x="167" y="57"/>
                    <a:pt x="159" y="48"/>
                    <a:pt x="159" y="34"/>
                  </a:cubicBezTo>
                  <a:cubicBezTo>
                    <a:pt x="159" y="19"/>
                    <a:pt x="168" y="10"/>
                    <a:pt x="181" y="10"/>
                  </a:cubicBezTo>
                  <a:cubicBezTo>
                    <a:pt x="186" y="10"/>
                    <a:pt x="190" y="11"/>
                    <a:pt x="193" y="13"/>
                  </a:cubicBezTo>
                  <a:cubicBezTo>
                    <a:pt x="195" y="7"/>
                    <a:pt x="195" y="7"/>
                    <a:pt x="195" y="7"/>
                  </a:cubicBezTo>
                  <a:cubicBezTo>
                    <a:pt x="192" y="5"/>
                    <a:pt x="187" y="4"/>
                    <a:pt x="181" y="4"/>
                  </a:cubicBezTo>
                  <a:cubicBezTo>
                    <a:pt x="163" y="4"/>
                    <a:pt x="152" y="17"/>
                    <a:pt x="152" y="34"/>
                  </a:cubicBezTo>
                  <a:cubicBezTo>
                    <a:pt x="152" y="43"/>
                    <a:pt x="155" y="51"/>
                    <a:pt x="159" y="56"/>
                  </a:cubicBezTo>
                  <a:cubicBezTo>
                    <a:pt x="165" y="61"/>
                    <a:pt x="171" y="63"/>
                    <a:pt x="180" y="63"/>
                  </a:cubicBezTo>
                  <a:cubicBezTo>
                    <a:pt x="187" y="63"/>
                    <a:pt x="193" y="62"/>
                    <a:pt x="196" y="60"/>
                  </a:cubicBezTo>
                  <a:lnTo>
                    <a:pt x="196" y="32"/>
                  </a:lnTo>
                  <a:close/>
                  <a:moveTo>
                    <a:pt x="126" y="42"/>
                  </a:moveTo>
                  <a:cubicBezTo>
                    <a:pt x="145" y="42"/>
                    <a:pt x="145" y="42"/>
                    <a:pt x="145" y="42"/>
                  </a:cubicBezTo>
                  <a:cubicBezTo>
                    <a:pt x="145" y="37"/>
                    <a:pt x="145" y="37"/>
                    <a:pt x="145" y="37"/>
                  </a:cubicBezTo>
                  <a:cubicBezTo>
                    <a:pt x="126" y="37"/>
                    <a:pt x="126" y="37"/>
                    <a:pt x="126" y="37"/>
                  </a:cubicBezTo>
                  <a:lnTo>
                    <a:pt x="126" y="42"/>
                  </a:lnTo>
                  <a:close/>
                  <a:moveTo>
                    <a:pt x="84" y="63"/>
                  </a:moveTo>
                  <a:cubicBezTo>
                    <a:pt x="91" y="63"/>
                    <a:pt x="91" y="63"/>
                    <a:pt x="91" y="63"/>
                  </a:cubicBezTo>
                  <a:cubicBezTo>
                    <a:pt x="91" y="38"/>
                    <a:pt x="91" y="38"/>
                    <a:pt x="91" y="38"/>
                  </a:cubicBezTo>
                  <a:cubicBezTo>
                    <a:pt x="91" y="36"/>
                    <a:pt x="92" y="35"/>
                    <a:pt x="92" y="34"/>
                  </a:cubicBezTo>
                  <a:cubicBezTo>
                    <a:pt x="93" y="30"/>
                    <a:pt x="97" y="26"/>
                    <a:pt x="101" y="26"/>
                  </a:cubicBezTo>
                  <a:cubicBezTo>
                    <a:pt x="108" y="26"/>
                    <a:pt x="110" y="32"/>
                    <a:pt x="110" y="39"/>
                  </a:cubicBezTo>
                  <a:cubicBezTo>
                    <a:pt x="110" y="63"/>
                    <a:pt x="110" y="63"/>
                    <a:pt x="110" y="63"/>
                  </a:cubicBezTo>
                  <a:cubicBezTo>
                    <a:pt x="117" y="63"/>
                    <a:pt x="117" y="63"/>
                    <a:pt x="117" y="63"/>
                  </a:cubicBezTo>
                  <a:cubicBezTo>
                    <a:pt x="117" y="38"/>
                    <a:pt x="117" y="38"/>
                    <a:pt x="117" y="38"/>
                  </a:cubicBezTo>
                  <a:cubicBezTo>
                    <a:pt x="117" y="24"/>
                    <a:pt x="109" y="20"/>
                    <a:pt x="104" y="20"/>
                  </a:cubicBezTo>
                  <a:cubicBezTo>
                    <a:pt x="97" y="20"/>
                    <a:pt x="93" y="24"/>
                    <a:pt x="91" y="28"/>
                  </a:cubicBezTo>
                  <a:cubicBezTo>
                    <a:pt x="91" y="28"/>
                    <a:pt x="91" y="28"/>
                    <a:pt x="91" y="28"/>
                  </a:cubicBezTo>
                  <a:cubicBezTo>
                    <a:pt x="90" y="21"/>
                    <a:pt x="90" y="21"/>
                    <a:pt x="90" y="21"/>
                  </a:cubicBezTo>
                  <a:cubicBezTo>
                    <a:pt x="84" y="21"/>
                    <a:pt x="84" y="21"/>
                    <a:pt x="84" y="21"/>
                  </a:cubicBezTo>
                  <a:cubicBezTo>
                    <a:pt x="84" y="24"/>
                    <a:pt x="84" y="28"/>
                    <a:pt x="84" y="32"/>
                  </a:cubicBezTo>
                  <a:lnTo>
                    <a:pt x="84" y="63"/>
                  </a:lnTo>
                  <a:close/>
                  <a:moveTo>
                    <a:pt x="48" y="38"/>
                  </a:moveTo>
                  <a:cubicBezTo>
                    <a:pt x="49" y="33"/>
                    <a:pt x="52" y="26"/>
                    <a:pt x="59" y="26"/>
                  </a:cubicBezTo>
                  <a:cubicBezTo>
                    <a:pt x="67" y="26"/>
                    <a:pt x="69" y="33"/>
                    <a:pt x="69" y="38"/>
                  </a:cubicBezTo>
                  <a:lnTo>
                    <a:pt x="48" y="38"/>
                  </a:lnTo>
                  <a:close/>
                  <a:moveTo>
                    <a:pt x="75" y="43"/>
                  </a:moveTo>
                  <a:cubicBezTo>
                    <a:pt x="76" y="42"/>
                    <a:pt x="76" y="41"/>
                    <a:pt x="76" y="40"/>
                  </a:cubicBezTo>
                  <a:cubicBezTo>
                    <a:pt x="76" y="32"/>
                    <a:pt x="72" y="20"/>
                    <a:pt x="60" y="20"/>
                  </a:cubicBezTo>
                  <a:cubicBezTo>
                    <a:pt x="48" y="20"/>
                    <a:pt x="41" y="30"/>
                    <a:pt x="41" y="43"/>
                  </a:cubicBezTo>
                  <a:cubicBezTo>
                    <a:pt x="41" y="55"/>
                    <a:pt x="48" y="64"/>
                    <a:pt x="60" y="64"/>
                  </a:cubicBezTo>
                  <a:cubicBezTo>
                    <a:pt x="67" y="64"/>
                    <a:pt x="71" y="62"/>
                    <a:pt x="73" y="61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70" y="57"/>
                    <a:pt x="66" y="58"/>
                    <a:pt x="61" y="58"/>
                  </a:cubicBezTo>
                  <a:cubicBezTo>
                    <a:pt x="54" y="58"/>
                    <a:pt x="48" y="54"/>
                    <a:pt x="48" y="43"/>
                  </a:cubicBezTo>
                  <a:lnTo>
                    <a:pt x="75" y="43"/>
                  </a:lnTo>
                  <a:close/>
                  <a:moveTo>
                    <a:pt x="7" y="35"/>
                  </a:moveTo>
                  <a:cubicBezTo>
                    <a:pt x="13" y="35"/>
                    <a:pt x="13" y="35"/>
                    <a:pt x="13" y="35"/>
                  </a:cubicBezTo>
                  <a:cubicBezTo>
                    <a:pt x="21" y="35"/>
                    <a:pt x="27" y="38"/>
                    <a:pt x="27" y="46"/>
                  </a:cubicBezTo>
                  <a:cubicBezTo>
                    <a:pt x="27" y="55"/>
                    <a:pt x="21" y="57"/>
                    <a:pt x="13" y="57"/>
                  </a:cubicBezTo>
                  <a:cubicBezTo>
                    <a:pt x="11" y="57"/>
                    <a:pt x="9" y="57"/>
                    <a:pt x="7" y="57"/>
                  </a:cubicBezTo>
                  <a:lnTo>
                    <a:pt x="7" y="35"/>
                  </a:lnTo>
                  <a:close/>
                  <a:moveTo>
                    <a:pt x="7" y="10"/>
                  </a:moveTo>
                  <a:cubicBezTo>
                    <a:pt x="9" y="10"/>
                    <a:pt x="10" y="10"/>
                    <a:pt x="14" y="10"/>
                  </a:cubicBezTo>
                  <a:cubicBezTo>
                    <a:pt x="21" y="10"/>
                    <a:pt x="25" y="13"/>
                    <a:pt x="25" y="19"/>
                  </a:cubicBezTo>
                  <a:cubicBezTo>
                    <a:pt x="25" y="25"/>
                    <a:pt x="21" y="29"/>
                    <a:pt x="14" y="29"/>
                  </a:cubicBezTo>
                  <a:cubicBezTo>
                    <a:pt x="7" y="29"/>
                    <a:pt x="7" y="29"/>
                    <a:pt x="7" y="29"/>
                  </a:cubicBezTo>
                  <a:lnTo>
                    <a:pt x="7" y="10"/>
                  </a:lnTo>
                  <a:close/>
                  <a:moveTo>
                    <a:pt x="0" y="63"/>
                  </a:moveTo>
                  <a:cubicBezTo>
                    <a:pt x="3" y="63"/>
                    <a:pt x="6" y="63"/>
                    <a:pt x="11" y="63"/>
                  </a:cubicBezTo>
                  <a:cubicBezTo>
                    <a:pt x="20" y="63"/>
                    <a:pt x="26" y="62"/>
                    <a:pt x="30" y="58"/>
                  </a:cubicBezTo>
                  <a:cubicBezTo>
                    <a:pt x="33" y="55"/>
                    <a:pt x="35" y="51"/>
                    <a:pt x="35" y="46"/>
                  </a:cubicBezTo>
                  <a:cubicBezTo>
                    <a:pt x="35" y="38"/>
                    <a:pt x="29" y="33"/>
                    <a:pt x="23" y="32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9" y="29"/>
                    <a:pt x="33" y="24"/>
                    <a:pt x="33" y="19"/>
                  </a:cubicBezTo>
                  <a:cubicBezTo>
                    <a:pt x="33" y="14"/>
                    <a:pt x="31" y="11"/>
                    <a:pt x="28" y="8"/>
                  </a:cubicBezTo>
                  <a:cubicBezTo>
                    <a:pt x="25" y="5"/>
                    <a:pt x="20" y="4"/>
                    <a:pt x="13" y="4"/>
                  </a:cubicBezTo>
                  <a:cubicBezTo>
                    <a:pt x="8" y="4"/>
                    <a:pt x="3" y="5"/>
                    <a:pt x="0" y="5"/>
                  </a:cubicBezTo>
                  <a:lnTo>
                    <a:pt x="0" y="63"/>
                  </a:ln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40C0A694-7DDC-4549-ABA8-FFB7F64A52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6876" y="6273800"/>
              <a:ext cx="2012950" cy="168275"/>
            </a:xfrm>
            <a:custGeom>
              <a:avLst/>
              <a:gdLst>
                <a:gd name="T0" fmla="*/ 1166 w 1179"/>
                <a:gd name="T1" fmla="*/ 17 h 97"/>
                <a:gd name="T2" fmla="*/ 1121 w 1179"/>
                <a:gd name="T3" fmla="*/ 42 h 97"/>
                <a:gd name="T4" fmla="*/ 1170 w 1179"/>
                <a:gd name="T5" fmla="*/ 72 h 97"/>
                <a:gd name="T6" fmla="*/ 1090 w 1179"/>
                <a:gd name="T7" fmla="*/ 0 h 97"/>
                <a:gd name="T8" fmla="*/ 1094 w 1179"/>
                <a:gd name="T9" fmla="*/ 72 h 97"/>
                <a:gd name="T10" fmla="*/ 1046 w 1179"/>
                <a:gd name="T11" fmla="*/ 1 h 97"/>
                <a:gd name="T12" fmla="*/ 1045 w 1179"/>
                <a:gd name="T13" fmla="*/ 64 h 97"/>
                <a:gd name="T14" fmla="*/ 1018 w 1179"/>
                <a:gd name="T15" fmla="*/ 0 h 97"/>
                <a:gd name="T16" fmla="*/ 1022 w 1179"/>
                <a:gd name="T17" fmla="*/ 16 h 97"/>
                <a:gd name="T18" fmla="*/ 998 w 1179"/>
                <a:gd name="T19" fmla="*/ 58 h 97"/>
                <a:gd name="T20" fmla="*/ 954 w 1179"/>
                <a:gd name="T21" fmla="*/ 10 h 97"/>
                <a:gd name="T22" fmla="*/ 951 w 1179"/>
                <a:gd name="T23" fmla="*/ 72 h 97"/>
                <a:gd name="T24" fmla="*/ 891 w 1179"/>
                <a:gd name="T25" fmla="*/ 2 h 97"/>
                <a:gd name="T26" fmla="*/ 938 w 1179"/>
                <a:gd name="T27" fmla="*/ 72 h 97"/>
                <a:gd name="T28" fmla="*/ 835 w 1179"/>
                <a:gd name="T29" fmla="*/ 11 h 97"/>
                <a:gd name="T30" fmla="*/ 873 w 1179"/>
                <a:gd name="T31" fmla="*/ 8 h 97"/>
                <a:gd name="T32" fmla="*/ 820 w 1179"/>
                <a:gd name="T33" fmla="*/ 40 h 97"/>
                <a:gd name="T34" fmla="*/ 799 w 1179"/>
                <a:gd name="T35" fmla="*/ 3 h 97"/>
                <a:gd name="T36" fmla="*/ 787 w 1179"/>
                <a:gd name="T37" fmla="*/ 7 h 97"/>
                <a:gd name="T38" fmla="*/ 756 w 1179"/>
                <a:gd name="T39" fmla="*/ 0 h 97"/>
                <a:gd name="T40" fmla="*/ 761 w 1179"/>
                <a:gd name="T41" fmla="*/ 59 h 97"/>
                <a:gd name="T42" fmla="*/ 746 w 1179"/>
                <a:gd name="T43" fmla="*/ 73 h 97"/>
                <a:gd name="T44" fmla="*/ 666 w 1179"/>
                <a:gd name="T45" fmla="*/ 0 h 97"/>
                <a:gd name="T46" fmla="*/ 638 w 1179"/>
                <a:gd name="T47" fmla="*/ 66 h 97"/>
                <a:gd name="T48" fmla="*/ 658 w 1179"/>
                <a:gd name="T49" fmla="*/ 50 h 97"/>
                <a:gd name="T50" fmla="*/ 693 w 1179"/>
                <a:gd name="T51" fmla="*/ 72 h 97"/>
                <a:gd name="T52" fmla="*/ 591 w 1179"/>
                <a:gd name="T53" fmla="*/ 31 h 97"/>
                <a:gd name="T54" fmla="*/ 559 w 1179"/>
                <a:gd name="T55" fmla="*/ 8 h 97"/>
                <a:gd name="T56" fmla="*/ 599 w 1179"/>
                <a:gd name="T57" fmla="*/ 72 h 97"/>
                <a:gd name="T58" fmla="*/ 511 w 1179"/>
                <a:gd name="T59" fmla="*/ 1 h 97"/>
                <a:gd name="T60" fmla="*/ 529 w 1179"/>
                <a:gd name="T61" fmla="*/ 97 h 97"/>
                <a:gd name="T62" fmla="*/ 503 w 1179"/>
                <a:gd name="T63" fmla="*/ 33 h 97"/>
                <a:gd name="T64" fmla="*/ 427 w 1179"/>
                <a:gd name="T65" fmla="*/ 8 h 97"/>
                <a:gd name="T66" fmla="*/ 444 w 1179"/>
                <a:gd name="T67" fmla="*/ 49 h 97"/>
                <a:gd name="T68" fmla="*/ 427 w 1179"/>
                <a:gd name="T69" fmla="*/ 73 h 97"/>
                <a:gd name="T70" fmla="*/ 459 w 1179"/>
                <a:gd name="T71" fmla="*/ 71 h 97"/>
                <a:gd name="T72" fmla="*/ 392 w 1179"/>
                <a:gd name="T73" fmla="*/ 1 h 97"/>
                <a:gd name="T74" fmla="*/ 410 w 1179"/>
                <a:gd name="T75" fmla="*/ 72 h 97"/>
                <a:gd name="T76" fmla="*/ 333 w 1179"/>
                <a:gd name="T77" fmla="*/ 10 h 97"/>
                <a:gd name="T78" fmla="*/ 380 w 1179"/>
                <a:gd name="T79" fmla="*/ 31 h 97"/>
                <a:gd name="T80" fmla="*/ 304 w 1179"/>
                <a:gd name="T81" fmla="*/ 8 h 97"/>
                <a:gd name="T82" fmla="*/ 322 w 1179"/>
                <a:gd name="T83" fmla="*/ 15 h 97"/>
                <a:gd name="T84" fmla="*/ 275 w 1179"/>
                <a:gd name="T85" fmla="*/ 8 h 97"/>
                <a:gd name="T86" fmla="*/ 293 w 1179"/>
                <a:gd name="T87" fmla="*/ 15 h 97"/>
                <a:gd name="T88" fmla="*/ 245 w 1179"/>
                <a:gd name="T89" fmla="*/ 8 h 97"/>
                <a:gd name="T90" fmla="*/ 263 w 1179"/>
                <a:gd name="T91" fmla="*/ 15 h 97"/>
                <a:gd name="T92" fmla="*/ 171 w 1179"/>
                <a:gd name="T93" fmla="*/ 0 h 97"/>
                <a:gd name="T94" fmla="*/ 192 w 1179"/>
                <a:gd name="T95" fmla="*/ 58 h 97"/>
                <a:gd name="T96" fmla="*/ 140 w 1179"/>
                <a:gd name="T97" fmla="*/ 23 h 97"/>
                <a:gd name="T98" fmla="*/ 118 w 1179"/>
                <a:gd name="T99" fmla="*/ 8 h 97"/>
                <a:gd name="T100" fmla="*/ 140 w 1179"/>
                <a:gd name="T101" fmla="*/ 23 h 97"/>
                <a:gd name="T102" fmla="*/ 67 w 1179"/>
                <a:gd name="T103" fmla="*/ 8 h 97"/>
                <a:gd name="T104" fmla="*/ 84 w 1179"/>
                <a:gd name="T105" fmla="*/ 49 h 97"/>
                <a:gd name="T106" fmla="*/ 67 w 1179"/>
                <a:gd name="T107" fmla="*/ 73 h 97"/>
                <a:gd name="T108" fmla="*/ 99 w 1179"/>
                <a:gd name="T109" fmla="*/ 71 h 97"/>
                <a:gd name="T110" fmla="*/ 38 w 1179"/>
                <a:gd name="T111" fmla="*/ 7 h 97"/>
                <a:gd name="T112" fmla="*/ 38 w 1179"/>
                <a:gd name="T113" fmla="*/ 33 h 97"/>
                <a:gd name="T114" fmla="*/ 56 w 1179"/>
                <a:gd name="T115" fmla="*/ 64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79" h="97">
                  <a:moveTo>
                    <a:pt x="1179" y="71"/>
                  </a:moveTo>
                  <a:cubicBezTo>
                    <a:pt x="1175" y="63"/>
                    <a:pt x="1169" y="54"/>
                    <a:pt x="1162" y="45"/>
                  </a:cubicBezTo>
                  <a:cubicBezTo>
                    <a:pt x="1171" y="34"/>
                    <a:pt x="1176" y="23"/>
                    <a:pt x="1176" y="11"/>
                  </a:cubicBezTo>
                  <a:cubicBezTo>
                    <a:pt x="1176" y="0"/>
                    <a:pt x="1176" y="0"/>
                    <a:pt x="1176" y="0"/>
                  </a:cubicBezTo>
                  <a:cubicBezTo>
                    <a:pt x="1166" y="0"/>
                    <a:pt x="1166" y="0"/>
                    <a:pt x="1166" y="0"/>
                  </a:cubicBezTo>
                  <a:cubicBezTo>
                    <a:pt x="1166" y="17"/>
                    <a:pt x="1166" y="17"/>
                    <a:pt x="1166" y="17"/>
                  </a:cubicBezTo>
                  <a:cubicBezTo>
                    <a:pt x="1166" y="25"/>
                    <a:pt x="1164" y="33"/>
                    <a:pt x="1159" y="41"/>
                  </a:cubicBezTo>
                  <a:cubicBezTo>
                    <a:pt x="1144" y="22"/>
                    <a:pt x="1134" y="9"/>
                    <a:pt x="1126" y="0"/>
                  </a:cubicBezTo>
                  <a:cubicBezTo>
                    <a:pt x="1116" y="0"/>
                    <a:pt x="1116" y="0"/>
                    <a:pt x="1116" y="0"/>
                  </a:cubicBezTo>
                  <a:cubicBezTo>
                    <a:pt x="1116" y="2"/>
                    <a:pt x="1116" y="2"/>
                    <a:pt x="1116" y="2"/>
                  </a:cubicBezTo>
                  <a:cubicBezTo>
                    <a:pt x="1124" y="11"/>
                    <a:pt x="1130" y="18"/>
                    <a:pt x="1132" y="21"/>
                  </a:cubicBezTo>
                  <a:cubicBezTo>
                    <a:pt x="1126" y="29"/>
                    <a:pt x="1123" y="36"/>
                    <a:pt x="1121" y="42"/>
                  </a:cubicBezTo>
                  <a:cubicBezTo>
                    <a:pt x="1119" y="46"/>
                    <a:pt x="1119" y="53"/>
                    <a:pt x="1119" y="61"/>
                  </a:cubicBezTo>
                  <a:cubicBezTo>
                    <a:pt x="1119" y="72"/>
                    <a:pt x="1119" y="72"/>
                    <a:pt x="1119" y="72"/>
                  </a:cubicBezTo>
                  <a:cubicBezTo>
                    <a:pt x="1128" y="72"/>
                    <a:pt x="1128" y="72"/>
                    <a:pt x="1128" y="72"/>
                  </a:cubicBezTo>
                  <a:cubicBezTo>
                    <a:pt x="1128" y="57"/>
                    <a:pt x="1128" y="57"/>
                    <a:pt x="1128" y="57"/>
                  </a:cubicBezTo>
                  <a:cubicBezTo>
                    <a:pt x="1128" y="43"/>
                    <a:pt x="1131" y="33"/>
                    <a:pt x="1136" y="25"/>
                  </a:cubicBezTo>
                  <a:cubicBezTo>
                    <a:pt x="1150" y="42"/>
                    <a:pt x="1161" y="58"/>
                    <a:pt x="1170" y="72"/>
                  </a:cubicBezTo>
                  <a:cubicBezTo>
                    <a:pt x="1179" y="72"/>
                    <a:pt x="1179" y="72"/>
                    <a:pt x="1179" y="72"/>
                  </a:cubicBezTo>
                  <a:lnTo>
                    <a:pt x="1179" y="71"/>
                  </a:lnTo>
                  <a:close/>
                  <a:moveTo>
                    <a:pt x="1103" y="15"/>
                  </a:moveTo>
                  <a:cubicBezTo>
                    <a:pt x="1103" y="10"/>
                    <a:pt x="1102" y="6"/>
                    <a:pt x="1099" y="3"/>
                  </a:cubicBezTo>
                  <a:cubicBezTo>
                    <a:pt x="1096" y="1"/>
                    <a:pt x="1094" y="0"/>
                    <a:pt x="1090" y="0"/>
                  </a:cubicBezTo>
                  <a:cubicBezTo>
                    <a:pt x="1090" y="0"/>
                    <a:pt x="1090" y="0"/>
                    <a:pt x="1090" y="0"/>
                  </a:cubicBezTo>
                  <a:cubicBezTo>
                    <a:pt x="1088" y="0"/>
                    <a:pt x="1086" y="0"/>
                    <a:pt x="1085" y="1"/>
                  </a:cubicBezTo>
                  <a:cubicBezTo>
                    <a:pt x="1085" y="8"/>
                    <a:pt x="1085" y="8"/>
                    <a:pt x="1085" y="8"/>
                  </a:cubicBezTo>
                  <a:cubicBezTo>
                    <a:pt x="1085" y="8"/>
                    <a:pt x="1085" y="8"/>
                    <a:pt x="1086" y="7"/>
                  </a:cubicBezTo>
                  <a:cubicBezTo>
                    <a:pt x="1087" y="7"/>
                    <a:pt x="1087" y="7"/>
                    <a:pt x="1087" y="7"/>
                  </a:cubicBezTo>
                  <a:cubicBezTo>
                    <a:pt x="1092" y="7"/>
                    <a:pt x="1094" y="10"/>
                    <a:pt x="1094" y="16"/>
                  </a:cubicBezTo>
                  <a:cubicBezTo>
                    <a:pt x="1094" y="72"/>
                    <a:pt x="1094" y="72"/>
                    <a:pt x="1094" y="72"/>
                  </a:cubicBezTo>
                  <a:cubicBezTo>
                    <a:pt x="1103" y="72"/>
                    <a:pt x="1103" y="72"/>
                    <a:pt x="1103" y="72"/>
                  </a:cubicBezTo>
                  <a:lnTo>
                    <a:pt x="1103" y="15"/>
                  </a:lnTo>
                  <a:close/>
                  <a:moveTo>
                    <a:pt x="1074" y="23"/>
                  </a:moveTo>
                  <a:cubicBezTo>
                    <a:pt x="1074" y="15"/>
                    <a:pt x="1071" y="9"/>
                    <a:pt x="1067" y="5"/>
                  </a:cubicBezTo>
                  <a:cubicBezTo>
                    <a:pt x="1063" y="2"/>
                    <a:pt x="1059" y="0"/>
                    <a:pt x="1053" y="0"/>
                  </a:cubicBezTo>
                  <a:cubicBezTo>
                    <a:pt x="1050" y="0"/>
                    <a:pt x="1048" y="1"/>
                    <a:pt x="1046" y="1"/>
                  </a:cubicBezTo>
                  <a:cubicBezTo>
                    <a:pt x="1046" y="9"/>
                    <a:pt x="1046" y="9"/>
                    <a:pt x="1046" y="9"/>
                  </a:cubicBezTo>
                  <a:cubicBezTo>
                    <a:pt x="1047" y="9"/>
                    <a:pt x="1047" y="9"/>
                    <a:pt x="1047" y="9"/>
                  </a:cubicBezTo>
                  <a:cubicBezTo>
                    <a:pt x="1048" y="8"/>
                    <a:pt x="1050" y="8"/>
                    <a:pt x="1052" y="8"/>
                  </a:cubicBezTo>
                  <a:cubicBezTo>
                    <a:pt x="1060" y="8"/>
                    <a:pt x="1065" y="13"/>
                    <a:pt x="1065" y="24"/>
                  </a:cubicBezTo>
                  <a:cubicBezTo>
                    <a:pt x="1065" y="64"/>
                    <a:pt x="1065" y="64"/>
                    <a:pt x="1065" y="64"/>
                  </a:cubicBezTo>
                  <a:cubicBezTo>
                    <a:pt x="1045" y="64"/>
                    <a:pt x="1045" y="64"/>
                    <a:pt x="1045" y="64"/>
                  </a:cubicBezTo>
                  <a:cubicBezTo>
                    <a:pt x="1045" y="72"/>
                    <a:pt x="1045" y="72"/>
                    <a:pt x="1045" y="72"/>
                  </a:cubicBezTo>
                  <a:cubicBezTo>
                    <a:pt x="1074" y="72"/>
                    <a:pt x="1074" y="72"/>
                    <a:pt x="1074" y="72"/>
                  </a:cubicBezTo>
                  <a:lnTo>
                    <a:pt x="1074" y="23"/>
                  </a:lnTo>
                  <a:close/>
                  <a:moveTo>
                    <a:pt x="1031" y="15"/>
                  </a:moveTo>
                  <a:cubicBezTo>
                    <a:pt x="1031" y="10"/>
                    <a:pt x="1029" y="6"/>
                    <a:pt x="1026" y="3"/>
                  </a:cubicBezTo>
                  <a:cubicBezTo>
                    <a:pt x="1024" y="1"/>
                    <a:pt x="1021" y="0"/>
                    <a:pt x="1018" y="0"/>
                  </a:cubicBezTo>
                  <a:cubicBezTo>
                    <a:pt x="1018" y="0"/>
                    <a:pt x="1018" y="0"/>
                    <a:pt x="1018" y="0"/>
                  </a:cubicBezTo>
                  <a:cubicBezTo>
                    <a:pt x="1015" y="0"/>
                    <a:pt x="1014" y="0"/>
                    <a:pt x="1013" y="1"/>
                  </a:cubicBezTo>
                  <a:cubicBezTo>
                    <a:pt x="1013" y="8"/>
                    <a:pt x="1013" y="8"/>
                    <a:pt x="1013" y="8"/>
                  </a:cubicBezTo>
                  <a:cubicBezTo>
                    <a:pt x="1013" y="8"/>
                    <a:pt x="1013" y="8"/>
                    <a:pt x="1014" y="7"/>
                  </a:cubicBezTo>
                  <a:cubicBezTo>
                    <a:pt x="1014" y="7"/>
                    <a:pt x="1014" y="7"/>
                    <a:pt x="1014" y="7"/>
                  </a:cubicBezTo>
                  <a:cubicBezTo>
                    <a:pt x="1019" y="7"/>
                    <a:pt x="1022" y="10"/>
                    <a:pt x="1022" y="16"/>
                  </a:cubicBezTo>
                  <a:cubicBezTo>
                    <a:pt x="1022" y="40"/>
                    <a:pt x="1022" y="40"/>
                    <a:pt x="1022" y="40"/>
                  </a:cubicBezTo>
                  <a:cubicBezTo>
                    <a:pt x="1031" y="40"/>
                    <a:pt x="1031" y="40"/>
                    <a:pt x="1031" y="40"/>
                  </a:cubicBezTo>
                  <a:lnTo>
                    <a:pt x="1031" y="15"/>
                  </a:lnTo>
                  <a:close/>
                  <a:moveTo>
                    <a:pt x="1007" y="64"/>
                  </a:moveTo>
                  <a:cubicBezTo>
                    <a:pt x="1002" y="64"/>
                    <a:pt x="1002" y="64"/>
                    <a:pt x="1002" y="64"/>
                  </a:cubicBezTo>
                  <a:cubicBezTo>
                    <a:pt x="1000" y="64"/>
                    <a:pt x="998" y="62"/>
                    <a:pt x="998" y="58"/>
                  </a:cubicBezTo>
                  <a:cubicBezTo>
                    <a:pt x="998" y="31"/>
                    <a:pt x="998" y="31"/>
                    <a:pt x="998" y="31"/>
                  </a:cubicBezTo>
                  <a:cubicBezTo>
                    <a:pt x="998" y="21"/>
                    <a:pt x="995" y="13"/>
                    <a:pt x="989" y="7"/>
                  </a:cubicBezTo>
                  <a:cubicBezTo>
                    <a:pt x="983" y="2"/>
                    <a:pt x="977" y="0"/>
                    <a:pt x="968" y="0"/>
                  </a:cubicBezTo>
                  <a:cubicBezTo>
                    <a:pt x="962" y="0"/>
                    <a:pt x="957" y="1"/>
                    <a:pt x="953" y="2"/>
                  </a:cubicBezTo>
                  <a:cubicBezTo>
                    <a:pt x="953" y="10"/>
                    <a:pt x="953" y="10"/>
                    <a:pt x="953" y="10"/>
                  </a:cubicBezTo>
                  <a:cubicBezTo>
                    <a:pt x="954" y="10"/>
                    <a:pt x="954" y="10"/>
                    <a:pt x="954" y="10"/>
                  </a:cubicBezTo>
                  <a:cubicBezTo>
                    <a:pt x="957" y="9"/>
                    <a:pt x="962" y="8"/>
                    <a:pt x="966" y="8"/>
                  </a:cubicBezTo>
                  <a:cubicBezTo>
                    <a:pt x="982" y="8"/>
                    <a:pt x="989" y="16"/>
                    <a:pt x="989" y="33"/>
                  </a:cubicBezTo>
                  <a:cubicBezTo>
                    <a:pt x="989" y="58"/>
                    <a:pt x="989" y="58"/>
                    <a:pt x="989" y="58"/>
                  </a:cubicBezTo>
                  <a:cubicBezTo>
                    <a:pt x="989" y="61"/>
                    <a:pt x="990" y="63"/>
                    <a:pt x="991" y="64"/>
                  </a:cubicBezTo>
                  <a:cubicBezTo>
                    <a:pt x="951" y="64"/>
                    <a:pt x="951" y="64"/>
                    <a:pt x="951" y="64"/>
                  </a:cubicBezTo>
                  <a:cubicBezTo>
                    <a:pt x="951" y="72"/>
                    <a:pt x="951" y="72"/>
                    <a:pt x="951" y="72"/>
                  </a:cubicBezTo>
                  <a:cubicBezTo>
                    <a:pt x="1007" y="72"/>
                    <a:pt x="1007" y="72"/>
                    <a:pt x="1007" y="72"/>
                  </a:cubicBezTo>
                  <a:lnTo>
                    <a:pt x="1007" y="64"/>
                  </a:lnTo>
                  <a:close/>
                  <a:moveTo>
                    <a:pt x="938" y="31"/>
                  </a:moveTo>
                  <a:cubicBezTo>
                    <a:pt x="938" y="20"/>
                    <a:pt x="934" y="12"/>
                    <a:pt x="927" y="7"/>
                  </a:cubicBezTo>
                  <a:cubicBezTo>
                    <a:pt x="922" y="2"/>
                    <a:pt x="915" y="0"/>
                    <a:pt x="906" y="0"/>
                  </a:cubicBezTo>
                  <a:cubicBezTo>
                    <a:pt x="900" y="0"/>
                    <a:pt x="895" y="0"/>
                    <a:pt x="891" y="2"/>
                  </a:cubicBezTo>
                  <a:cubicBezTo>
                    <a:pt x="891" y="10"/>
                    <a:pt x="891" y="10"/>
                    <a:pt x="891" y="10"/>
                  </a:cubicBezTo>
                  <a:cubicBezTo>
                    <a:pt x="892" y="10"/>
                    <a:pt x="892" y="10"/>
                    <a:pt x="892" y="10"/>
                  </a:cubicBezTo>
                  <a:cubicBezTo>
                    <a:pt x="895" y="8"/>
                    <a:pt x="899" y="8"/>
                    <a:pt x="904" y="8"/>
                  </a:cubicBezTo>
                  <a:cubicBezTo>
                    <a:pt x="921" y="8"/>
                    <a:pt x="929" y="16"/>
                    <a:pt x="929" y="33"/>
                  </a:cubicBezTo>
                  <a:cubicBezTo>
                    <a:pt x="929" y="72"/>
                    <a:pt x="929" y="72"/>
                    <a:pt x="929" y="72"/>
                  </a:cubicBezTo>
                  <a:cubicBezTo>
                    <a:pt x="938" y="72"/>
                    <a:pt x="938" y="72"/>
                    <a:pt x="938" y="72"/>
                  </a:cubicBezTo>
                  <a:lnTo>
                    <a:pt x="938" y="31"/>
                  </a:lnTo>
                  <a:close/>
                  <a:moveTo>
                    <a:pt x="867" y="58"/>
                  </a:moveTo>
                  <a:cubicBezTo>
                    <a:pt x="863" y="64"/>
                    <a:pt x="857" y="66"/>
                    <a:pt x="850" y="66"/>
                  </a:cubicBezTo>
                  <a:cubicBezTo>
                    <a:pt x="836" y="66"/>
                    <a:pt x="829" y="57"/>
                    <a:pt x="829" y="40"/>
                  </a:cubicBezTo>
                  <a:cubicBezTo>
                    <a:pt x="829" y="31"/>
                    <a:pt x="830" y="24"/>
                    <a:pt x="831" y="19"/>
                  </a:cubicBezTo>
                  <a:cubicBezTo>
                    <a:pt x="832" y="16"/>
                    <a:pt x="833" y="13"/>
                    <a:pt x="835" y="11"/>
                  </a:cubicBezTo>
                  <a:cubicBezTo>
                    <a:pt x="837" y="9"/>
                    <a:pt x="838" y="8"/>
                    <a:pt x="840" y="8"/>
                  </a:cubicBezTo>
                  <a:cubicBezTo>
                    <a:pt x="850" y="8"/>
                    <a:pt x="850" y="8"/>
                    <a:pt x="850" y="8"/>
                  </a:cubicBezTo>
                  <a:cubicBezTo>
                    <a:pt x="857" y="8"/>
                    <a:pt x="863" y="10"/>
                    <a:pt x="866" y="14"/>
                  </a:cubicBezTo>
                  <a:cubicBezTo>
                    <a:pt x="871" y="19"/>
                    <a:pt x="873" y="26"/>
                    <a:pt x="873" y="37"/>
                  </a:cubicBezTo>
                  <a:cubicBezTo>
                    <a:pt x="873" y="46"/>
                    <a:pt x="871" y="53"/>
                    <a:pt x="867" y="58"/>
                  </a:cubicBezTo>
                  <a:moveTo>
                    <a:pt x="873" y="8"/>
                  </a:moveTo>
                  <a:cubicBezTo>
                    <a:pt x="868" y="3"/>
                    <a:pt x="861" y="0"/>
                    <a:pt x="852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8"/>
                    <a:pt x="818" y="8"/>
                    <a:pt x="818" y="8"/>
                  </a:cubicBezTo>
                  <a:cubicBezTo>
                    <a:pt x="830" y="8"/>
                    <a:pt x="830" y="8"/>
                    <a:pt x="830" y="8"/>
                  </a:cubicBezTo>
                  <a:cubicBezTo>
                    <a:pt x="825" y="13"/>
                    <a:pt x="822" y="20"/>
                    <a:pt x="820" y="29"/>
                  </a:cubicBezTo>
                  <a:cubicBezTo>
                    <a:pt x="820" y="31"/>
                    <a:pt x="820" y="35"/>
                    <a:pt x="820" y="40"/>
                  </a:cubicBezTo>
                  <a:cubicBezTo>
                    <a:pt x="820" y="63"/>
                    <a:pt x="830" y="74"/>
                    <a:pt x="850" y="74"/>
                  </a:cubicBezTo>
                  <a:cubicBezTo>
                    <a:pt x="859" y="74"/>
                    <a:pt x="866" y="70"/>
                    <a:pt x="872" y="64"/>
                  </a:cubicBezTo>
                  <a:cubicBezTo>
                    <a:pt x="879" y="57"/>
                    <a:pt x="882" y="48"/>
                    <a:pt x="882" y="36"/>
                  </a:cubicBezTo>
                  <a:cubicBezTo>
                    <a:pt x="882" y="23"/>
                    <a:pt x="879" y="14"/>
                    <a:pt x="873" y="8"/>
                  </a:cubicBezTo>
                  <a:moveTo>
                    <a:pt x="803" y="15"/>
                  </a:moveTo>
                  <a:cubicBezTo>
                    <a:pt x="803" y="10"/>
                    <a:pt x="801" y="6"/>
                    <a:pt x="799" y="3"/>
                  </a:cubicBezTo>
                  <a:cubicBezTo>
                    <a:pt x="796" y="1"/>
                    <a:pt x="794" y="0"/>
                    <a:pt x="790" y="0"/>
                  </a:cubicBezTo>
                  <a:cubicBezTo>
                    <a:pt x="790" y="0"/>
                    <a:pt x="790" y="0"/>
                    <a:pt x="790" y="0"/>
                  </a:cubicBezTo>
                  <a:cubicBezTo>
                    <a:pt x="787" y="0"/>
                    <a:pt x="786" y="0"/>
                    <a:pt x="785" y="1"/>
                  </a:cubicBezTo>
                  <a:cubicBezTo>
                    <a:pt x="785" y="8"/>
                    <a:pt x="785" y="8"/>
                    <a:pt x="785" y="8"/>
                  </a:cubicBezTo>
                  <a:cubicBezTo>
                    <a:pt x="785" y="8"/>
                    <a:pt x="785" y="8"/>
                    <a:pt x="786" y="7"/>
                  </a:cubicBezTo>
                  <a:cubicBezTo>
                    <a:pt x="787" y="7"/>
                    <a:pt x="787" y="7"/>
                    <a:pt x="787" y="7"/>
                  </a:cubicBezTo>
                  <a:cubicBezTo>
                    <a:pt x="791" y="7"/>
                    <a:pt x="794" y="10"/>
                    <a:pt x="794" y="16"/>
                  </a:cubicBezTo>
                  <a:cubicBezTo>
                    <a:pt x="794" y="40"/>
                    <a:pt x="794" y="40"/>
                    <a:pt x="794" y="40"/>
                  </a:cubicBezTo>
                  <a:cubicBezTo>
                    <a:pt x="803" y="40"/>
                    <a:pt x="803" y="40"/>
                    <a:pt x="803" y="40"/>
                  </a:cubicBezTo>
                  <a:lnTo>
                    <a:pt x="803" y="15"/>
                  </a:lnTo>
                  <a:close/>
                  <a:moveTo>
                    <a:pt x="771" y="9"/>
                  </a:moveTo>
                  <a:cubicBezTo>
                    <a:pt x="767" y="3"/>
                    <a:pt x="762" y="0"/>
                    <a:pt x="756" y="0"/>
                  </a:cubicBezTo>
                  <a:cubicBezTo>
                    <a:pt x="749" y="0"/>
                    <a:pt x="745" y="3"/>
                    <a:pt x="742" y="9"/>
                  </a:cubicBezTo>
                  <a:cubicBezTo>
                    <a:pt x="742" y="18"/>
                    <a:pt x="742" y="18"/>
                    <a:pt x="742" y="18"/>
                  </a:cubicBezTo>
                  <a:cubicBezTo>
                    <a:pt x="743" y="18"/>
                    <a:pt x="743" y="18"/>
                    <a:pt x="743" y="18"/>
                  </a:cubicBezTo>
                  <a:cubicBezTo>
                    <a:pt x="747" y="11"/>
                    <a:pt x="751" y="8"/>
                    <a:pt x="755" y="8"/>
                  </a:cubicBezTo>
                  <a:cubicBezTo>
                    <a:pt x="763" y="8"/>
                    <a:pt x="767" y="17"/>
                    <a:pt x="767" y="35"/>
                  </a:cubicBezTo>
                  <a:cubicBezTo>
                    <a:pt x="767" y="45"/>
                    <a:pt x="765" y="53"/>
                    <a:pt x="761" y="59"/>
                  </a:cubicBezTo>
                  <a:cubicBezTo>
                    <a:pt x="757" y="63"/>
                    <a:pt x="752" y="66"/>
                    <a:pt x="746" y="66"/>
                  </a:cubicBezTo>
                  <a:cubicBezTo>
                    <a:pt x="733" y="66"/>
                    <a:pt x="727" y="57"/>
                    <a:pt x="727" y="39"/>
                  </a:cubicBezTo>
                  <a:cubicBezTo>
                    <a:pt x="727" y="0"/>
                    <a:pt x="727" y="0"/>
                    <a:pt x="727" y="0"/>
                  </a:cubicBezTo>
                  <a:cubicBezTo>
                    <a:pt x="718" y="0"/>
                    <a:pt x="718" y="0"/>
                    <a:pt x="718" y="0"/>
                  </a:cubicBezTo>
                  <a:cubicBezTo>
                    <a:pt x="718" y="38"/>
                    <a:pt x="718" y="38"/>
                    <a:pt x="718" y="38"/>
                  </a:cubicBezTo>
                  <a:cubicBezTo>
                    <a:pt x="718" y="62"/>
                    <a:pt x="727" y="73"/>
                    <a:pt x="746" y="73"/>
                  </a:cubicBezTo>
                  <a:cubicBezTo>
                    <a:pt x="755" y="73"/>
                    <a:pt x="762" y="70"/>
                    <a:pt x="768" y="63"/>
                  </a:cubicBezTo>
                  <a:cubicBezTo>
                    <a:pt x="774" y="56"/>
                    <a:pt x="777" y="46"/>
                    <a:pt x="777" y="34"/>
                  </a:cubicBezTo>
                  <a:cubicBezTo>
                    <a:pt x="777" y="23"/>
                    <a:pt x="775" y="14"/>
                    <a:pt x="771" y="9"/>
                  </a:cubicBezTo>
                  <a:moveTo>
                    <a:pt x="702" y="31"/>
                  </a:moveTo>
                  <a:cubicBezTo>
                    <a:pt x="702" y="19"/>
                    <a:pt x="698" y="11"/>
                    <a:pt x="691" y="6"/>
                  </a:cubicBezTo>
                  <a:cubicBezTo>
                    <a:pt x="686" y="2"/>
                    <a:pt x="677" y="0"/>
                    <a:pt x="666" y="0"/>
                  </a:cubicBezTo>
                  <a:cubicBezTo>
                    <a:pt x="656" y="0"/>
                    <a:pt x="647" y="1"/>
                    <a:pt x="639" y="2"/>
                  </a:cubicBezTo>
                  <a:cubicBezTo>
                    <a:pt x="639" y="10"/>
                    <a:pt x="639" y="10"/>
                    <a:pt x="639" y="10"/>
                  </a:cubicBezTo>
                  <a:cubicBezTo>
                    <a:pt x="644" y="9"/>
                    <a:pt x="648" y="8"/>
                    <a:pt x="652" y="8"/>
                  </a:cubicBezTo>
                  <a:cubicBezTo>
                    <a:pt x="650" y="12"/>
                    <a:pt x="649" y="17"/>
                    <a:pt x="649" y="21"/>
                  </a:cubicBezTo>
                  <a:cubicBezTo>
                    <a:pt x="649" y="51"/>
                    <a:pt x="649" y="51"/>
                    <a:pt x="649" y="51"/>
                  </a:cubicBezTo>
                  <a:cubicBezTo>
                    <a:pt x="649" y="61"/>
                    <a:pt x="645" y="66"/>
                    <a:pt x="638" y="66"/>
                  </a:cubicBezTo>
                  <a:cubicBezTo>
                    <a:pt x="637" y="66"/>
                    <a:pt x="636" y="65"/>
                    <a:pt x="635" y="64"/>
                  </a:cubicBezTo>
                  <a:cubicBezTo>
                    <a:pt x="634" y="65"/>
                    <a:pt x="634" y="65"/>
                    <a:pt x="634" y="65"/>
                  </a:cubicBezTo>
                  <a:cubicBezTo>
                    <a:pt x="634" y="70"/>
                    <a:pt x="634" y="70"/>
                    <a:pt x="634" y="70"/>
                  </a:cubicBezTo>
                  <a:cubicBezTo>
                    <a:pt x="635" y="72"/>
                    <a:pt x="637" y="73"/>
                    <a:pt x="640" y="73"/>
                  </a:cubicBezTo>
                  <a:cubicBezTo>
                    <a:pt x="645" y="73"/>
                    <a:pt x="649" y="71"/>
                    <a:pt x="652" y="67"/>
                  </a:cubicBezTo>
                  <a:cubicBezTo>
                    <a:pt x="656" y="63"/>
                    <a:pt x="658" y="58"/>
                    <a:pt x="658" y="50"/>
                  </a:cubicBezTo>
                  <a:cubicBezTo>
                    <a:pt x="658" y="10"/>
                    <a:pt x="658" y="10"/>
                    <a:pt x="658" y="10"/>
                  </a:cubicBezTo>
                  <a:cubicBezTo>
                    <a:pt x="658" y="9"/>
                    <a:pt x="658" y="8"/>
                    <a:pt x="659" y="8"/>
                  </a:cubicBezTo>
                  <a:cubicBezTo>
                    <a:pt x="662" y="7"/>
                    <a:pt x="664" y="7"/>
                    <a:pt x="665" y="7"/>
                  </a:cubicBezTo>
                  <a:cubicBezTo>
                    <a:pt x="674" y="7"/>
                    <a:pt x="681" y="9"/>
                    <a:pt x="685" y="12"/>
                  </a:cubicBezTo>
                  <a:cubicBezTo>
                    <a:pt x="690" y="15"/>
                    <a:pt x="693" y="22"/>
                    <a:pt x="693" y="31"/>
                  </a:cubicBezTo>
                  <a:cubicBezTo>
                    <a:pt x="693" y="72"/>
                    <a:pt x="693" y="72"/>
                    <a:pt x="693" y="72"/>
                  </a:cubicBezTo>
                  <a:cubicBezTo>
                    <a:pt x="702" y="72"/>
                    <a:pt x="702" y="72"/>
                    <a:pt x="702" y="72"/>
                  </a:cubicBezTo>
                  <a:lnTo>
                    <a:pt x="702" y="31"/>
                  </a:lnTo>
                  <a:close/>
                  <a:moveTo>
                    <a:pt x="599" y="64"/>
                  </a:moveTo>
                  <a:cubicBezTo>
                    <a:pt x="594" y="64"/>
                    <a:pt x="594" y="64"/>
                    <a:pt x="594" y="64"/>
                  </a:cubicBezTo>
                  <a:cubicBezTo>
                    <a:pt x="592" y="64"/>
                    <a:pt x="591" y="62"/>
                    <a:pt x="591" y="58"/>
                  </a:cubicBezTo>
                  <a:cubicBezTo>
                    <a:pt x="591" y="31"/>
                    <a:pt x="591" y="31"/>
                    <a:pt x="591" y="31"/>
                  </a:cubicBezTo>
                  <a:cubicBezTo>
                    <a:pt x="591" y="21"/>
                    <a:pt x="587" y="13"/>
                    <a:pt x="581" y="7"/>
                  </a:cubicBezTo>
                  <a:cubicBezTo>
                    <a:pt x="576" y="2"/>
                    <a:pt x="569" y="0"/>
                    <a:pt x="560" y="0"/>
                  </a:cubicBezTo>
                  <a:cubicBezTo>
                    <a:pt x="555" y="0"/>
                    <a:pt x="550" y="1"/>
                    <a:pt x="545" y="2"/>
                  </a:cubicBezTo>
                  <a:cubicBezTo>
                    <a:pt x="545" y="10"/>
                    <a:pt x="545" y="10"/>
                    <a:pt x="545" y="10"/>
                  </a:cubicBezTo>
                  <a:cubicBezTo>
                    <a:pt x="546" y="10"/>
                    <a:pt x="546" y="10"/>
                    <a:pt x="546" y="10"/>
                  </a:cubicBezTo>
                  <a:cubicBezTo>
                    <a:pt x="550" y="9"/>
                    <a:pt x="554" y="8"/>
                    <a:pt x="559" y="8"/>
                  </a:cubicBezTo>
                  <a:cubicBezTo>
                    <a:pt x="574" y="8"/>
                    <a:pt x="582" y="16"/>
                    <a:pt x="582" y="33"/>
                  </a:cubicBezTo>
                  <a:cubicBezTo>
                    <a:pt x="582" y="58"/>
                    <a:pt x="582" y="58"/>
                    <a:pt x="582" y="58"/>
                  </a:cubicBezTo>
                  <a:cubicBezTo>
                    <a:pt x="582" y="61"/>
                    <a:pt x="582" y="63"/>
                    <a:pt x="583" y="64"/>
                  </a:cubicBezTo>
                  <a:cubicBezTo>
                    <a:pt x="543" y="64"/>
                    <a:pt x="543" y="64"/>
                    <a:pt x="543" y="64"/>
                  </a:cubicBezTo>
                  <a:cubicBezTo>
                    <a:pt x="543" y="72"/>
                    <a:pt x="543" y="72"/>
                    <a:pt x="543" y="72"/>
                  </a:cubicBezTo>
                  <a:cubicBezTo>
                    <a:pt x="599" y="72"/>
                    <a:pt x="599" y="72"/>
                    <a:pt x="599" y="72"/>
                  </a:cubicBezTo>
                  <a:lnTo>
                    <a:pt x="599" y="64"/>
                  </a:lnTo>
                  <a:close/>
                  <a:moveTo>
                    <a:pt x="529" y="15"/>
                  </a:moveTo>
                  <a:cubicBezTo>
                    <a:pt x="529" y="10"/>
                    <a:pt x="528" y="6"/>
                    <a:pt x="525" y="3"/>
                  </a:cubicBezTo>
                  <a:cubicBezTo>
                    <a:pt x="523" y="1"/>
                    <a:pt x="520" y="0"/>
                    <a:pt x="517" y="0"/>
                  </a:cubicBezTo>
                  <a:cubicBezTo>
                    <a:pt x="516" y="0"/>
                    <a:pt x="516" y="0"/>
                    <a:pt x="516" y="0"/>
                  </a:cubicBezTo>
                  <a:cubicBezTo>
                    <a:pt x="514" y="0"/>
                    <a:pt x="512" y="0"/>
                    <a:pt x="511" y="1"/>
                  </a:cubicBezTo>
                  <a:cubicBezTo>
                    <a:pt x="511" y="8"/>
                    <a:pt x="511" y="8"/>
                    <a:pt x="511" y="8"/>
                  </a:cubicBezTo>
                  <a:cubicBezTo>
                    <a:pt x="512" y="8"/>
                    <a:pt x="512" y="8"/>
                    <a:pt x="512" y="7"/>
                  </a:cubicBezTo>
                  <a:cubicBezTo>
                    <a:pt x="513" y="7"/>
                    <a:pt x="513" y="7"/>
                    <a:pt x="513" y="7"/>
                  </a:cubicBezTo>
                  <a:cubicBezTo>
                    <a:pt x="518" y="7"/>
                    <a:pt x="520" y="10"/>
                    <a:pt x="520" y="16"/>
                  </a:cubicBezTo>
                  <a:cubicBezTo>
                    <a:pt x="520" y="97"/>
                    <a:pt x="520" y="97"/>
                    <a:pt x="520" y="97"/>
                  </a:cubicBezTo>
                  <a:cubicBezTo>
                    <a:pt x="529" y="97"/>
                    <a:pt x="529" y="97"/>
                    <a:pt x="529" y="97"/>
                  </a:cubicBezTo>
                  <a:lnTo>
                    <a:pt x="529" y="15"/>
                  </a:lnTo>
                  <a:close/>
                  <a:moveTo>
                    <a:pt x="503" y="33"/>
                  </a:moveTo>
                  <a:cubicBezTo>
                    <a:pt x="470" y="33"/>
                    <a:pt x="470" y="33"/>
                    <a:pt x="470" y="33"/>
                  </a:cubicBezTo>
                  <a:cubicBezTo>
                    <a:pt x="470" y="40"/>
                    <a:pt x="470" y="40"/>
                    <a:pt x="470" y="40"/>
                  </a:cubicBezTo>
                  <a:cubicBezTo>
                    <a:pt x="503" y="40"/>
                    <a:pt x="503" y="40"/>
                    <a:pt x="503" y="40"/>
                  </a:cubicBezTo>
                  <a:lnTo>
                    <a:pt x="503" y="33"/>
                  </a:lnTo>
                  <a:close/>
                  <a:moveTo>
                    <a:pt x="456" y="46"/>
                  </a:moveTo>
                  <a:cubicBezTo>
                    <a:pt x="456" y="26"/>
                    <a:pt x="456" y="26"/>
                    <a:pt x="456" y="26"/>
                  </a:cubicBezTo>
                  <a:cubicBezTo>
                    <a:pt x="456" y="18"/>
                    <a:pt x="454" y="11"/>
                    <a:pt x="450" y="6"/>
                  </a:cubicBezTo>
                  <a:cubicBezTo>
                    <a:pt x="446" y="2"/>
                    <a:pt x="440" y="0"/>
                    <a:pt x="434" y="0"/>
                  </a:cubicBezTo>
                  <a:cubicBezTo>
                    <a:pt x="431" y="0"/>
                    <a:pt x="429" y="0"/>
                    <a:pt x="427" y="1"/>
                  </a:cubicBezTo>
                  <a:cubicBezTo>
                    <a:pt x="427" y="8"/>
                    <a:pt x="427" y="8"/>
                    <a:pt x="427" y="8"/>
                  </a:cubicBezTo>
                  <a:cubicBezTo>
                    <a:pt x="428" y="8"/>
                    <a:pt x="428" y="8"/>
                    <a:pt x="428" y="8"/>
                  </a:cubicBezTo>
                  <a:cubicBezTo>
                    <a:pt x="429" y="8"/>
                    <a:pt x="430" y="8"/>
                    <a:pt x="432" y="8"/>
                  </a:cubicBezTo>
                  <a:cubicBezTo>
                    <a:pt x="437" y="8"/>
                    <a:pt x="441" y="9"/>
                    <a:pt x="444" y="13"/>
                  </a:cubicBezTo>
                  <a:cubicBezTo>
                    <a:pt x="446" y="16"/>
                    <a:pt x="448" y="21"/>
                    <a:pt x="448" y="28"/>
                  </a:cubicBezTo>
                  <a:cubicBezTo>
                    <a:pt x="448" y="29"/>
                    <a:pt x="448" y="29"/>
                    <a:pt x="448" y="29"/>
                  </a:cubicBezTo>
                  <a:cubicBezTo>
                    <a:pt x="448" y="36"/>
                    <a:pt x="446" y="43"/>
                    <a:pt x="444" y="49"/>
                  </a:cubicBezTo>
                  <a:cubicBezTo>
                    <a:pt x="442" y="54"/>
                    <a:pt x="439" y="58"/>
                    <a:pt x="436" y="61"/>
                  </a:cubicBezTo>
                  <a:cubicBezTo>
                    <a:pt x="433" y="63"/>
                    <a:pt x="430" y="65"/>
                    <a:pt x="428" y="65"/>
                  </a:cubicBezTo>
                  <a:cubicBezTo>
                    <a:pt x="426" y="65"/>
                    <a:pt x="424" y="64"/>
                    <a:pt x="422" y="63"/>
                  </a:cubicBezTo>
                  <a:cubicBezTo>
                    <a:pt x="421" y="63"/>
                    <a:pt x="421" y="63"/>
                    <a:pt x="421" y="63"/>
                  </a:cubicBezTo>
                  <a:cubicBezTo>
                    <a:pt x="421" y="71"/>
                    <a:pt x="421" y="71"/>
                    <a:pt x="421" y="71"/>
                  </a:cubicBezTo>
                  <a:cubicBezTo>
                    <a:pt x="423" y="73"/>
                    <a:pt x="425" y="73"/>
                    <a:pt x="427" y="73"/>
                  </a:cubicBezTo>
                  <a:cubicBezTo>
                    <a:pt x="436" y="73"/>
                    <a:pt x="442" y="67"/>
                    <a:pt x="447" y="53"/>
                  </a:cubicBezTo>
                  <a:cubicBezTo>
                    <a:pt x="447" y="53"/>
                    <a:pt x="447" y="52"/>
                    <a:pt x="448" y="52"/>
                  </a:cubicBezTo>
                  <a:cubicBezTo>
                    <a:pt x="448" y="52"/>
                    <a:pt x="448" y="53"/>
                    <a:pt x="449" y="53"/>
                  </a:cubicBezTo>
                  <a:cubicBezTo>
                    <a:pt x="449" y="61"/>
                    <a:pt x="450" y="68"/>
                    <a:pt x="451" y="72"/>
                  </a:cubicBezTo>
                  <a:cubicBezTo>
                    <a:pt x="459" y="72"/>
                    <a:pt x="459" y="72"/>
                    <a:pt x="459" y="72"/>
                  </a:cubicBezTo>
                  <a:cubicBezTo>
                    <a:pt x="459" y="71"/>
                    <a:pt x="459" y="71"/>
                    <a:pt x="459" y="71"/>
                  </a:cubicBezTo>
                  <a:cubicBezTo>
                    <a:pt x="457" y="63"/>
                    <a:pt x="456" y="55"/>
                    <a:pt x="456" y="46"/>
                  </a:cubicBezTo>
                  <a:moveTo>
                    <a:pt x="410" y="15"/>
                  </a:moveTo>
                  <a:cubicBezTo>
                    <a:pt x="410" y="10"/>
                    <a:pt x="408" y="6"/>
                    <a:pt x="406" y="3"/>
                  </a:cubicBezTo>
                  <a:cubicBezTo>
                    <a:pt x="403" y="1"/>
                    <a:pt x="400" y="0"/>
                    <a:pt x="397" y="0"/>
                  </a:cubicBezTo>
                  <a:cubicBezTo>
                    <a:pt x="397" y="0"/>
                    <a:pt x="397" y="0"/>
                    <a:pt x="397" y="0"/>
                  </a:cubicBezTo>
                  <a:cubicBezTo>
                    <a:pt x="394" y="0"/>
                    <a:pt x="393" y="0"/>
                    <a:pt x="392" y="1"/>
                  </a:cubicBezTo>
                  <a:cubicBezTo>
                    <a:pt x="392" y="8"/>
                    <a:pt x="392" y="8"/>
                    <a:pt x="392" y="8"/>
                  </a:cubicBezTo>
                  <a:cubicBezTo>
                    <a:pt x="392" y="8"/>
                    <a:pt x="392" y="8"/>
                    <a:pt x="393" y="7"/>
                  </a:cubicBezTo>
                  <a:cubicBezTo>
                    <a:pt x="394" y="7"/>
                    <a:pt x="394" y="7"/>
                    <a:pt x="394" y="7"/>
                  </a:cubicBezTo>
                  <a:cubicBezTo>
                    <a:pt x="398" y="7"/>
                    <a:pt x="401" y="10"/>
                    <a:pt x="401" y="16"/>
                  </a:cubicBezTo>
                  <a:cubicBezTo>
                    <a:pt x="401" y="72"/>
                    <a:pt x="401" y="72"/>
                    <a:pt x="401" y="72"/>
                  </a:cubicBezTo>
                  <a:cubicBezTo>
                    <a:pt x="410" y="72"/>
                    <a:pt x="410" y="72"/>
                    <a:pt x="410" y="72"/>
                  </a:cubicBezTo>
                  <a:lnTo>
                    <a:pt x="410" y="15"/>
                  </a:lnTo>
                  <a:close/>
                  <a:moveTo>
                    <a:pt x="380" y="31"/>
                  </a:moveTo>
                  <a:cubicBezTo>
                    <a:pt x="380" y="20"/>
                    <a:pt x="377" y="12"/>
                    <a:pt x="370" y="7"/>
                  </a:cubicBezTo>
                  <a:cubicBezTo>
                    <a:pt x="364" y="2"/>
                    <a:pt x="357" y="0"/>
                    <a:pt x="348" y="0"/>
                  </a:cubicBezTo>
                  <a:cubicBezTo>
                    <a:pt x="342" y="0"/>
                    <a:pt x="337" y="0"/>
                    <a:pt x="333" y="2"/>
                  </a:cubicBezTo>
                  <a:cubicBezTo>
                    <a:pt x="333" y="10"/>
                    <a:pt x="333" y="10"/>
                    <a:pt x="333" y="10"/>
                  </a:cubicBezTo>
                  <a:cubicBezTo>
                    <a:pt x="334" y="10"/>
                    <a:pt x="334" y="10"/>
                    <a:pt x="334" y="10"/>
                  </a:cubicBezTo>
                  <a:cubicBezTo>
                    <a:pt x="337" y="8"/>
                    <a:pt x="342" y="8"/>
                    <a:pt x="347" y="8"/>
                  </a:cubicBezTo>
                  <a:cubicBezTo>
                    <a:pt x="363" y="8"/>
                    <a:pt x="371" y="16"/>
                    <a:pt x="371" y="33"/>
                  </a:cubicBezTo>
                  <a:cubicBezTo>
                    <a:pt x="371" y="72"/>
                    <a:pt x="371" y="72"/>
                    <a:pt x="371" y="72"/>
                  </a:cubicBezTo>
                  <a:cubicBezTo>
                    <a:pt x="380" y="72"/>
                    <a:pt x="380" y="72"/>
                    <a:pt x="380" y="72"/>
                  </a:cubicBezTo>
                  <a:lnTo>
                    <a:pt x="380" y="31"/>
                  </a:lnTo>
                  <a:close/>
                  <a:moveTo>
                    <a:pt x="322" y="15"/>
                  </a:moveTo>
                  <a:cubicBezTo>
                    <a:pt x="322" y="10"/>
                    <a:pt x="321" y="6"/>
                    <a:pt x="318" y="3"/>
                  </a:cubicBezTo>
                  <a:cubicBezTo>
                    <a:pt x="316" y="1"/>
                    <a:pt x="313" y="0"/>
                    <a:pt x="310" y="0"/>
                  </a:cubicBezTo>
                  <a:cubicBezTo>
                    <a:pt x="309" y="0"/>
                    <a:pt x="309" y="0"/>
                    <a:pt x="309" y="0"/>
                  </a:cubicBezTo>
                  <a:cubicBezTo>
                    <a:pt x="307" y="0"/>
                    <a:pt x="305" y="0"/>
                    <a:pt x="304" y="1"/>
                  </a:cubicBezTo>
                  <a:cubicBezTo>
                    <a:pt x="304" y="8"/>
                    <a:pt x="304" y="8"/>
                    <a:pt x="304" y="8"/>
                  </a:cubicBezTo>
                  <a:cubicBezTo>
                    <a:pt x="305" y="8"/>
                    <a:pt x="305" y="8"/>
                    <a:pt x="305" y="7"/>
                  </a:cubicBezTo>
                  <a:cubicBezTo>
                    <a:pt x="306" y="7"/>
                    <a:pt x="306" y="7"/>
                    <a:pt x="306" y="7"/>
                  </a:cubicBezTo>
                  <a:cubicBezTo>
                    <a:pt x="311" y="7"/>
                    <a:pt x="313" y="10"/>
                    <a:pt x="313" y="16"/>
                  </a:cubicBezTo>
                  <a:cubicBezTo>
                    <a:pt x="313" y="40"/>
                    <a:pt x="313" y="40"/>
                    <a:pt x="313" y="40"/>
                  </a:cubicBezTo>
                  <a:cubicBezTo>
                    <a:pt x="322" y="40"/>
                    <a:pt x="322" y="40"/>
                    <a:pt x="322" y="40"/>
                  </a:cubicBezTo>
                  <a:lnTo>
                    <a:pt x="322" y="15"/>
                  </a:lnTo>
                  <a:close/>
                  <a:moveTo>
                    <a:pt x="293" y="15"/>
                  </a:moveTo>
                  <a:cubicBezTo>
                    <a:pt x="293" y="10"/>
                    <a:pt x="291" y="6"/>
                    <a:pt x="289" y="3"/>
                  </a:cubicBezTo>
                  <a:cubicBezTo>
                    <a:pt x="286" y="1"/>
                    <a:pt x="283" y="0"/>
                    <a:pt x="280" y="0"/>
                  </a:cubicBezTo>
                  <a:cubicBezTo>
                    <a:pt x="280" y="0"/>
                    <a:pt x="280" y="0"/>
                    <a:pt x="280" y="0"/>
                  </a:cubicBezTo>
                  <a:cubicBezTo>
                    <a:pt x="277" y="0"/>
                    <a:pt x="276" y="0"/>
                    <a:pt x="275" y="1"/>
                  </a:cubicBezTo>
                  <a:cubicBezTo>
                    <a:pt x="275" y="8"/>
                    <a:pt x="275" y="8"/>
                    <a:pt x="275" y="8"/>
                  </a:cubicBezTo>
                  <a:cubicBezTo>
                    <a:pt x="275" y="8"/>
                    <a:pt x="275" y="8"/>
                    <a:pt x="276" y="7"/>
                  </a:cubicBezTo>
                  <a:cubicBezTo>
                    <a:pt x="277" y="7"/>
                    <a:pt x="277" y="7"/>
                    <a:pt x="277" y="7"/>
                  </a:cubicBezTo>
                  <a:cubicBezTo>
                    <a:pt x="281" y="7"/>
                    <a:pt x="284" y="10"/>
                    <a:pt x="284" y="16"/>
                  </a:cubicBezTo>
                  <a:cubicBezTo>
                    <a:pt x="284" y="72"/>
                    <a:pt x="284" y="72"/>
                    <a:pt x="284" y="72"/>
                  </a:cubicBezTo>
                  <a:cubicBezTo>
                    <a:pt x="293" y="72"/>
                    <a:pt x="293" y="72"/>
                    <a:pt x="293" y="72"/>
                  </a:cubicBezTo>
                  <a:lnTo>
                    <a:pt x="293" y="15"/>
                  </a:lnTo>
                  <a:close/>
                  <a:moveTo>
                    <a:pt x="263" y="15"/>
                  </a:moveTo>
                  <a:cubicBezTo>
                    <a:pt x="263" y="10"/>
                    <a:pt x="261" y="6"/>
                    <a:pt x="258" y="3"/>
                  </a:cubicBezTo>
                  <a:cubicBezTo>
                    <a:pt x="256" y="1"/>
                    <a:pt x="253" y="0"/>
                    <a:pt x="250" y="0"/>
                  </a:cubicBezTo>
                  <a:cubicBezTo>
                    <a:pt x="250" y="0"/>
                    <a:pt x="250" y="0"/>
                    <a:pt x="250" y="0"/>
                  </a:cubicBezTo>
                  <a:cubicBezTo>
                    <a:pt x="247" y="0"/>
                    <a:pt x="246" y="0"/>
                    <a:pt x="245" y="1"/>
                  </a:cubicBezTo>
                  <a:cubicBezTo>
                    <a:pt x="245" y="8"/>
                    <a:pt x="245" y="8"/>
                    <a:pt x="245" y="8"/>
                  </a:cubicBezTo>
                  <a:cubicBezTo>
                    <a:pt x="245" y="8"/>
                    <a:pt x="245" y="8"/>
                    <a:pt x="246" y="7"/>
                  </a:cubicBezTo>
                  <a:cubicBezTo>
                    <a:pt x="246" y="7"/>
                    <a:pt x="246" y="7"/>
                    <a:pt x="246" y="7"/>
                  </a:cubicBezTo>
                  <a:cubicBezTo>
                    <a:pt x="251" y="7"/>
                    <a:pt x="254" y="10"/>
                    <a:pt x="254" y="16"/>
                  </a:cubicBezTo>
                  <a:cubicBezTo>
                    <a:pt x="254" y="97"/>
                    <a:pt x="254" y="97"/>
                    <a:pt x="254" y="97"/>
                  </a:cubicBezTo>
                  <a:cubicBezTo>
                    <a:pt x="263" y="97"/>
                    <a:pt x="263" y="97"/>
                    <a:pt x="263" y="97"/>
                  </a:cubicBezTo>
                  <a:lnTo>
                    <a:pt x="263" y="15"/>
                  </a:lnTo>
                  <a:close/>
                  <a:moveTo>
                    <a:pt x="210" y="64"/>
                  </a:moveTo>
                  <a:cubicBezTo>
                    <a:pt x="205" y="64"/>
                    <a:pt x="205" y="64"/>
                    <a:pt x="205" y="64"/>
                  </a:cubicBezTo>
                  <a:cubicBezTo>
                    <a:pt x="202" y="64"/>
                    <a:pt x="201" y="62"/>
                    <a:pt x="201" y="58"/>
                  </a:cubicBezTo>
                  <a:cubicBezTo>
                    <a:pt x="201" y="31"/>
                    <a:pt x="201" y="31"/>
                    <a:pt x="201" y="31"/>
                  </a:cubicBezTo>
                  <a:cubicBezTo>
                    <a:pt x="201" y="21"/>
                    <a:pt x="198" y="13"/>
                    <a:pt x="191" y="7"/>
                  </a:cubicBezTo>
                  <a:cubicBezTo>
                    <a:pt x="186" y="2"/>
                    <a:pt x="179" y="0"/>
                    <a:pt x="171" y="0"/>
                  </a:cubicBezTo>
                  <a:cubicBezTo>
                    <a:pt x="165" y="0"/>
                    <a:pt x="160" y="1"/>
                    <a:pt x="156" y="2"/>
                  </a:cubicBezTo>
                  <a:cubicBezTo>
                    <a:pt x="156" y="10"/>
                    <a:pt x="156" y="10"/>
                    <a:pt x="156" y="10"/>
                  </a:cubicBezTo>
                  <a:cubicBezTo>
                    <a:pt x="156" y="10"/>
                    <a:pt x="156" y="10"/>
                    <a:pt x="156" y="10"/>
                  </a:cubicBezTo>
                  <a:cubicBezTo>
                    <a:pt x="160" y="9"/>
                    <a:pt x="164" y="8"/>
                    <a:pt x="169" y="8"/>
                  </a:cubicBezTo>
                  <a:cubicBezTo>
                    <a:pt x="184" y="8"/>
                    <a:pt x="192" y="16"/>
                    <a:pt x="192" y="33"/>
                  </a:cubicBezTo>
                  <a:cubicBezTo>
                    <a:pt x="192" y="58"/>
                    <a:pt x="192" y="58"/>
                    <a:pt x="192" y="58"/>
                  </a:cubicBezTo>
                  <a:cubicBezTo>
                    <a:pt x="192" y="61"/>
                    <a:pt x="192" y="63"/>
                    <a:pt x="193" y="64"/>
                  </a:cubicBezTo>
                  <a:cubicBezTo>
                    <a:pt x="153" y="64"/>
                    <a:pt x="153" y="64"/>
                    <a:pt x="153" y="64"/>
                  </a:cubicBezTo>
                  <a:cubicBezTo>
                    <a:pt x="153" y="72"/>
                    <a:pt x="153" y="72"/>
                    <a:pt x="153" y="72"/>
                  </a:cubicBezTo>
                  <a:cubicBezTo>
                    <a:pt x="210" y="72"/>
                    <a:pt x="210" y="72"/>
                    <a:pt x="210" y="72"/>
                  </a:cubicBezTo>
                  <a:lnTo>
                    <a:pt x="210" y="64"/>
                  </a:lnTo>
                  <a:close/>
                  <a:moveTo>
                    <a:pt x="140" y="23"/>
                  </a:moveTo>
                  <a:cubicBezTo>
                    <a:pt x="140" y="15"/>
                    <a:pt x="138" y="9"/>
                    <a:pt x="134" y="5"/>
                  </a:cubicBezTo>
                  <a:cubicBezTo>
                    <a:pt x="130" y="2"/>
                    <a:pt x="125" y="0"/>
                    <a:pt x="120" y="0"/>
                  </a:cubicBezTo>
                  <a:cubicBezTo>
                    <a:pt x="117" y="0"/>
                    <a:pt x="114" y="1"/>
                    <a:pt x="113" y="1"/>
                  </a:cubicBezTo>
                  <a:cubicBezTo>
                    <a:pt x="113" y="9"/>
                    <a:pt x="113" y="9"/>
                    <a:pt x="113" y="9"/>
                  </a:cubicBezTo>
                  <a:cubicBezTo>
                    <a:pt x="114" y="9"/>
                    <a:pt x="114" y="9"/>
                    <a:pt x="114" y="9"/>
                  </a:cubicBezTo>
                  <a:cubicBezTo>
                    <a:pt x="115" y="8"/>
                    <a:pt x="117" y="8"/>
                    <a:pt x="118" y="8"/>
                  </a:cubicBezTo>
                  <a:cubicBezTo>
                    <a:pt x="127" y="8"/>
                    <a:pt x="131" y="13"/>
                    <a:pt x="131" y="24"/>
                  </a:cubicBezTo>
                  <a:cubicBezTo>
                    <a:pt x="131" y="64"/>
                    <a:pt x="131" y="64"/>
                    <a:pt x="131" y="64"/>
                  </a:cubicBezTo>
                  <a:cubicBezTo>
                    <a:pt x="111" y="64"/>
                    <a:pt x="111" y="64"/>
                    <a:pt x="111" y="64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40" y="72"/>
                    <a:pt x="140" y="72"/>
                    <a:pt x="140" y="72"/>
                  </a:cubicBezTo>
                  <a:lnTo>
                    <a:pt x="140" y="23"/>
                  </a:lnTo>
                  <a:close/>
                  <a:moveTo>
                    <a:pt x="96" y="46"/>
                  </a:moveTo>
                  <a:cubicBezTo>
                    <a:pt x="96" y="26"/>
                    <a:pt x="96" y="26"/>
                    <a:pt x="96" y="26"/>
                  </a:cubicBezTo>
                  <a:cubicBezTo>
                    <a:pt x="96" y="18"/>
                    <a:pt x="94" y="11"/>
                    <a:pt x="90" y="6"/>
                  </a:cubicBezTo>
                  <a:cubicBezTo>
                    <a:pt x="86" y="2"/>
                    <a:pt x="81" y="0"/>
                    <a:pt x="74" y="0"/>
                  </a:cubicBezTo>
                  <a:cubicBezTo>
                    <a:pt x="71" y="0"/>
                    <a:pt x="69" y="0"/>
                    <a:pt x="67" y="1"/>
                  </a:cubicBezTo>
                  <a:cubicBezTo>
                    <a:pt x="67" y="8"/>
                    <a:pt x="67" y="8"/>
                    <a:pt x="67" y="8"/>
                  </a:cubicBezTo>
                  <a:cubicBezTo>
                    <a:pt x="68" y="8"/>
                    <a:pt x="68" y="8"/>
                    <a:pt x="68" y="8"/>
                  </a:cubicBezTo>
                  <a:cubicBezTo>
                    <a:pt x="69" y="8"/>
                    <a:pt x="71" y="8"/>
                    <a:pt x="73" y="8"/>
                  </a:cubicBezTo>
                  <a:cubicBezTo>
                    <a:pt x="77" y="8"/>
                    <a:pt x="81" y="9"/>
                    <a:pt x="84" y="13"/>
                  </a:cubicBezTo>
                  <a:cubicBezTo>
                    <a:pt x="86" y="16"/>
                    <a:pt x="88" y="21"/>
                    <a:pt x="88" y="28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36"/>
                    <a:pt x="87" y="43"/>
                    <a:pt x="84" y="49"/>
                  </a:cubicBezTo>
                  <a:cubicBezTo>
                    <a:pt x="82" y="54"/>
                    <a:pt x="79" y="58"/>
                    <a:pt x="76" y="61"/>
                  </a:cubicBezTo>
                  <a:cubicBezTo>
                    <a:pt x="73" y="63"/>
                    <a:pt x="70" y="65"/>
                    <a:pt x="68" y="65"/>
                  </a:cubicBezTo>
                  <a:cubicBezTo>
                    <a:pt x="66" y="65"/>
                    <a:pt x="64" y="64"/>
                    <a:pt x="62" y="63"/>
                  </a:cubicBezTo>
                  <a:cubicBezTo>
                    <a:pt x="61" y="63"/>
                    <a:pt x="61" y="63"/>
                    <a:pt x="61" y="63"/>
                  </a:cubicBezTo>
                  <a:cubicBezTo>
                    <a:pt x="61" y="71"/>
                    <a:pt x="61" y="71"/>
                    <a:pt x="61" y="71"/>
                  </a:cubicBezTo>
                  <a:cubicBezTo>
                    <a:pt x="63" y="73"/>
                    <a:pt x="65" y="73"/>
                    <a:pt x="67" y="73"/>
                  </a:cubicBezTo>
                  <a:cubicBezTo>
                    <a:pt x="76" y="73"/>
                    <a:pt x="82" y="67"/>
                    <a:pt x="87" y="53"/>
                  </a:cubicBezTo>
                  <a:cubicBezTo>
                    <a:pt x="87" y="53"/>
                    <a:pt x="87" y="52"/>
                    <a:pt x="88" y="52"/>
                  </a:cubicBezTo>
                  <a:cubicBezTo>
                    <a:pt x="88" y="52"/>
                    <a:pt x="89" y="53"/>
                    <a:pt x="89" y="53"/>
                  </a:cubicBezTo>
                  <a:cubicBezTo>
                    <a:pt x="89" y="61"/>
                    <a:pt x="90" y="68"/>
                    <a:pt x="91" y="72"/>
                  </a:cubicBezTo>
                  <a:cubicBezTo>
                    <a:pt x="99" y="72"/>
                    <a:pt x="99" y="72"/>
                    <a:pt x="99" y="72"/>
                  </a:cubicBezTo>
                  <a:cubicBezTo>
                    <a:pt x="99" y="71"/>
                    <a:pt x="99" y="71"/>
                    <a:pt x="99" y="71"/>
                  </a:cubicBezTo>
                  <a:cubicBezTo>
                    <a:pt x="97" y="63"/>
                    <a:pt x="96" y="55"/>
                    <a:pt x="96" y="46"/>
                  </a:cubicBezTo>
                  <a:moveTo>
                    <a:pt x="56" y="64"/>
                  </a:moveTo>
                  <a:cubicBezTo>
                    <a:pt x="51" y="64"/>
                    <a:pt x="51" y="64"/>
                    <a:pt x="51" y="64"/>
                  </a:cubicBezTo>
                  <a:cubicBezTo>
                    <a:pt x="48" y="64"/>
                    <a:pt x="47" y="62"/>
                    <a:pt x="47" y="58"/>
                  </a:cubicBezTo>
                  <a:cubicBezTo>
                    <a:pt x="47" y="31"/>
                    <a:pt x="47" y="31"/>
                    <a:pt x="47" y="31"/>
                  </a:cubicBezTo>
                  <a:cubicBezTo>
                    <a:pt x="47" y="21"/>
                    <a:pt x="44" y="13"/>
                    <a:pt x="38" y="7"/>
                  </a:cubicBezTo>
                  <a:cubicBezTo>
                    <a:pt x="32" y="2"/>
                    <a:pt x="25" y="0"/>
                    <a:pt x="17" y="0"/>
                  </a:cubicBezTo>
                  <a:cubicBezTo>
                    <a:pt x="11" y="0"/>
                    <a:pt x="6" y="1"/>
                    <a:pt x="2" y="2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6" y="9"/>
                    <a:pt x="10" y="8"/>
                    <a:pt x="15" y="8"/>
                  </a:cubicBezTo>
                  <a:cubicBezTo>
                    <a:pt x="31" y="8"/>
                    <a:pt x="38" y="16"/>
                    <a:pt x="38" y="33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8" y="61"/>
                    <a:pt x="39" y="63"/>
                    <a:pt x="40" y="64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56" y="72"/>
                    <a:pt x="56" y="72"/>
                    <a:pt x="56" y="72"/>
                  </a:cubicBezTo>
                  <a:lnTo>
                    <a:pt x="56" y="64"/>
                  </a:ln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18A0BB4-D4F7-45E5-A460-A1416185A634}"/>
                </a:ext>
              </a:extLst>
            </p:cNvPr>
            <p:cNvGrpSpPr/>
            <p:nvPr userDrawn="1"/>
          </p:nvGrpSpPr>
          <p:grpSpPr>
            <a:xfrm>
              <a:off x="2530476" y="6227763"/>
              <a:ext cx="412750" cy="417513"/>
              <a:chOff x="2530476" y="6227763"/>
              <a:chExt cx="412750" cy="417513"/>
            </a:xfrm>
          </p:grpSpPr>
          <p:sp>
            <p:nvSpPr>
              <p:cNvPr id="16" name="Oval 7">
                <a:extLst>
                  <a:ext uri="{FF2B5EF4-FFF2-40B4-BE49-F238E27FC236}">
                    <a16:creationId xmlns:a16="http://schemas.microsoft.com/office/drawing/2014/main" id="{65AC7294-6058-41B2-B083-BAA3A15BBDC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2530476" y="6227763"/>
                <a:ext cx="412750" cy="4175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" name="Freeform 8">
                <a:extLst>
                  <a:ext uri="{FF2B5EF4-FFF2-40B4-BE49-F238E27FC236}">
                    <a16:creationId xmlns:a16="http://schemas.microsoft.com/office/drawing/2014/main" id="{C81E98A1-595D-46E8-84A6-4344C75B1999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2752726" y="6480175"/>
                <a:ext cx="65088" cy="96838"/>
              </a:xfrm>
              <a:custGeom>
                <a:avLst/>
                <a:gdLst>
                  <a:gd name="T0" fmla="*/ 38 w 38"/>
                  <a:gd name="T1" fmla="*/ 56 h 56"/>
                  <a:gd name="T2" fmla="*/ 32 w 38"/>
                  <a:gd name="T3" fmla="*/ 7 h 56"/>
                  <a:gd name="T4" fmla="*/ 18 w 38"/>
                  <a:gd name="T5" fmla="*/ 0 h 56"/>
                  <a:gd name="T6" fmla="*/ 11 w 38"/>
                  <a:gd name="T7" fmla="*/ 56 h 56"/>
                  <a:gd name="T8" fmla="*/ 38 w 38"/>
                  <a:gd name="T9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56">
                    <a:moveTo>
                      <a:pt x="38" y="56"/>
                    </a:moveTo>
                    <a:cubicBezTo>
                      <a:pt x="18" y="45"/>
                      <a:pt x="20" y="24"/>
                      <a:pt x="32" y="7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" y="12"/>
                      <a:pt x="0" y="41"/>
                      <a:pt x="11" y="56"/>
                    </a:cubicBezTo>
                    <a:lnTo>
                      <a:pt x="38" y="5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" name="Freeform 9">
                <a:extLst>
                  <a:ext uri="{FF2B5EF4-FFF2-40B4-BE49-F238E27FC236}">
                    <a16:creationId xmlns:a16="http://schemas.microsoft.com/office/drawing/2014/main" id="{7897442F-696B-4801-8C86-48AD7AD054E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2576513" y="6284913"/>
                <a:ext cx="238125" cy="292100"/>
              </a:xfrm>
              <a:custGeom>
                <a:avLst/>
                <a:gdLst>
                  <a:gd name="T0" fmla="*/ 81 w 140"/>
                  <a:gd name="T1" fmla="*/ 169 h 169"/>
                  <a:gd name="T2" fmla="*/ 107 w 140"/>
                  <a:gd name="T3" fmla="*/ 169 h 169"/>
                  <a:gd name="T4" fmla="*/ 107 w 140"/>
                  <a:gd name="T5" fmla="*/ 124 h 169"/>
                  <a:gd name="T6" fmla="*/ 139 w 140"/>
                  <a:gd name="T7" fmla="*/ 73 h 169"/>
                  <a:gd name="T8" fmla="*/ 83 w 140"/>
                  <a:gd name="T9" fmla="*/ 0 h 169"/>
                  <a:gd name="T10" fmla="*/ 80 w 140"/>
                  <a:gd name="T11" fmla="*/ 119 h 169"/>
                  <a:gd name="T12" fmla="*/ 85 w 140"/>
                  <a:gd name="T13" fmla="*/ 109 h 169"/>
                  <a:gd name="T14" fmla="*/ 90 w 140"/>
                  <a:gd name="T15" fmla="*/ 101 h 169"/>
                  <a:gd name="T16" fmla="*/ 91 w 140"/>
                  <a:gd name="T17" fmla="*/ 13 h 169"/>
                  <a:gd name="T18" fmla="*/ 119 w 140"/>
                  <a:gd name="T19" fmla="*/ 71 h 169"/>
                  <a:gd name="T20" fmla="*/ 91 w 140"/>
                  <a:gd name="T21" fmla="*/ 111 h 169"/>
                  <a:gd name="T22" fmla="*/ 81 w 140"/>
                  <a:gd name="T23" fmla="*/ 169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40" h="169">
                    <a:moveTo>
                      <a:pt x="81" y="169"/>
                    </a:moveTo>
                    <a:cubicBezTo>
                      <a:pt x="107" y="169"/>
                      <a:pt x="107" y="169"/>
                      <a:pt x="107" y="169"/>
                    </a:cubicBezTo>
                    <a:cubicBezTo>
                      <a:pt x="100" y="156"/>
                      <a:pt x="101" y="138"/>
                      <a:pt x="107" y="124"/>
                    </a:cubicBezTo>
                    <a:cubicBezTo>
                      <a:pt x="115" y="106"/>
                      <a:pt x="140" y="96"/>
                      <a:pt x="139" y="73"/>
                    </a:cubicBezTo>
                    <a:cubicBezTo>
                      <a:pt x="138" y="43"/>
                      <a:pt x="108" y="13"/>
                      <a:pt x="83" y="0"/>
                    </a:cubicBezTo>
                    <a:cubicBezTo>
                      <a:pt x="101" y="35"/>
                      <a:pt x="0" y="78"/>
                      <a:pt x="80" y="119"/>
                    </a:cubicBezTo>
                    <a:cubicBezTo>
                      <a:pt x="80" y="119"/>
                      <a:pt x="83" y="113"/>
                      <a:pt x="85" y="109"/>
                    </a:cubicBezTo>
                    <a:cubicBezTo>
                      <a:pt x="86" y="106"/>
                      <a:pt x="90" y="101"/>
                      <a:pt x="90" y="101"/>
                    </a:cubicBezTo>
                    <a:cubicBezTo>
                      <a:pt x="42" y="78"/>
                      <a:pt x="95" y="47"/>
                      <a:pt x="91" y="13"/>
                    </a:cubicBezTo>
                    <a:cubicBezTo>
                      <a:pt x="103" y="26"/>
                      <a:pt x="121" y="53"/>
                      <a:pt x="119" y="71"/>
                    </a:cubicBezTo>
                    <a:cubicBezTo>
                      <a:pt x="117" y="89"/>
                      <a:pt x="100" y="97"/>
                      <a:pt x="91" y="111"/>
                    </a:cubicBezTo>
                    <a:cubicBezTo>
                      <a:pt x="81" y="124"/>
                      <a:pt x="80" y="149"/>
                      <a:pt x="81" y="169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" name="Freeform 10">
                <a:extLst>
                  <a:ext uri="{FF2B5EF4-FFF2-40B4-BE49-F238E27FC236}">
                    <a16:creationId xmlns:a16="http://schemas.microsoft.com/office/drawing/2014/main" id="{13024567-6DA0-40D2-B20E-C2357D24D1D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2652713" y="6473825"/>
                <a:ext cx="57150" cy="103188"/>
              </a:xfrm>
              <a:custGeom>
                <a:avLst/>
                <a:gdLst>
                  <a:gd name="T0" fmla="*/ 33 w 33"/>
                  <a:gd name="T1" fmla="*/ 15 h 59"/>
                  <a:gd name="T2" fmla="*/ 23 w 33"/>
                  <a:gd name="T3" fmla="*/ 9 h 59"/>
                  <a:gd name="T4" fmla="*/ 10 w 33"/>
                  <a:gd name="T5" fmla="*/ 0 h 59"/>
                  <a:gd name="T6" fmla="*/ 0 w 33"/>
                  <a:gd name="T7" fmla="*/ 59 h 59"/>
                  <a:gd name="T8" fmla="*/ 30 w 33"/>
                  <a:gd name="T9" fmla="*/ 59 h 59"/>
                  <a:gd name="T10" fmla="*/ 33 w 33"/>
                  <a:gd name="T11" fmla="*/ 15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" h="59">
                    <a:moveTo>
                      <a:pt x="33" y="15"/>
                    </a:moveTo>
                    <a:cubicBezTo>
                      <a:pt x="33" y="15"/>
                      <a:pt x="27" y="12"/>
                      <a:pt x="23" y="9"/>
                    </a:cubicBezTo>
                    <a:cubicBezTo>
                      <a:pt x="18" y="6"/>
                      <a:pt x="10" y="0"/>
                      <a:pt x="10" y="0"/>
                    </a:cubicBezTo>
                    <a:cubicBezTo>
                      <a:pt x="16" y="20"/>
                      <a:pt x="16" y="45"/>
                      <a:pt x="0" y="59"/>
                    </a:cubicBezTo>
                    <a:cubicBezTo>
                      <a:pt x="30" y="59"/>
                      <a:pt x="30" y="59"/>
                      <a:pt x="30" y="59"/>
                    </a:cubicBezTo>
                    <a:cubicBezTo>
                      <a:pt x="30" y="42"/>
                      <a:pt x="30" y="29"/>
                      <a:pt x="33" y="15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F783D4C-B068-43AD-88C9-A0D18B249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4707" y="1396207"/>
            <a:ext cx="5354900" cy="2387600"/>
          </a:xfrm>
        </p:spPr>
        <p:txBody>
          <a:bodyPr anchor="b">
            <a:normAutofit/>
          </a:bodyPr>
          <a:lstStyle>
            <a:lvl1pPr algn="l" rtl="0">
              <a:defRPr sz="44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9CDE13-FEF2-43B7-810A-8EF488D11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4707" y="3875882"/>
            <a:ext cx="5354900" cy="1655762"/>
          </a:xfrm>
        </p:spPr>
        <p:txBody>
          <a:bodyPr/>
          <a:lstStyle>
            <a:lvl1pPr marL="0" indent="0" algn="l" rtl="0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87577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2CCC03DB-F540-4E1A-BC4B-A2124079AAD3}"/>
              </a:ext>
            </a:extLst>
          </p:cNvPr>
          <p:cNvSpPr/>
          <p:nvPr userDrawn="1"/>
        </p:nvSpPr>
        <p:spPr>
          <a:xfrm flipH="1">
            <a:off x="9734310" y="168568"/>
            <a:ext cx="2457689" cy="5121133"/>
          </a:xfrm>
          <a:custGeom>
            <a:avLst/>
            <a:gdLst>
              <a:gd name="connsiteX0" fmla="*/ 0 w 2457689"/>
              <a:gd name="connsiteY0" fmla="*/ 0 h 5121133"/>
              <a:gd name="connsiteX1" fmla="*/ 2457689 w 2457689"/>
              <a:gd name="connsiteY1" fmla="*/ 1418947 h 5121133"/>
              <a:gd name="connsiteX2" fmla="*/ 2457689 w 2457689"/>
              <a:gd name="connsiteY2" fmla="*/ 5121133 h 5121133"/>
              <a:gd name="connsiteX3" fmla="*/ 0 w 2457689"/>
              <a:gd name="connsiteY3" fmla="*/ 3702186 h 5121133"/>
              <a:gd name="connsiteX4" fmla="*/ 0 w 2457689"/>
              <a:gd name="connsiteY4" fmla="*/ 0 h 5121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7689" h="5121133">
                <a:moveTo>
                  <a:pt x="0" y="0"/>
                </a:moveTo>
                <a:lnTo>
                  <a:pt x="2457689" y="1418947"/>
                </a:lnTo>
                <a:lnTo>
                  <a:pt x="2457689" y="5121133"/>
                </a:lnTo>
                <a:lnTo>
                  <a:pt x="0" y="370218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CFE1F7CC-E147-404A-A102-BE8B6E0C233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734309" y="1568299"/>
            <a:ext cx="2460441" cy="5120762"/>
          </a:xfrm>
          <a:custGeom>
            <a:avLst/>
            <a:gdLst>
              <a:gd name="connsiteX0" fmla="*/ 0 w 4959716"/>
              <a:gd name="connsiteY0" fmla="*/ 5017892 h 5017892"/>
              <a:gd name="connsiteX1" fmla="*/ 1239929 w 4959716"/>
              <a:gd name="connsiteY1" fmla="*/ 0 h 5017892"/>
              <a:gd name="connsiteX2" fmla="*/ 4959716 w 4959716"/>
              <a:gd name="connsiteY2" fmla="*/ 0 h 5017892"/>
              <a:gd name="connsiteX3" fmla="*/ 3719787 w 4959716"/>
              <a:gd name="connsiteY3" fmla="*/ 5017892 h 5017892"/>
              <a:gd name="connsiteX4" fmla="*/ 0 w 4959716"/>
              <a:gd name="connsiteY4" fmla="*/ 5017892 h 5017892"/>
              <a:gd name="connsiteX0" fmla="*/ 4671 w 4964387"/>
              <a:gd name="connsiteY0" fmla="*/ 5030592 h 5030592"/>
              <a:gd name="connsiteX1" fmla="*/ 0 w 4964387"/>
              <a:gd name="connsiteY1" fmla="*/ 0 h 5030592"/>
              <a:gd name="connsiteX2" fmla="*/ 4964387 w 4964387"/>
              <a:gd name="connsiteY2" fmla="*/ 12700 h 5030592"/>
              <a:gd name="connsiteX3" fmla="*/ 3724458 w 4964387"/>
              <a:gd name="connsiteY3" fmla="*/ 5030592 h 5030592"/>
              <a:gd name="connsiteX4" fmla="*/ 4671 w 4964387"/>
              <a:gd name="connsiteY4" fmla="*/ 5030592 h 5030592"/>
              <a:gd name="connsiteX0" fmla="*/ 4671 w 4970737"/>
              <a:gd name="connsiteY0" fmla="*/ 5030592 h 5030592"/>
              <a:gd name="connsiteX1" fmla="*/ 0 w 4970737"/>
              <a:gd name="connsiteY1" fmla="*/ 0 h 5030592"/>
              <a:gd name="connsiteX2" fmla="*/ 4970737 w 4970737"/>
              <a:gd name="connsiteY2" fmla="*/ 2908300 h 5030592"/>
              <a:gd name="connsiteX3" fmla="*/ 3724458 w 4970737"/>
              <a:gd name="connsiteY3" fmla="*/ 5030592 h 5030592"/>
              <a:gd name="connsiteX4" fmla="*/ 4671 w 4970737"/>
              <a:gd name="connsiteY4" fmla="*/ 5030592 h 5030592"/>
              <a:gd name="connsiteX0" fmla="*/ 4671 w 4970737"/>
              <a:gd name="connsiteY0" fmla="*/ 5030592 h 5036942"/>
              <a:gd name="connsiteX1" fmla="*/ 0 w 4970737"/>
              <a:gd name="connsiteY1" fmla="*/ 0 h 5036942"/>
              <a:gd name="connsiteX2" fmla="*/ 4970737 w 4970737"/>
              <a:gd name="connsiteY2" fmla="*/ 2908300 h 5036942"/>
              <a:gd name="connsiteX3" fmla="*/ 4969058 w 4970737"/>
              <a:gd name="connsiteY3" fmla="*/ 5036942 h 5036942"/>
              <a:gd name="connsiteX4" fmla="*/ 4671 w 4970737"/>
              <a:gd name="connsiteY4" fmla="*/ 5030592 h 5036942"/>
              <a:gd name="connsiteX0" fmla="*/ 4671 w 4970737"/>
              <a:gd name="connsiteY0" fmla="*/ 5030592 h 5036942"/>
              <a:gd name="connsiteX1" fmla="*/ 5038 w 4970737"/>
              <a:gd name="connsiteY1" fmla="*/ 5030592 h 5036942"/>
              <a:gd name="connsiteX2" fmla="*/ 0 w 4970737"/>
              <a:gd name="connsiteY2" fmla="*/ 0 h 5036942"/>
              <a:gd name="connsiteX3" fmla="*/ 4970737 w 4970737"/>
              <a:gd name="connsiteY3" fmla="*/ 2908300 h 5036942"/>
              <a:gd name="connsiteX4" fmla="*/ 4969058 w 4970737"/>
              <a:gd name="connsiteY4" fmla="*/ 5036942 h 5036942"/>
              <a:gd name="connsiteX5" fmla="*/ 4671 w 4970737"/>
              <a:gd name="connsiteY5" fmla="*/ 5030592 h 5036942"/>
              <a:gd name="connsiteX0" fmla="*/ 703171 w 4970737"/>
              <a:gd name="connsiteY0" fmla="*/ 4522592 h 5036942"/>
              <a:gd name="connsiteX1" fmla="*/ 5038 w 4970737"/>
              <a:gd name="connsiteY1" fmla="*/ 5030592 h 5036942"/>
              <a:gd name="connsiteX2" fmla="*/ 0 w 4970737"/>
              <a:gd name="connsiteY2" fmla="*/ 0 h 5036942"/>
              <a:gd name="connsiteX3" fmla="*/ 4970737 w 4970737"/>
              <a:gd name="connsiteY3" fmla="*/ 2908300 h 5036942"/>
              <a:gd name="connsiteX4" fmla="*/ 4969058 w 4970737"/>
              <a:gd name="connsiteY4" fmla="*/ 5036942 h 5036942"/>
              <a:gd name="connsiteX5" fmla="*/ 703171 w 4970737"/>
              <a:gd name="connsiteY5" fmla="*/ 4522592 h 5036942"/>
              <a:gd name="connsiteX0" fmla="*/ 2081121 w 4970737"/>
              <a:gd name="connsiteY0" fmla="*/ 5036942 h 5036942"/>
              <a:gd name="connsiteX1" fmla="*/ 5038 w 4970737"/>
              <a:gd name="connsiteY1" fmla="*/ 5030592 h 5036942"/>
              <a:gd name="connsiteX2" fmla="*/ 0 w 4970737"/>
              <a:gd name="connsiteY2" fmla="*/ 0 h 5036942"/>
              <a:gd name="connsiteX3" fmla="*/ 4970737 w 4970737"/>
              <a:gd name="connsiteY3" fmla="*/ 2908300 h 5036942"/>
              <a:gd name="connsiteX4" fmla="*/ 4969058 w 4970737"/>
              <a:gd name="connsiteY4" fmla="*/ 5036942 h 5036942"/>
              <a:gd name="connsiteX5" fmla="*/ 2081121 w 4970737"/>
              <a:gd name="connsiteY5" fmla="*/ 5036942 h 5036942"/>
              <a:gd name="connsiteX0" fmla="*/ 2081121 w 4970737"/>
              <a:gd name="connsiteY0" fmla="*/ 5036942 h 5036942"/>
              <a:gd name="connsiteX1" fmla="*/ 5038 w 4970737"/>
              <a:gd name="connsiteY1" fmla="*/ 3849492 h 5036942"/>
              <a:gd name="connsiteX2" fmla="*/ 0 w 4970737"/>
              <a:gd name="connsiteY2" fmla="*/ 0 h 5036942"/>
              <a:gd name="connsiteX3" fmla="*/ 4970737 w 4970737"/>
              <a:gd name="connsiteY3" fmla="*/ 2908300 h 5036942"/>
              <a:gd name="connsiteX4" fmla="*/ 4969058 w 4970737"/>
              <a:gd name="connsiteY4" fmla="*/ 5036942 h 5036942"/>
              <a:gd name="connsiteX5" fmla="*/ 2081121 w 4970737"/>
              <a:gd name="connsiteY5" fmla="*/ 5036942 h 5036942"/>
              <a:gd name="connsiteX0" fmla="*/ 2081121 w 4970737"/>
              <a:gd name="connsiteY0" fmla="*/ 5036942 h 5036942"/>
              <a:gd name="connsiteX1" fmla="*/ 5038 w 4970737"/>
              <a:gd name="connsiteY1" fmla="*/ 3849492 h 5036942"/>
              <a:gd name="connsiteX2" fmla="*/ 0 w 4970737"/>
              <a:gd name="connsiteY2" fmla="*/ 0 h 5036942"/>
              <a:gd name="connsiteX3" fmla="*/ 4970737 w 4970737"/>
              <a:gd name="connsiteY3" fmla="*/ 2901950 h 5036942"/>
              <a:gd name="connsiteX4" fmla="*/ 4969058 w 4970737"/>
              <a:gd name="connsiteY4" fmla="*/ 5036942 h 5036942"/>
              <a:gd name="connsiteX5" fmla="*/ 2081121 w 4970737"/>
              <a:gd name="connsiteY5" fmla="*/ 5036942 h 5036942"/>
              <a:gd name="connsiteX0" fmla="*/ 2076279 w 4965895"/>
              <a:gd name="connsiteY0" fmla="*/ 4979792 h 4979792"/>
              <a:gd name="connsiteX1" fmla="*/ 196 w 4965895"/>
              <a:gd name="connsiteY1" fmla="*/ 3792342 h 4979792"/>
              <a:gd name="connsiteX2" fmla="*/ 6588 w 4965895"/>
              <a:gd name="connsiteY2" fmla="*/ 0 h 4979792"/>
              <a:gd name="connsiteX3" fmla="*/ 4965895 w 4965895"/>
              <a:gd name="connsiteY3" fmla="*/ 2844800 h 4979792"/>
              <a:gd name="connsiteX4" fmla="*/ 4964216 w 4965895"/>
              <a:gd name="connsiteY4" fmla="*/ 4979792 h 4979792"/>
              <a:gd name="connsiteX5" fmla="*/ 2076279 w 4965895"/>
              <a:gd name="connsiteY5" fmla="*/ 4979792 h 4979792"/>
              <a:gd name="connsiteX0" fmla="*/ 2076385 w 4966001"/>
              <a:gd name="connsiteY0" fmla="*/ 4983602 h 4983602"/>
              <a:gd name="connsiteX1" fmla="*/ 302 w 4966001"/>
              <a:gd name="connsiteY1" fmla="*/ 3796152 h 4983602"/>
              <a:gd name="connsiteX2" fmla="*/ 2884 w 4966001"/>
              <a:gd name="connsiteY2" fmla="*/ 0 h 4983602"/>
              <a:gd name="connsiteX3" fmla="*/ 4966001 w 4966001"/>
              <a:gd name="connsiteY3" fmla="*/ 2848610 h 4983602"/>
              <a:gd name="connsiteX4" fmla="*/ 4964322 w 4966001"/>
              <a:gd name="connsiteY4" fmla="*/ 4983602 h 4983602"/>
              <a:gd name="connsiteX5" fmla="*/ 2076385 w 4966001"/>
              <a:gd name="connsiteY5" fmla="*/ 4983602 h 4983602"/>
              <a:gd name="connsiteX0" fmla="*/ 2457385 w 4966001"/>
              <a:gd name="connsiteY0" fmla="*/ 5120762 h 5120762"/>
              <a:gd name="connsiteX1" fmla="*/ 302 w 4966001"/>
              <a:gd name="connsiteY1" fmla="*/ 3796152 h 5120762"/>
              <a:gd name="connsiteX2" fmla="*/ 2884 w 4966001"/>
              <a:gd name="connsiteY2" fmla="*/ 0 h 5120762"/>
              <a:gd name="connsiteX3" fmla="*/ 4966001 w 4966001"/>
              <a:gd name="connsiteY3" fmla="*/ 2848610 h 5120762"/>
              <a:gd name="connsiteX4" fmla="*/ 4964322 w 4966001"/>
              <a:gd name="connsiteY4" fmla="*/ 4983602 h 5120762"/>
              <a:gd name="connsiteX5" fmla="*/ 2457385 w 4966001"/>
              <a:gd name="connsiteY5" fmla="*/ 5120762 h 5120762"/>
              <a:gd name="connsiteX0" fmla="*/ 2457385 w 5018502"/>
              <a:gd name="connsiteY0" fmla="*/ 5120762 h 5120762"/>
              <a:gd name="connsiteX1" fmla="*/ 302 w 5018502"/>
              <a:gd name="connsiteY1" fmla="*/ 3796152 h 5120762"/>
              <a:gd name="connsiteX2" fmla="*/ 2884 w 5018502"/>
              <a:gd name="connsiteY2" fmla="*/ 0 h 5120762"/>
              <a:gd name="connsiteX3" fmla="*/ 4966001 w 5018502"/>
              <a:gd name="connsiteY3" fmla="*/ 2848610 h 5120762"/>
              <a:gd name="connsiteX4" fmla="*/ 2457385 w 5018502"/>
              <a:gd name="connsiteY4" fmla="*/ 5120762 h 5120762"/>
              <a:gd name="connsiteX0" fmla="*/ 2457385 w 2943293"/>
              <a:gd name="connsiteY0" fmla="*/ 5120762 h 5120762"/>
              <a:gd name="connsiteX1" fmla="*/ 302 w 2943293"/>
              <a:gd name="connsiteY1" fmla="*/ 3796152 h 5120762"/>
              <a:gd name="connsiteX2" fmla="*/ 2884 w 2943293"/>
              <a:gd name="connsiteY2" fmla="*/ 0 h 5120762"/>
              <a:gd name="connsiteX3" fmla="*/ 2481881 w 2943293"/>
              <a:gd name="connsiteY3" fmla="*/ 3239770 h 5120762"/>
              <a:gd name="connsiteX4" fmla="*/ 2457385 w 2943293"/>
              <a:gd name="connsiteY4" fmla="*/ 5120762 h 5120762"/>
              <a:gd name="connsiteX0" fmla="*/ 2457385 w 2939298"/>
              <a:gd name="connsiteY0" fmla="*/ 5120762 h 5120762"/>
              <a:gd name="connsiteX1" fmla="*/ 302 w 2939298"/>
              <a:gd name="connsiteY1" fmla="*/ 3796152 h 5120762"/>
              <a:gd name="connsiteX2" fmla="*/ 2884 w 2939298"/>
              <a:gd name="connsiteY2" fmla="*/ 0 h 5120762"/>
              <a:gd name="connsiteX3" fmla="*/ 2471721 w 2939298"/>
              <a:gd name="connsiteY3" fmla="*/ 1410970 h 5120762"/>
              <a:gd name="connsiteX4" fmla="*/ 2457385 w 2939298"/>
              <a:gd name="connsiteY4" fmla="*/ 5120762 h 5120762"/>
              <a:gd name="connsiteX0" fmla="*/ 2457385 w 2940987"/>
              <a:gd name="connsiteY0" fmla="*/ 5120762 h 5120762"/>
              <a:gd name="connsiteX1" fmla="*/ 302 w 2940987"/>
              <a:gd name="connsiteY1" fmla="*/ 3796152 h 5120762"/>
              <a:gd name="connsiteX2" fmla="*/ 2884 w 2940987"/>
              <a:gd name="connsiteY2" fmla="*/ 0 h 5120762"/>
              <a:gd name="connsiteX3" fmla="*/ 2471721 w 2940987"/>
              <a:gd name="connsiteY3" fmla="*/ 1410970 h 5120762"/>
              <a:gd name="connsiteX4" fmla="*/ 2457385 w 2940987"/>
              <a:gd name="connsiteY4" fmla="*/ 5120762 h 5120762"/>
              <a:gd name="connsiteX0" fmla="*/ 2457385 w 2642606"/>
              <a:gd name="connsiteY0" fmla="*/ 5120762 h 5120762"/>
              <a:gd name="connsiteX1" fmla="*/ 302 w 2642606"/>
              <a:gd name="connsiteY1" fmla="*/ 3796152 h 5120762"/>
              <a:gd name="connsiteX2" fmla="*/ 2884 w 2642606"/>
              <a:gd name="connsiteY2" fmla="*/ 0 h 5120762"/>
              <a:gd name="connsiteX3" fmla="*/ 2471721 w 2642606"/>
              <a:gd name="connsiteY3" fmla="*/ 1410970 h 5120762"/>
              <a:gd name="connsiteX4" fmla="*/ 2457385 w 2642606"/>
              <a:gd name="connsiteY4" fmla="*/ 5120762 h 5120762"/>
              <a:gd name="connsiteX0" fmla="*/ 2457385 w 2807365"/>
              <a:gd name="connsiteY0" fmla="*/ 5120762 h 5137422"/>
              <a:gd name="connsiteX1" fmla="*/ 302 w 2807365"/>
              <a:gd name="connsiteY1" fmla="*/ 3796152 h 5137422"/>
              <a:gd name="connsiteX2" fmla="*/ 2884 w 2807365"/>
              <a:gd name="connsiteY2" fmla="*/ 0 h 5137422"/>
              <a:gd name="connsiteX3" fmla="*/ 2471721 w 2807365"/>
              <a:gd name="connsiteY3" fmla="*/ 1410970 h 5137422"/>
              <a:gd name="connsiteX4" fmla="*/ 2457385 w 2807365"/>
              <a:gd name="connsiteY4" fmla="*/ 5120762 h 5137422"/>
              <a:gd name="connsiteX0" fmla="*/ 2457385 w 2651440"/>
              <a:gd name="connsiteY0" fmla="*/ 5120762 h 5120762"/>
              <a:gd name="connsiteX1" fmla="*/ 302 w 2651440"/>
              <a:gd name="connsiteY1" fmla="*/ 3796152 h 5120762"/>
              <a:gd name="connsiteX2" fmla="*/ 2884 w 2651440"/>
              <a:gd name="connsiteY2" fmla="*/ 0 h 5120762"/>
              <a:gd name="connsiteX3" fmla="*/ 2471721 w 2651440"/>
              <a:gd name="connsiteY3" fmla="*/ 1410970 h 5120762"/>
              <a:gd name="connsiteX4" fmla="*/ 2457385 w 2651440"/>
              <a:gd name="connsiteY4" fmla="*/ 5120762 h 5120762"/>
              <a:gd name="connsiteX0" fmla="*/ 2457385 w 2486859"/>
              <a:gd name="connsiteY0" fmla="*/ 5120762 h 5120762"/>
              <a:gd name="connsiteX1" fmla="*/ 302 w 2486859"/>
              <a:gd name="connsiteY1" fmla="*/ 3796152 h 5120762"/>
              <a:gd name="connsiteX2" fmla="*/ 2884 w 2486859"/>
              <a:gd name="connsiteY2" fmla="*/ 0 h 5120762"/>
              <a:gd name="connsiteX3" fmla="*/ 2471721 w 2486859"/>
              <a:gd name="connsiteY3" fmla="*/ 1410970 h 5120762"/>
              <a:gd name="connsiteX4" fmla="*/ 2457385 w 2486859"/>
              <a:gd name="connsiteY4" fmla="*/ 5120762 h 5120762"/>
              <a:gd name="connsiteX0" fmla="*/ 2457385 w 2462497"/>
              <a:gd name="connsiteY0" fmla="*/ 5120762 h 5120762"/>
              <a:gd name="connsiteX1" fmla="*/ 302 w 2462497"/>
              <a:gd name="connsiteY1" fmla="*/ 3796152 h 5120762"/>
              <a:gd name="connsiteX2" fmla="*/ 2884 w 2462497"/>
              <a:gd name="connsiteY2" fmla="*/ 0 h 5120762"/>
              <a:gd name="connsiteX3" fmla="*/ 2431716 w 2462497"/>
              <a:gd name="connsiteY3" fmla="*/ 1424305 h 5120762"/>
              <a:gd name="connsiteX4" fmla="*/ 2457385 w 2462497"/>
              <a:gd name="connsiteY4" fmla="*/ 5120762 h 5120762"/>
              <a:gd name="connsiteX0" fmla="*/ 2457385 w 2482398"/>
              <a:gd name="connsiteY0" fmla="*/ 5120762 h 5120762"/>
              <a:gd name="connsiteX1" fmla="*/ 302 w 2482398"/>
              <a:gd name="connsiteY1" fmla="*/ 3796152 h 5120762"/>
              <a:gd name="connsiteX2" fmla="*/ 2884 w 2482398"/>
              <a:gd name="connsiteY2" fmla="*/ 0 h 5120762"/>
              <a:gd name="connsiteX3" fmla="*/ 2466006 w 2482398"/>
              <a:gd name="connsiteY3" fmla="*/ 1424305 h 5120762"/>
              <a:gd name="connsiteX4" fmla="*/ 2457385 w 2482398"/>
              <a:gd name="connsiteY4" fmla="*/ 5120762 h 5120762"/>
              <a:gd name="connsiteX0" fmla="*/ 2457385 w 2466006"/>
              <a:gd name="connsiteY0" fmla="*/ 5120762 h 5120762"/>
              <a:gd name="connsiteX1" fmla="*/ 302 w 2466006"/>
              <a:gd name="connsiteY1" fmla="*/ 3796152 h 5120762"/>
              <a:gd name="connsiteX2" fmla="*/ 2884 w 2466006"/>
              <a:gd name="connsiteY2" fmla="*/ 0 h 5120762"/>
              <a:gd name="connsiteX3" fmla="*/ 2466006 w 2466006"/>
              <a:gd name="connsiteY3" fmla="*/ 1424305 h 5120762"/>
              <a:gd name="connsiteX4" fmla="*/ 2457385 w 2466006"/>
              <a:gd name="connsiteY4" fmla="*/ 5120762 h 5120762"/>
              <a:gd name="connsiteX0" fmla="*/ 2457385 w 2460441"/>
              <a:gd name="connsiteY0" fmla="*/ 5120762 h 5120762"/>
              <a:gd name="connsiteX1" fmla="*/ 302 w 2460441"/>
              <a:gd name="connsiteY1" fmla="*/ 3796152 h 5120762"/>
              <a:gd name="connsiteX2" fmla="*/ 2884 w 2460441"/>
              <a:gd name="connsiteY2" fmla="*/ 0 h 5120762"/>
              <a:gd name="connsiteX3" fmla="*/ 2458386 w 2460441"/>
              <a:gd name="connsiteY3" fmla="*/ 1422400 h 5120762"/>
              <a:gd name="connsiteX4" fmla="*/ 2457385 w 2460441"/>
              <a:gd name="connsiteY4" fmla="*/ 5120762 h 5120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0441" h="5120762">
                <a:moveTo>
                  <a:pt x="2457385" y="5120762"/>
                </a:moveTo>
                <a:lnTo>
                  <a:pt x="302" y="3796152"/>
                </a:lnTo>
                <a:cubicBezTo>
                  <a:pt x="-1377" y="2119288"/>
                  <a:pt x="4563" y="1676864"/>
                  <a:pt x="2884" y="0"/>
                </a:cubicBezTo>
                <a:lnTo>
                  <a:pt x="2458386" y="1422400"/>
                </a:lnTo>
                <a:cubicBezTo>
                  <a:pt x="2456625" y="1682770"/>
                  <a:pt x="2464553" y="3265866"/>
                  <a:pt x="2457385" y="5120762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F69DD9-002C-42F1-B0B1-7629DDD68405}"/>
              </a:ext>
            </a:extLst>
          </p:cNvPr>
          <p:cNvSpPr/>
          <p:nvPr userDrawn="1"/>
        </p:nvSpPr>
        <p:spPr>
          <a:xfrm flipH="1">
            <a:off x="0" y="1568299"/>
            <a:ext cx="9618562" cy="3721402"/>
          </a:xfrm>
          <a:prstGeom prst="rect">
            <a:avLst/>
          </a:prstGeom>
          <a:gradFill>
            <a:gsLst>
              <a:gs pos="86000">
                <a:schemeClr val="accent1"/>
              </a:gs>
              <a:gs pos="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783D4C-B068-43AD-88C9-A0D18B249B7B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398231" y="2255519"/>
            <a:ext cx="8778240" cy="1300281"/>
          </a:xfrm>
        </p:spPr>
        <p:txBody>
          <a:bodyPr anchor="b">
            <a:normAutofit/>
          </a:bodyPr>
          <a:lstStyle>
            <a:lvl1pPr algn="l" rtl="0">
              <a:defRPr sz="44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9CDE13-FEF2-43B7-810A-8EF488D11322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398231" y="3647876"/>
            <a:ext cx="8778240" cy="741244"/>
          </a:xfrm>
        </p:spPr>
        <p:txBody>
          <a:bodyPr/>
          <a:lstStyle>
            <a:lvl1pPr marL="0" indent="0" algn="l" rtl="0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BE3AF9-876E-401C-9274-DDCF1FC18A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231" y="710434"/>
            <a:ext cx="2546134" cy="419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366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6F05D4D6-EB0C-4D59-A0E2-0EEAD63E2DF5}"/>
              </a:ext>
            </a:extLst>
          </p:cNvPr>
          <p:cNvSpPr/>
          <p:nvPr userDrawn="1"/>
        </p:nvSpPr>
        <p:spPr>
          <a:xfrm>
            <a:off x="3420061" y="0"/>
            <a:ext cx="8771939" cy="5648938"/>
          </a:xfrm>
          <a:custGeom>
            <a:avLst/>
            <a:gdLst>
              <a:gd name="connsiteX0" fmla="*/ 4690757 w 8748789"/>
              <a:gd name="connsiteY0" fmla="*/ 0 h 5648938"/>
              <a:gd name="connsiteX1" fmla="*/ 8748789 w 8748789"/>
              <a:gd name="connsiteY1" fmla="*/ 0 h 5648938"/>
              <a:gd name="connsiteX2" fmla="*/ 8748789 w 8748789"/>
              <a:gd name="connsiteY2" fmla="*/ 5648938 h 5648938"/>
              <a:gd name="connsiteX3" fmla="*/ 0 w 8748789"/>
              <a:gd name="connsiteY3" fmla="*/ 3981544 h 5648938"/>
              <a:gd name="connsiteX4" fmla="*/ 0 w 8748789"/>
              <a:gd name="connsiteY4" fmla="*/ 2108767 h 5648938"/>
              <a:gd name="connsiteX5" fmla="*/ 4690757 w 8748789"/>
              <a:gd name="connsiteY5" fmla="*/ 0 h 5648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48789" h="5648938">
                <a:moveTo>
                  <a:pt x="4690757" y="0"/>
                </a:moveTo>
                <a:lnTo>
                  <a:pt x="8748789" y="0"/>
                </a:lnTo>
                <a:lnTo>
                  <a:pt x="8748789" y="5648938"/>
                </a:lnTo>
                <a:lnTo>
                  <a:pt x="0" y="3981544"/>
                </a:lnTo>
                <a:lnTo>
                  <a:pt x="0" y="2108767"/>
                </a:lnTo>
                <a:lnTo>
                  <a:pt x="4690757" y="0"/>
                </a:lnTo>
                <a:close/>
              </a:path>
            </a:pathLst>
          </a:custGeom>
          <a:gradFill>
            <a:gsLst>
              <a:gs pos="86000">
                <a:schemeClr val="accent1"/>
              </a:gs>
              <a:gs pos="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85A0582-D957-4640-9E50-421086BD91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4761" y="200025"/>
            <a:ext cx="3441700" cy="4670425"/>
          </a:xfrm>
          <a:custGeom>
            <a:avLst/>
            <a:gdLst>
              <a:gd name="connsiteX0" fmla="*/ 0 w 3419475"/>
              <a:gd name="connsiteY0" fmla="*/ 1870075 h 3740150"/>
              <a:gd name="connsiteX1" fmla="*/ 1709738 w 3419475"/>
              <a:gd name="connsiteY1" fmla="*/ 0 h 3740150"/>
              <a:gd name="connsiteX2" fmla="*/ 3419475 w 3419475"/>
              <a:gd name="connsiteY2" fmla="*/ 1870075 h 3740150"/>
              <a:gd name="connsiteX3" fmla="*/ 1709738 w 3419475"/>
              <a:gd name="connsiteY3" fmla="*/ 3740150 h 3740150"/>
              <a:gd name="connsiteX4" fmla="*/ 0 w 3419475"/>
              <a:gd name="connsiteY4" fmla="*/ 1870075 h 3740150"/>
              <a:gd name="connsiteX0" fmla="*/ 0 w 3419475"/>
              <a:gd name="connsiteY0" fmla="*/ 4657725 h 4657725"/>
              <a:gd name="connsiteX1" fmla="*/ 1709738 w 3419475"/>
              <a:gd name="connsiteY1" fmla="*/ 0 h 4657725"/>
              <a:gd name="connsiteX2" fmla="*/ 3419475 w 3419475"/>
              <a:gd name="connsiteY2" fmla="*/ 1870075 h 4657725"/>
              <a:gd name="connsiteX3" fmla="*/ 1709738 w 3419475"/>
              <a:gd name="connsiteY3" fmla="*/ 3740150 h 4657725"/>
              <a:gd name="connsiteX4" fmla="*/ 0 w 3419475"/>
              <a:gd name="connsiteY4" fmla="*/ 4657725 h 4657725"/>
              <a:gd name="connsiteX0" fmla="*/ 4762 w 3424237"/>
              <a:gd name="connsiteY0" fmla="*/ 4740275 h 4740275"/>
              <a:gd name="connsiteX1" fmla="*/ 0 w 3424237"/>
              <a:gd name="connsiteY1" fmla="*/ 0 h 4740275"/>
              <a:gd name="connsiteX2" fmla="*/ 3424237 w 3424237"/>
              <a:gd name="connsiteY2" fmla="*/ 1952625 h 4740275"/>
              <a:gd name="connsiteX3" fmla="*/ 1714500 w 3424237"/>
              <a:gd name="connsiteY3" fmla="*/ 3822700 h 4740275"/>
              <a:gd name="connsiteX4" fmla="*/ 4762 w 3424237"/>
              <a:gd name="connsiteY4" fmla="*/ 4740275 h 4740275"/>
              <a:gd name="connsiteX0" fmla="*/ 4762 w 3441700"/>
              <a:gd name="connsiteY0" fmla="*/ 4740275 h 4740275"/>
              <a:gd name="connsiteX1" fmla="*/ 0 w 3441700"/>
              <a:gd name="connsiteY1" fmla="*/ 0 h 4740275"/>
              <a:gd name="connsiteX2" fmla="*/ 3424237 w 3441700"/>
              <a:gd name="connsiteY2" fmla="*/ 1952625 h 4740275"/>
              <a:gd name="connsiteX3" fmla="*/ 3441700 w 3441700"/>
              <a:gd name="connsiteY3" fmla="*/ 3848100 h 4740275"/>
              <a:gd name="connsiteX4" fmla="*/ 4762 w 3441700"/>
              <a:gd name="connsiteY4" fmla="*/ 4740275 h 4740275"/>
              <a:gd name="connsiteX0" fmla="*/ 4762 w 3441700"/>
              <a:gd name="connsiteY0" fmla="*/ 4740275 h 4740275"/>
              <a:gd name="connsiteX1" fmla="*/ 0 w 3441700"/>
              <a:gd name="connsiteY1" fmla="*/ 0 h 4740275"/>
              <a:gd name="connsiteX2" fmla="*/ 3424237 w 3441700"/>
              <a:gd name="connsiteY2" fmla="*/ 1997075 h 4740275"/>
              <a:gd name="connsiteX3" fmla="*/ 3441700 w 3441700"/>
              <a:gd name="connsiteY3" fmla="*/ 3848100 h 4740275"/>
              <a:gd name="connsiteX4" fmla="*/ 4762 w 3441700"/>
              <a:gd name="connsiteY4" fmla="*/ 4740275 h 4740275"/>
              <a:gd name="connsiteX0" fmla="*/ 4762 w 3441700"/>
              <a:gd name="connsiteY0" fmla="*/ 4670425 h 4670425"/>
              <a:gd name="connsiteX1" fmla="*/ 0 w 3441700"/>
              <a:gd name="connsiteY1" fmla="*/ 0 h 4670425"/>
              <a:gd name="connsiteX2" fmla="*/ 3424237 w 3441700"/>
              <a:gd name="connsiteY2" fmla="*/ 1927225 h 4670425"/>
              <a:gd name="connsiteX3" fmla="*/ 3441700 w 3441700"/>
              <a:gd name="connsiteY3" fmla="*/ 3778250 h 4670425"/>
              <a:gd name="connsiteX4" fmla="*/ 4762 w 3441700"/>
              <a:gd name="connsiteY4" fmla="*/ 4670425 h 4670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1700" h="4670425">
                <a:moveTo>
                  <a:pt x="4762" y="4670425"/>
                </a:moveTo>
                <a:cubicBezTo>
                  <a:pt x="3175" y="3090333"/>
                  <a:pt x="1587" y="1580092"/>
                  <a:pt x="0" y="0"/>
                </a:cubicBezTo>
                <a:lnTo>
                  <a:pt x="3424237" y="1927225"/>
                </a:lnTo>
                <a:lnTo>
                  <a:pt x="3441700" y="3778250"/>
                </a:lnTo>
                <a:lnTo>
                  <a:pt x="4762" y="4670425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261B74E-7A13-49E3-8746-8B38AEC92648}"/>
              </a:ext>
            </a:extLst>
          </p:cNvPr>
          <p:cNvSpPr/>
          <p:nvPr userDrawn="1"/>
        </p:nvSpPr>
        <p:spPr>
          <a:xfrm>
            <a:off x="0" y="4051279"/>
            <a:ext cx="3420059" cy="2320166"/>
          </a:xfrm>
          <a:custGeom>
            <a:avLst/>
            <a:gdLst>
              <a:gd name="connsiteX0" fmla="*/ 3420059 w 3420059"/>
              <a:gd name="connsiteY0" fmla="*/ 0 h 2320166"/>
              <a:gd name="connsiteX1" fmla="*/ 3420059 w 3420059"/>
              <a:gd name="connsiteY1" fmla="*/ 652471 h 2320166"/>
              <a:gd name="connsiteX2" fmla="*/ 0 w 3420059"/>
              <a:gd name="connsiteY2" fmla="*/ 2320166 h 2320166"/>
              <a:gd name="connsiteX3" fmla="*/ 0 w 3420059"/>
              <a:gd name="connsiteY3" fmla="*/ 968871 h 2320166"/>
              <a:gd name="connsiteX4" fmla="*/ 3420059 w 3420059"/>
              <a:gd name="connsiteY4" fmla="*/ 0 h 2320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0059" h="2320166">
                <a:moveTo>
                  <a:pt x="3420059" y="0"/>
                </a:moveTo>
                <a:lnTo>
                  <a:pt x="3420059" y="652471"/>
                </a:lnTo>
                <a:lnTo>
                  <a:pt x="0" y="2320166"/>
                </a:lnTo>
                <a:lnTo>
                  <a:pt x="0" y="968871"/>
                </a:lnTo>
                <a:lnTo>
                  <a:pt x="342005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6BB36B2F-64BC-4136-9BF7-40926A03CDED}"/>
              </a:ext>
            </a:extLst>
          </p:cNvPr>
          <p:cNvSpPr/>
          <p:nvPr userDrawn="1"/>
        </p:nvSpPr>
        <p:spPr>
          <a:xfrm>
            <a:off x="3420061" y="4051278"/>
            <a:ext cx="8771939" cy="2806722"/>
          </a:xfrm>
          <a:custGeom>
            <a:avLst/>
            <a:gdLst>
              <a:gd name="connsiteX0" fmla="*/ 0 w 8748789"/>
              <a:gd name="connsiteY0" fmla="*/ 0 h 2806722"/>
              <a:gd name="connsiteX1" fmla="*/ 8748789 w 8748789"/>
              <a:gd name="connsiteY1" fmla="*/ 1646811 h 2806722"/>
              <a:gd name="connsiteX2" fmla="*/ 8748789 w 8748789"/>
              <a:gd name="connsiteY2" fmla="*/ 2806722 h 2806722"/>
              <a:gd name="connsiteX3" fmla="*/ 6691228 w 8748789"/>
              <a:gd name="connsiteY3" fmla="*/ 2806722 h 2806722"/>
              <a:gd name="connsiteX4" fmla="*/ 0 w 8748789"/>
              <a:gd name="connsiteY4" fmla="*/ 652471 h 2806722"/>
              <a:gd name="connsiteX5" fmla="*/ 0 w 8748789"/>
              <a:gd name="connsiteY5" fmla="*/ 0 h 28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48789" h="2806722">
                <a:moveTo>
                  <a:pt x="0" y="0"/>
                </a:moveTo>
                <a:lnTo>
                  <a:pt x="8748789" y="1646811"/>
                </a:lnTo>
                <a:lnTo>
                  <a:pt x="8748789" y="2806722"/>
                </a:lnTo>
                <a:lnTo>
                  <a:pt x="6691228" y="2806722"/>
                </a:lnTo>
                <a:lnTo>
                  <a:pt x="0" y="65247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783D4C-B068-43AD-88C9-A0D18B249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7430" y="1888245"/>
            <a:ext cx="7481170" cy="1300281"/>
          </a:xfrm>
          <a:ln>
            <a:noFill/>
          </a:ln>
        </p:spPr>
        <p:txBody>
          <a:bodyPr anchor="b">
            <a:normAutofit/>
          </a:bodyPr>
          <a:lstStyle>
            <a:lvl1pPr algn="l" rtl="1">
              <a:defRPr sz="44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9CDE13-FEF2-43B7-810A-8EF488D11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77430" y="3280602"/>
            <a:ext cx="7481170" cy="741244"/>
          </a:xfrm>
          <a:ln>
            <a:noFill/>
          </a:ln>
        </p:spPr>
        <p:txBody>
          <a:bodyPr/>
          <a:lstStyle>
            <a:lvl1pPr marL="0" indent="0" algn="l" rtl="1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6DCC8E-61F1-4226-B60E-957F44656C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926" y="6226133"/>
            <a:ext cx="2546134" cy="419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166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7DFEB65-6E2E-4E1D-B667-95795F86DC2D}"/>
              </a:ext>
            </a:extLst>
          </p:cNvPr>
          <p:cNvSpPr/>
          <p:nvPr userDrawn="1"/>
        </p:nvSpPr>
        <p:spPr>
          <a:xfrm>
            <a:off x="0" y="212830"/>
            <a:ext cx="3420059" cy="4645723"/>
          </a:xfrm>
          <a:custGeom>
            <a:avLst/>
            <a:gdLst>
              <a:gd name="connsiteX0" fmla="*/ 0 w 3420059"/>
              <a:gd name="connsiteY0" fmla="*/ 0 h 4645723"/>
              <a:gd name="connsiteX1" fmla="*/ 3420059 w 3420059"/>
              <a:gd name="connsiteY1" fmla="*/ 1895938 h 4645723"/>
              <a:gd name="connsiteX2" fmla="*/ 3420059 w 3420059"/>
              <a:gd name="connsiteY2" fmla="*/ 3768715 h 4645723"/>
              <a:gd name="connsiteX3" fmla="*/ 0 w 3420059"/>
              <a:gd name="connsiteY3" fmla="*/ 4645723 h 4645723"/>
              <a:gd name="connsiteX4" fmla="*/ 0 w 3420059"/>
              <a:gd name="connsiteY4" fmla="*/ 0 h 4645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0059" h="4645723">
                <a:moveTo>
                  <a:pt x="0" y="0"/>
                </a:moveTo>
                <a:lnTo>
                  <a:pt x="3420059" y="1895938"/>
                </a:lnTo>
                <a:lnTo>
                  <a:pt x="3420059" y="3768715"/>
                </a:lnTo>
                <a:lnTo>
                  <a:pt x="0" y="464572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86000">
                <a:schemeClr val="accent1"/>
              </a:gs>
              <a:gs pos="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906BA1DD-8552-4ACF-A870-DE84D6FE596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23532" y="4958"/>
            <a:ext cx="8779058" cy="5652892"/>
          </a:xfrm>
          <a:custGeom>
            <a:avLst/>
            <a:gdLst>
              <a:gd name="connsiteX0" fmla="*/ 0 w 4959716"/>
              <a:gd name="connsiteY0" fmla="*/ 5017892 h 5017892"/>
              <a:gd name="connsiteX1" fmla="*/ 1239929 w 4959716"/>
              <a:gd name="connsiteY1" fmla="*/ 0 h 5017892"/>
              <a:gd name="connsiteX2" fmla="*/ 4959716 w 4959716"/>
              <a:gd name="connsiteY2" fmla="*/ 0 h 5017892"/>
              <a:gd name="connsiteX3" fmla="*/ 3719787 w 4959716"/>
              <a:gd name="connsiteY3" fmla="*/ 5017892 h 5017892"/>
              <a:gd name="connsiteX4" fmla="*/ 0 w 4959716"/>
              <a:gd name="connsiteY4" fmla="*/ 5017892 h 5017892"/>
              <a:gd name="connsiteX0" fmla="*/ 4671 w 4964387"/>
              <a:gd name="connsiteY0" fmla="*/ 5030592 h 5030592"/>
              <a:gd name="connsiteX1" fmla="*/ 0 w 4964387"/>
              <a:gd name="connsiteY1" fmla="*/ 0 h 5030592"/>
              <a:gd name="connsiteX2" fmla="*/ 4964387 w 4964387"/>
              <a:gd name="connsiteY2" fmla="*/ 12700 h 5030592"/>
              <a:gd name="connsiteX3" fmla="*/ 3724458 w 4964387"/>
              <a:gd name="connsiteY3" fmla="*/ 5030592 h 5030592"/>
              <a:gd name="connsiteX4" fmla="*/ 4671 w 4964387"/>
              <a:gd name="connsiteY4" fmla="*/ 5030592 h 5030592"/>
              <a:gd name="connsiteX0" fmla="*/ 4671 w 4970737"/>
              <a:gd name="connsiteY0" fmla="*/ 5030592 h 5030592"/>
              <a:gd name="connsiteX1" fmla="*/ 0 w 4970737"/>
              <a:gd name="connsiteY1" fmla="*/ 0 h 5030592"/>
              <a:gd name="connsiteX2" fmla="*/ 4970737 w 4970737"/>
              <a:gd name="connsiteY2" fmla="*/ 2908300 h 5030592"/>
              <a:gd name="connsiteX3" fmla="*/ 3724458 w 4970737"/>
              <a:gd name="connsiteY3" fmla="*/ 5030592 h 5030592"/>
              <a:gd name="connsiteX4" fmla="*/ 4671 w 4970737"/>
              <a:gd name="connsiteY4" fmla="*/ 5030592 h 5030592"/>
              <a:gd name="connsiteX0" fmla="*/ 4671 w 4970737"/>
              <a:gd name="connsiteY0" fmla="*/ 5030592 h 5036942"/>
              <a:gd name="connsiteX1" fmla="*/ 0 w 4970737"/>
              <a:gd name="connsiteY1" fmla="*/ 0 h 5036942"/>
              <a:gd name="connsiteX2" fmla="*/ 4970737 w 4970737"/>
              <a:gd name="connsiteY2" fmla="*/ 2908300 h 5036942"/>
              <a:gd name="connsiteX3" fmla="*/ 4969058 w 4970737"/>
              <a:gd name="connsiteY3" fmla="*/ 5036942 h 5036942"/>
              <a:gd name="connsiteX4" fmla="*/ 4671 w 4970737"/>
              <a:gd name="connsiteY4" fmla="*/ 5030592 h 5036942"/>
              <a:gd name="connsiteX0" fmla="*/ 4671 w 4970737"/>
              <a:gd name="connsiteY0" fmla="*/ 5030592 h 5036942"/>
              <a:gd name="connsiteX1" fmla="*/ 5038 w 4970737"/>
              <a:gd name="connsiteY1" fmla="*/ 5030592 h 5036942"/>
              <a:gd name="connsiteX2" fmla="*/ 0 w 4970737"/>
              <a:gd name="connsiteY2" fmla="*/ 0 h 5036942"/>
              <a:gd name="connsiteX3" fmla="*/ 4970737 w 4970737"/>
              <a:gd name="connsiteY3" fmla="*/ 2908300 h 5036942"/>
              <a:gd name="connsiteX4" fmla="*/ 4969058 w 4970737"/>
              <a:gd name="connsiteY4" fmla="*/ 5036942 h 5036942"/>
              <a:gd name="connsiteX5" fmla="*/ 4671 w 4970737"/>
              <a:gd name="connsiteY5" fmla="*/ 5030592 h 5036942"/>
              <a:gd name="connsiteX0" fmla="*/ 703171 w 4970737"/>
              <a:gd name="connsiteY0" fmla="*/ 4522592 h 5036942"/>
              <a:gd name="connsiteX1" fmla="*/ 5038 w 4970737"/>
              <a:gd name="connsiteY1" fmla="*/ 5030592 h 5036942"/>
              <a:gd name="connsiteX2" fmla="*/ 0 w 4970737"/>
              <a:gd name="connsiteY2" fmla="*/ 0 h 5036942"/>
              <a:gd name="connsiteX3" fmla="*/ 4970737 w 4970737"/>
              <a:gd name="connsiteY3" fmla="*/ 2908300 h 5036942"/>
              <a:gd name="connsiteX4" fmla="*/ 4969058 w 4970737"/>
              <a:gd name="connsiteY4" fmla="*/ 5036942 h 5036942"/>
              <a:gd name="connsiteX5" fmla="*/ 703171 w 4970737"/>
              <a:gd name="connsiteY5" fmla="*/ 4522592 h 5036942"/>
              <a:gd name="connsiteX0" fmla="*/ 2081121 w 4970737"/>
              <a:gd name="connsiteY0" fmla="*/ 5036942 h 5036942"/>
              <a:gd name="connsiteX1" fmla="*/ 5038 w 4970737"/>
              <a:gd name="connsiteY1" fmla="*/ 5030592 h 5036942"/>
              <a:gd name="connsiteX2" fmla="*/ 0 w 4970737"/>
              <a:gd name="connsiteY2" fmla="*/ 0 h 5036942"/>
              <a:gd name="connsiteX3" fmla="*/ 4970737 w 4970737"/>
              <a:gd name="connsiteY3" fmla="*/ 2908300 h 5036942"/>
              <a:gd name="connsiteX4" fmla="*/ 4969058 w 4970737"/>
              <a:gd name="connsiteY4" fmla="*/ 5036942 h 5036942"/>
              <a:gd name="connsiteX5" fmla="*/ 2081121 w 4970737"/>
              <a:gd name="connsiteY5" fmla="*/ 5036942 h 5036942"/>
              <a:gd name="connsiteX0" fmla="*/ 2081121 w 4970737"/>
              <a:gd name="connsiteY0" fmla="*/ 5036942 h 5036942"/>
              <a:gd name="connsiteX1" fmla="*/ 5038 w 4970737"/>
              <a:gd name="connsiteY1" fmla="*/ 3849492 h 5036942"/>
              <a:gd name="connsiteX2" fmla="*/ 0 w 4970737"/>
              <a:gd name="connsiteY2" fmla="*/ 0 h 5036942"/>
              <a:gd name="connsiteX3" fmla="*/ 4970737 w 4970737"/>
              <a:gd name="connsiteY3" fmla="*/ 2908300 h 5036942"/>
              <a:gd name="connsiteX4" fmla="*/ 4969058 w 4970737"/>
              <a:gd name="connsiteY4" fmla="*/ 5036942 h 5036942"/>
              <a:gd name="connsiteX5" fmla="*/ 2081121 w 4970737"/>
              <a:gd name="connsiteY5" fmla="*/ 5036942 h 5036942"/>
              <a:gd name="connsiteX0" fmla="*/ 2081121 w 4970737"/>
              <a:gd name="connsiteY0" fmla="*/ 5036942 h 5036942"/>
              <a:gd name="connsiteX1" fmla="*/ 5038 w 4970737"/>
              <a:gd name="connsiteY1" fmla="*/ 3849492 h 5036942"/>
              <a:gd name="connsiteX2" fmla="*/ 0 w 4970737"/>
              <a:gd name="connsiteY2" fmla="*/ 0 h 5036942"/>
              <a:gd name="connsiteX3" fmla="*/ 4970737 w 4970737"/>
              <a:gd name="connsiteY3" fmla="*/ 2901950 h 5036942"/>
              <a:gd name="connsiteX4" fmla="*/ 4969058 w 4970737"/>
              <a:gd name="connsiteY4" fmla="*/ 5036942 h 5036942"/>
              <a:gd name="connsiteX5" fmla="*/ 2081121 w 4970737"/>
              <a:gd name="connsiteY5" fmla="*/ 5036942 h 5036942"/>
              <a:gd name="connsiteX0" fmla="*/ 2076279 w 4965895"/>
              <a:gd name="connsiteY0" fmla="*/ 4979792 h 4979792"/>
              <a:gd name="connsiteX1" fmla="*/ 196 w 4965895"/>
              <a:gd name="connsiteY1" fmla="*/ 3792342 h 4979792"/>
              <a:gd name="connsiteX2" fmla="*/ 6588 w 4965895"/>
              <a:gd name="connsiteY2" fmla="*/ 0 h 4979792"/>
              <a:gd name="connsiteX3" fmla="*/ 4965895 w 4965895"/>
              <a:gd name="connsiteY3" fmla="*/ 2844800 h 4979792"/>
              <a:gd name="connsiteX4" fmla="*/ 4964216 w 4965895"/>
              <a:gd name="connsiteY4" fmla="*/ 4979792 h 4979792"/>
              <a:gd name="connsiteX5" fmla="*/ 2076279 w 4965895"/>
              <a:gd name="connsiteY5" fmla="*/ 4979792 h 4979792"/>
              <a:gd name="connsiteX0" fmla="*/ 2076385 w 4966001"/>
              <a:gd name="connsiteY0" fmla="*/ 4983602 h 4983602"/>
              <a:gd name="connsiteX1" fmla="*/ 302 w 4966001"/>
              <a:gd name="connsiteY1" fmla="*/ 3796152 h 4983602"/>
              <a:gd name="connsiteX2" fmla="*/ 2884 w 4966001"/>
              <a:gd name="connsiteY2" fmla="*/ 0 h 4983602"/>
              <a:gd name="connsiteX3" fmla="*/ 4966001 w 4966001"/>
              <a:gd name="connsiteY3" fmla="*/ 2848610 h 4983602"/>
              <a:gd name="connsiteX4" fmla="*/ 4964322 w 4966001"/>
              <a:gd name="connsiteY4" fmla="*/ 4983602 h 4983602"/>
              <a:gd name="connsiteX5" fmla="*/ 2076385 w 4966001"/>
              <a:gd name="connsiteY5" fmla="*/ 4983602 h 4983602"/>
              <a:gd name="connsiteX0" fmla="*/ 2076385 w 4964322"/>
              <a:gd name="connsiteY0" fmla="*/ 7100692 h 7100692"/>
              <a:gd name="connsiteX1" fmla="*/ 302 w 4964322"/>
              <a:gd name="connsiteY1" fmla="*/ 5913242 h 7100692"/>
              <a:gd name="connsiteX2" fmla="*/ 2884 w 4964322"/>
              <a:gd name="connsiteY2" fmla="*/ 2117090 h 7100692"/>
              <a:gd name="connsiteX3" fmla="*/ 4489751 w 4964322"/>
              <a:gd name="connsiteY3" fmla="*/ 0 h 7100692"/>
              <a:gd name="connsiteX4" fmla="*/ 4964322 w 4964322"/>
              <a:gd name="connsiteY4" fmla="*/ 7100692 h 7100692"/>
              <a:gd name="connsiteX5" fmla="*/ 2076385 w 4964322"/>
              <a:gd name="connsiteY5" fmla="*/ 7100692 h 7100692"/>
              <a:gd name="connsiteX0" fmla="*/ 2076385 w 8781942"/>
              <a:gd name="connsiteY0" fmla="*/ 7299796 h 7299796"/>
              <a:gd name="connsiteX1" fmla="*/ 302 w 8781942"/>
              <a:gd name="connsiteY1" fmla="*/ 6112346 h 7299796"/>
              <a:gd name="connsiteX2" fmla="*/ 2884 w 8781942"/>
              <a:gd name="connsiteY2" fmla="*/ 2316194 h 7299796"/>
              <a:gd name="connsiteX3" fmla="*/ 4489751 w 8781942"/>
              <a:gd name="connsiteY3" fmla="*/ 199104 h 7299796"/>
              <a:gd name="connsiteX4" fmla="*/ 8781942 w 8781942"/>
              <a:gd name="connsiteY4" fmla="*/ 205576 h 7299796"/>
              <a:gd name="connsiteX5" fmla="*/ 2076385 w 8781942"/>
              <a:gd name="connsiteY5" fmla="*/ 7299796 h 7299796"/>
              <a:gd name="connsiteX0" fmla="*/ 2076385 w 8781942"/>
              <a:gd name="connsiteY0" fmla="*/ 7414504 h 7414504"/>
              <a:gd name="connsiteX1" fmla="*/ 302 w 8781942"/>
              <a:gd name="connsiteY1" fmla="*/ 6227054 h 7414504"/>
              <a:gd name="connsiteX2" fmla="*/ 2884 w 8781942"/>
              <a:gd name="connsiteY2" fmla="*/ 2430902 h 7414504"/>
              <a:gd name="connsiteX3" fmla="*/ 4489751 w 8781942"/>
              <a:gd name="connsiteY3" fmla="*/ 313812 h 7414504"/>
              <a:gd name="connsiteX4" fmla="*/ 8781942 w 8781942"/>
              <a:gd name="connsiteY4" fmla="*/ 320284 h 7414504"/>
              <a:gd name="connsiteX5" fmla="*/ 2076385 w 8781942"/>
              <a:gd name="connsiteY5" fmla="*/ 7414504 h 7414504"/>
              <a:gd name="connsiteX0" fmla="*/ 2076385 w 8781942"/>
              <a:gd name="connsiteY0" fmla="*/ 7100692 h 7100692"/>
              <a:gd name="connsiteX1" fmla="*/ 302 w 8781942"/>
              <a:gd name="connsiteY1" fmla="*/ 5913242 h 7100692"/>
              <a:gd name="connsiteX2" fmla="*/ 2884 w 8781942"/>
              <a:gd name="connsiteY2" fmla="*/ 2117090 h 7100692"/>
              <a:gd name="connsiteX3" fmla="*/ 4489751 w 8781942"/>
              <a:gd name="connsiteY3" fmla="*/ 0 h 7100692"/>
              <a:gd name="connsiteX4" fmla="*/ 8781942 w 8781942"/>
              <a:gd name="connsiteY4" fmla="*/ 6472 h 7100692"/>
              <a:gd name="connsiteX5" fmla="*/ 2076385 w 8781942"/>
              <a:gd name="connsiteY5" fmla="*/ 7100692 h 7100692"/>
              <a:gd name="connsiteX0" fmla="*/ 8751505 w 8781942"/>
              <a:gd name="connsiteY0" fmla="*/ 5614792 h 5913242"/>
              <a:gd name="connsiteX1" fmla="*/ 302 w 8781942"/>
              <a:gd name="connsiteY1" fmla="*/ 5913242 h 5913242"/>
              <a:gd name="connsiteX2" fmla="*/ 2884 w 8781942"/>
              <a:gd name="connsiteY2" fmla="*/ 2117090 h 5913242"/>
              <a:gd name="connsiteX3" fmla="*/ 4489751 w 8781942"/>
              <a:gd name="connsiteY3" fmla="*/ 0 h 5913242"/>
              <a:gd name="connsiteX4" fmla="*/ 8781942 w 8781942"/>
              <a:gd name="connsiteY4" fmla="*/ 6472 h 5913242"/>
              <a:gd name="connsiteX5" fmla="*/ 8751505 w 8781942"/>
              <a:gd name="connsiteY5" fmla="*/ 5614792 h 5913242"/>
              <a:gd name="connsiteX0" fmla="*/ 8748621 w 8779058"/>
              <a:gd name="connsiteY0" fmla="*/ 5614792 h 5614792"/>
              <a:gd name="connsiteX1" fmla="*/ 149818 w 8779058"/>
              <a:gd name="connsiteY1" fmla="*/ 3246242 h 5614792"/>
              <a:gd name="connsiteX2" fmla="*/ 0 w 8779058"/>
              <a:gd name="connsiteY2" fmla="*/ 2117090 h 5614792"/>
              <a:gd name="connsiteX3" fmla="*/ 4486867 w 8779058"/>
              <a:gd name="connsiteY3" fmla="*/ 0 h 5614792"/>
              <a:gd name="connsiteX4" fmla="*/ 8779058 w 8779058"/>
              <a:gd name="connsiteY4" fmla="*/ 6472 h 5614792"/>
              <a:gd name="connsiteX5" fmla="*/ 8748621 w 8779058"/>
              <a:gd name="connsiteY5" fmla="*/ 5614792 h 5614792"/>
              <a:gd name="connsiteX0" fmla="*/ 8748621 w 8779058"/>
              <a:gd name="connsiteY0" fmla="*/ 5614792 h 5614792"/>
              <a:gd name="connsiteX1" fmla="*/ 12658 w 8779058"/>
              <a:gd name="connsiteY1" fmla="*/ 3985382 h 5614792"/>
              <a:gd name="connsiteX2" fmla="*/ 0 w 8779058"/>
              <a:gd name="connsiteY2" fmla="*/ 2117090 h 5614792"/>
              <a:gd name="connsiteX3" fmla="*/ 4486867 w 8779058"/>
              <a:gd name="connsiteY3" fmla="*/ 0 h 5614792"/>
              <a:gd name="connsiteX4" fmla="*/ 8779058 w 8779058"/>
              <a:gd name="connsiteY4" fmla="*/ 6472 h 5614792"/>
              <a:gd name="connsiteX5" fmla="*/ 8748621 w 8779058"/>
              <a:gd name="connsiteY5" fmla="*/ 5614792 h 5614792"/>
              <a:gd name="connsiteX0" fmla="*/ 8763861 w 8779058"/>
              <a:gd name="connsiteY0" fmla="*/ 5652892 h 5652892"/>
              <a:gd name="connsiteX1" fmla="*/ 12658 w 8779058"/>
              <a:gd name="connsiteY1" fmla="*/ 3985382 h 5652892"/>
              <a:gd name="connsiteX2" fmla="*/ 0 w 8779058"/>
              <a:gd name="connsiteY2" fmla="*/ 2117090 h 5652892"/>
              <a:gd name="connsiteX3" fmla="*/ 4486867 w 8779058"/>
              <a:gd name="connsiteY3" fmla="*/ 0 h 5652892"/>
              <a:gd name="connsiteX4" fmla="*/ 8779058 w 8779058"/>
              <a:gd name="connsiteY4" fmla="*/ 6472 h 5652892"/>
              <a:gd name="connsiteX5" fmla="*/ 8763861 w 8779058"/>
              <a:gd name="connsiteY5" fmla="*/ 5652892 h 565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79058" h="5652892">
                <a:moveTo>
                  <a:pt x="8763861" y="5652892"/>
                </a:moveTo>
                <a:lnTo>
                  <a:pt x="12658" y="3985382"/>
                </a:lnTo>
                <a:cubicBezTo>
                  <a:pt x="10979" y="2308518"/>
                  <a:pt x="1679" y="3793954"/>
                  <a:pt x="0" y="2117090"/>
                </a:cubicBezTo>
                <a:lnTo>
                  <a:pt x="4486867" y="0"/>
                </a:lnTo>
                <a:lnTo>
                  <a:pt x="8779058" y="6472"/>
                </a:lnTo>
                <a:cubicBezTo>
                  <a:pt x="8773992" y="1888612"/>
                  <a:pt x="8768927" y="3770752"/>
                  <a:pt x="8763861" y="5652892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261B74E-7A13-49E3-8746-8B38AEC92648}"/>
              </a:ext>
            </a:extLst>
          </p:cNvPr>
          <p:cNvSpPr/>
          <p:nvPr userDrawn="1"/>
        </p:nvSpPr>
        <p:spPr>
          <a:xfrm>
            <a:off x="0" y="4051279"/>
            <a:ext cx="3420059" cy="2320166"/>
          </a:xfrm>
          <a:custGeom>
            <a:avLst/>
            <a:gdLst>
              <a:gd name="connsiteX0" fmla="*/ 3420059 w 3420059"/>
              <a:gd name="connsiteY0" fmla="*/ 0 h 2320166"/>
              <a:gd name="connsiteX1" fmla="*/ 3420059 w 3420059"/>
              <a:gd name="connsiteY1" fmla="*/ 652471 h 2320166"/>
              <a:gd name="connsiteX2" fmla="*/ 0 w 3420059"/>
              <a:gd name="connsiteY2" fmla="*/ 2320166 h 2320166"/>
              <a:gd name="connsiteX3" fmla="*/ 0 w 3420059"/>
              <a:gd name="connsiteY3" fmla="*/ 968871 h 2320166"/>
              <a:gd name="connsiteX4" fmla="*/ 3420059 w 3420059"/>
              <a:gd name="connsiteY4" fmla="*/ 0 h 2320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0059" h="2320166">
                <a:moveTo>
                  <a:pt x="3420059" y="0"/>
                </a:moveTo>
                <a:lnTo>
                  <a:pt x="3420059" y="652471"/>
                </a:lnTo>
                <a:lnTo>
                  <a:pt x="0" y="2320166"/>
                </a:lnTo>
                <a:lnTo>
                  <a:pt x="0" y="968871"/>
                </a:lnTo>
                <a:lnTo>
                  <a:pt x="342005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6BB36B2F-64BC-4136-9BF7-40926A03CDED}"/>
              </a:ext>
            </a:extLst>
          </p:cNvPr>
          <p:cNvSpPr/>
          <p:nvPr userDrawn="1"/>
        </p:nvSpPr>
        <p:spPr>
          <a:xfrm>
            <a:off x="3420061" y="4051278"/>
            <a:ext cx="8771939" cy="2806722"/>
          </a:xfrm>
          <a:custGeom>
            <a:avLst/>
            <a:gdLst>
              <a:gd name="connsiteX0" fmla="*/ 0 w 8748789"/>
              <a:gd name="connsiteY0" fmla="*/ 0 h 2806722"/>
              <a:gd name="connsiteX1" fmla="*/ 8748789 w 8748789"/>
              <a:gd name="connsiteY1" fmla="*/ 1646811 h 2806722"/>
              <a:gd name="connsiteX2" fmla="*/ 8748789 w 8748789"/>
              <a:gd name="connsiteY2" fmla="*/ 2806722 h 2806722"/>
              <a:gd name="connsiteX3" fmla="*/ 6691228 w 8748789"/>
              <a:gd name="connsiteY3" fmla="*/ 2806722 h 2806722"/>
              <a:gd name="connsiteX4" fmla="*/ 0 w 8748789"/>
              <a:gd name="connsiteY4" fmla="*/ 652471 h 2806722"/>
              <a:gd name="connsiteX5" fmla="*/ 0 w 8748789"/>
              <a:gd name="connsiteY5" fmla="*/ 0 h 28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48789" h="2806722">
                <a:moveTo>
                  <a:pt x="0" y="0"/>
                </a:moveTo>
                <a:lnTo>
                  <a:pt x="8748789" y="1646811"/>
                </a:lnTo>
                <a:lnTo>
                  <a:pt x="8748789" y="2806722"/>
                </a:lnTo>
                <a:lnTo>
                  <a:pt x="6691228" y="2806722"/>
                </a:lnTo>
                <a:lnTo>
                  <a:pt x="0" y="65247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783D4C-B068-43AD-88C9-A0D18B249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7418" y="1917677"/>
            <a:ext cx="3420060" cy="2133601"/>
          </a:xfrm>
          <a:ln>
            <a:noFill/>
          </a:ln>
        </p:spPr>
        <p:txBody>
          <a:bodyPr anchor="ctr">
            <a:normAutofit/>
          </a:bodyPr>
          <a:lstStyle>
            <a:lvl1pPr algn="l" rtl="0">
              <a:defRPr sz="44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0B576E-C92F-4D11-B808-A254F96182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62" y="6226133"/>
            <a:ext cx="2546134" cy="419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125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76DB5-560F-48C2-99AB-92ED4EF6A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 rt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945DE-B0FD-4F5F-8D6A-A1C2F34B6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l" rtl="0">
              <a:defRPr/>
            </a:lvl1pPr>
            <a:lvl2pPr algn="l" rtl="0">
              <a:defRPr/>
            </a:lvl2pPr>
            <a:lvl3pPr algn="l" rtl="0">
              <a:defRPr/>
            </a:lvl3pPr>
            <a:lvl4pPr algn="l" rtl="0">
              <a:defRPr/>
            </a:lvl4pPr>
            <a:lvl5pPr algn="l" rtl="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80DDC-D156-41FC-BF24-CEC527379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A052B-A0ED-42E3-A42D-476CBA669A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074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096BB9A-53E7-4A37-94D7-E42C242891A9}"/>
              </a:ext>
            </a:extLst>
          </p:cNvPr>
          <p:cNvSpPr/>
          <p:nvPr userDrawn="1"/>
        </p:nvSpPr>
        <p:spPr>
          <a:xfrm>
            <a:off x="0" y="6300853"/>
            <a:ext cx="12192000" cy="5571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F64ECA8-1154-4672-BB2B-99174CD5C17C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custGeom>
            <a:avLst/>
            <a:gdLst>
              <a:gd name="connsiteX0" fmla="*/ 5223846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4098880 h 6858000"/>
              <a:gd name="connsiteX3" fmla="*/ 7413064 w 12192000"/>
              <a:gd name="connsiteY3" fmla="*/ 6858000 h 6858000"/>
              <a:gd name="connsiteX4" fmla="*/ 0 w 12192000"/>
              <a:gd name="connsiteY4" fmla="*/ 6858000 h 6858000"/>
              <a:gd name="connsiteX5" fmla="*/ 0 w 12192000"/>
              <a:gd name="connsiteY5" fmla="*/ 3015989 h 6858000"/>
              <a:gd name="connsiteX6" fmla="*/ 5223846 w 12192000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5223846" y="0"/>
                </a:moveTo>
                <a:lnTo>
                  <a:pt x="12192000" y="0"/>
                </a:lnTo>
                <a:lnTo>
                  <a:pt x="12192000" y="4098880"/>
                </a:lnTo>
                <a:lnTo>
                  <a:pt x="7413064" y="6858000"/>
                </a:lnTo>
                <a:lnTo>
                  <a:pt x="0" y="6858000"/>
                </a:lnTo>
                <a:lnTo>
                  <a:pt x="0" y="3015989"/>
                </a:lnTo>
                <a:lnTo>
                  <a:pt x="5223846" y="0"/>
                </a:lnTo>
                <a:close/>
              </a:path>
            </a:pathLst>
          </a:custGeom>
          <a:solidFill>
            <a:schemeClr val="accent6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80DDC-D156-41FC-BF24-CEC527379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A052B-A0ED-42E3-A42D-476CBA669AF3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D76DB5-560F-48C2-99AB-92ED4EF6A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 rt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945DE-B0FD-4F5F-8D6A-A1C2F34B6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l" rtl="0">
              <a:defRPr/>
            </a:lvl1pPr>
            <a:lvl2pPr algn="l" rtl="0">
              <a:defRPr/>
            </a:lvl2pPr>
            <a:lvl3pPr algn="l" rtl="0">
              <a:defRPr/>
            </a:lvl3pPr>
            <a:lvl4pPr algn="l" rtl="0">
              <a:defRPr/>
            </a:lvl4pPr>
            <a:lvl5pPr algn="l" rtl="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E93B1D-04FF-4AE0-8FCF-B84FF49C05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138"/>
          <a:stretch/>
        </p:blipFill>
        <p:spPr>
          <a:xfrm>
            <a:off x="11664329" y="6460753"/>
            <a:ext cx="388458" cy="33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576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1EA2A55B-5DD4-4E36-BA2F-504C41D373A2}"/>
              </a:ext>
            </a:extLst>
          </p:cNvPr>
          <p:cNvSpPr/>
          <p:nvPr userDrawn="1"/>
        </p:nvSpPr>
        <p:spPr>
          <a:xfrm>
            <a:off x="-11428" y="0"/>
            <a:ext cx="822959" cy="2397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9C5342F6-5698-42A0-9F8B-85DB62BA5C23}"/>
              </a:ext>
            </a:extLst>
          </p:cNvPr>
          <p:cNvSpPr/>
          <p:nvPr userDrawn="1"/>
        </p:nvSpPr>
        <p:spPr>
          <a:xfrm flipH="1">
            <a:off x="3" y="467282"/>
            <a:ext cx="12191999" cy="5740272"/>
          </a:xfrm>
          <a:custGeom>
            <a:avLst/>
            <a:gdLst>
              <a:gd name="connsiteX0" fmla="*/ 12191999 w 12191999"/>
              <a:gd name="connsiteY0" fmla="*/ 0 h 5740272"/>
              <a:gd name="connsiteX1" fmla="*/ 12191999 w 12191999"/>
              <a:gd name="connsiteY1" fmla="*/ 3048077 h 5740272"/>
              <a:gd name="connsiteX2" fmla="*/ 12191999 w 12191999"/>
              <a:gd name="connsiteY2" fmla="*/ 5465875 h 5740272"/>
              <a:gd name="connsiteX3" fmla="*/ 12191999 w 12191999"/>
              <a:gd name="connsiteY3" fmla="*/ 5740272 h 5740272"/>
              <a:gd name="connsiteX4" fmla="*/ 0 w 12191999"/>
              <a:gd name="connsiteY4" fmla="*/ 5740272 h 5740272"/>
              <a:gd name="connsiteX5" fmla="*/ 0 w 12191999"/>
              <a:gd name="connsiteY5" fmla="*/ 5465875 h 5740272"/>
              <a:gd name="connsiteX6" fmla="*/ 0 w 12191999"/>
              <a:gd name="connsiteY6" fmla="*/ 5465875 h 5740272"/>
              <a:gd name="connsiteX7" fmla="*/ 0 w 12191999"/>
              <a:gd name="connsiteY7" fmla="*/ 2025264 h 5740272"/>
              <a:gd name="connsiteX8" fmla="*/ 3597180 w 12191999"/>
              <a:gd name="connsiteY8" fmla="*/ 0 h 5740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1999" h="5740272">
                <a:moveTo>
                  <a:pt x="12191999" y="0"/>
                </a:moveTo>
                <a:lnTo>
                  <a:pt x="12191999" y="3048077"/>
                </a:lnTo>
                <a:lnTo>
                  <a:pt x="12191999" y="5465875"/>
                </a:lnTo>
                <a:lnTo>
                  <a:pt x="12191999" y="5740272"/>
                </a:lnTo>
                <a:lnTo>
                  <a:pt x="0" y="5740272"/>
                </a:lnTo>
                <a:lnTo>
                  <a:pt x="0" y="5465875"/>
                </a:lnTo>
                <a:lnTo>
                  <a:pt x="0" y="5465875"/>
                </a:lnTo>
                <a:lnTo>
                  <a:pt x="0" y="2025264"/>
                </a:lnTo>
                <a:lnTo>
                  <a:pt x="3597180" y="0"/>
                </a:lnTo>
                <a:close/>
              </a:path>
            </a:pathLst>
          </a:custGeom>
          <a:solidFill>
            <a:schemeClr val="accent6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E8F226-88EC-43C8-A1A1-A1E541172431}"/>
              </a:ext>
            </a:extLst>
          </p:cNvPr>
          <p:cNvCxnSpPr>
            <a:cxnSpLocks/>
          </p:cNvCxnSpPr>
          <p:nvPr userDrawn="1"/>
        </p:nvCxnSpPr>
        <p:spPr>
          <a:xfrm>
            <a:off x="0" y="831335"/>
            <a:ext cx="468337" cy="5571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8C527EE7-8E22-4E9C-BAB8-D178339EBA15}"/>
              </a:ext>
            </a:extLst>
          </p:cNvPr>
          <p:cNvSpPr/>
          <p:nvPr userDrawn="1"/>
        </p:nvSpPr>
        <p:spPr>
          <a:xfrm flipH="1">
            <a:off x="9377259" y="1"/>
            <a:ext cx="2086880" cy="1907855"/>
          </a:xfrm>
          <a:custGeom>
            <a:avLst/>
            <a:gdLst>
              <a:gd name="connsiteX0" fmla="*/ 1477382 w 2086880"/>
              <a:gd name="connsiteY0" fmla="*/ 0 h 1907855"/>
              <a:gd name="connsiteX1" fmla="*/ 2086880 w 2086880"/>
              <a:gd name="connsiteY1" fmla="*/ 0 h 1907855"/>
              <a:gd name="connsiteX2" fmla="*/ 2086880 w 2086880"/>
              <a:gd name="connsiteY2" fmla="*/ 732912 h 1907855"/>
              <a:gd name="connsiteX3" fmla="*/ 0 w 2086880"/>
              <a:gd name="connsiteY3" fmla="*/ 1907855 h 1907855"/>
              <a:gd name="connsiteX4" fmla="*/ 0 w 2086880"/>
              <a:gd name="connsiteY4" fmla="*/ 831787 h 1907855"/>
              <a:gd name="connsiteX5" fmla="*/ 1477382 w 2086880"/>
              <a:gd name="connsiteY5" fmla="*/ 0 h 1907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86880" h="1907855">
                <a:moveTo>
                  <a:pt x="1477382" y="0"/>
                </a:moveTo>
                <a:lnTo>
                  <a:pt x="2086880" y="0"/>
                </a:lnTo>
                <a:lnTo>
                  <a:pt x="2086880" y="732912"/>
                </a:lnTo>
                <a:lnTo>
                  <a:pt x="0" y="1907855"/>
                </a:lnTo>
                <a:lnTo>
                  <a:pt x="0" y="831787"/>
                </a:lnTo>
                <a:lnTo>
                  <a:pt x="1477382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96BB9A-53E7-4A37-94D7-E42C242891A9}"/>
              </a:ext>
            </a:extLst>
          </p:cNvPr>
          <p:cNvSpPr/>
          <p:nvPr userDrawn="1"/>
        </p:nvSpPr>
        <p:spPr>
          <a:xfrm>
            <a:off x="0" y="6300853"/>
            <a:ext cx="12192000" cy="5571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D76DB5-560F-48C2-99AB-92ED4EF6A1D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00100" y="862965"/>
            <a:ext cx="10725016" cy="773333"/>
          </a:xfrm>
        </p:spPr>
        <p:txBody>
          <a:bodyPr/>
          <a:lstStyle>
            <a:lvl1pPr algn="l" rt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945DE-B0FD-4F5F-8D6A-A1C2F34B67F9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800100" y="1823746"/>
            <a:ext cx="10725016" cy="4018254"/>
          </a:xfrm>
        </p:spPr>
        <p:txBody>
          <a:bodyPr/>
          <a:lstStyle>
            <a:lvl1pPr algn="l" rtl="0">
              <a:defRPr/>
            </a:lvl1pPr>
            <a:lvl2pPr algn="l" rtl="0">
              <a:defRPr/>
            </a:lvl2pPr>
            <a:lvl3pPr algn="l" rtl="0">
              <a:defRPr/>
            </a:lvl3pPr>
            <a:lvl4pPr algn="l" rtl="0">
              <a:defRPr/>
            </a:lvl4pPr>
            <a:lvl5pPr algn="l" rtl="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80DDC-D156-41FC-BF24-CEC527379919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7A6A052B-A0ED-42E3-A42D-476CBA669AF3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11DAA04-AA50-488A-954C-979B9C2785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138"/>
          <a:stretch/>
        </p:blipFill>
        <p:spPr>
          <a:xfrm>
            <a:off x="11664329" y="6460753"/>
            <a:ext cx="388458" cy="33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281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76DB5-560F-48C2-99AB-92ED4EF6A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 rt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945DE-B0FD-4F5F-8D6A-A1C2F34B6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1672590"/>
            <a:ext cx="10725016" cy="4499610"/>
          </a:xfrm>
        </p:spPr>
        <p:txBody>
          <a:bodyPr/>
          <a:lstStyle>
            <a:lvl1pPr algn="l" rtl="0">
              <a:defRPr/>
            </a:lvl1pPr>
            <a:lvl2pPr algn="l" rtl="0">
              <a:defRPr/>
            </a:lvl2pPr>
            <a:lvl3pPr algn="l" rtl="0">
              <a:defRPr/>
            </a:lvl3pPr>
            <a:lvl4pPr algn="l" rtl="0">
              <a:defRPr/>
            </a:lvl4pPr>
            <a:lvl5pPr algn="l" rtl="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80DDC-D156-41FC-BF24-CEC527379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A052B-A0ED-42E3-A42D-476CBA669AF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5780D81-FF11-42C2-99A2-166C01448A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0100" y="987646"/>
            <a:ext cx="10725150" cy="350202"/>
          </a:xfrm>
        </p:spPr>
        <p:txBody>
          <a:bodyPr tIns="0">
            <a:noAutofit/>
          </a:bodyPr>
          <a:lstStyle>
            <a:lvl1pPr marL="0" indent="0" rtl="0"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53342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096BB9A-53E7-4A37-94D7-E42C242891A9}"/>
              </a:ext>
            </a:extLst>
          </p:cNvPr>
          <p:cNvSpPr/>
          <p:nvPr userDrawn="1"/>
        </p:nvSpPr>
        <p:spPr>
          <a:xfrm>
            <a:off x="0" y="6300853"/>
            <a:ext cx="12192000" cy="5571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80DDC-D156-41FC-BF24-CEC527379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A052B-A0ED-42E3-A42D-476CBA669AF3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F64ECA8-1154-4672-BB2B-99174CD5C17C}"/>
              </a:ext>
            </a:extLst>
          </p:cNvPr>
          <p:cNvSpPr/>
          <p:nvPr userDrawn="1"/>
        </p:nvSpPr>
        <p:spPr>
          <a:xfrm flipH="1">
            <a:off x="2" y="0"/>
            <a:ext cx="12192000" cy="6858000"/>
          </a:xfrm>
          <a:custGeom>
            <a:avLst/>
            <a:gdLst>
              <a:gd name="connsiteX0" fmla="*/ 5223846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4098880 h 6858000"/>
              <a:gd name="connsiteX3" fmla="*/ 7413064 w 12192000"/>
              <a:gd name="connsiteY3" fmla="*/ 6858000 h 6858000"/>
              <a:gd name="connsiteX4" fmla="*/ 0 w 12192000"/>
              <a:gd name="connsiteY4" fmla="*/ 6858000 h 6858000"/>
              <a:gd name="connsiteX5" fmla="*/ 0 w 12192000"/>
              <a:gd name="connsiteY5" fmla="*/ 3015989 h 6858000"/>
              <a:gd name="connsiteX6" fmla="*/ 5223846 w 12192000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5223846" y="0"/>
                </a:moveTo>
                <a:lnTo>
                  <a:pt x="12192000" y="0"/>
                </a:lnTo>
                <a:lnTo>
                  <a:pt x="12192000" y="4098880"/>
                </a:lnTo>
                <a:lnTo>
                  <a:pt x="7413064" y="6858000"/>
                </a:lnTo>
                <a:lnTo>
                  <a:pt x="0" y="6858000"/>
                </a:lnTo>
                <a:lnTo>
                  <a:pt x="0" y="3015989"/>
                </a:lnTo>
                <a:lnTo>
                  <a:pt x="5223846" y="0"/>
                </a:lnTo>
                <a:close/>
              </a:path>
            </a:pathLst>
          </a:custGeom>
          <a:solidFill>
            <a:schemeClr val="accent6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E8F226-88EC-43C8-A1A1-A1E541172431}"/>
              </a:ext>
            </a:extLst>
          </p:cNvPr>
          <p:cNvCxnSpPr>
            <a:cxnSpLocks/>
          </p:cNvCxnSpPr>
          <p:nvPr userDrawn="1"/>
        </p:nvCxnSpPr>
        <p:spPr>
          <a:xfrm>
            <a:off x="0" y="333495"/>
            <a:ext cx="468337" cy="5571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AD76DB5-560F-48C2-99AB-92ED4EF6A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 rt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945DE-B0FD-4F5F-8D6A-A1C2F34B6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1672590"/>
            <a:ext cx="10725016" cy="4499610"/>
          </a:xfrm>
        </p:spPr>
        <p:txBody>
          <a:bodyPr/>
          <a:lstStyle>
            <a:lvl1pPr algn="l" rtl="0">
              <a:defRPr/>
            </a:lvl1pPr>
            <a:lvl2pPr algn="l" rtl="0">
              <a:defRPr/>
            </a:lvl2pPr>
            <a:lvl3pPr algn="l" rtl="0">
              <a:defRPr/>
            </a:lvl3pPr>
            <a:lvl4pPr algn="l" rtl="0">
              <a:defRPr/>
            </a:lvl4pPr>
            <a:lvl5pPr algn="l" rtl="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4E63467-157A-4167-AEE0-FCE02C5B8F38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800100" y="987646"/>
            <a:ext cx="10725150" cy="452534"/>
          </a:xfrm>
        </p:spPr>
        <p:txBody>
          <a:bodyPr tIns="0">
            <a:noAutofit/>
          </a:bodyPr>
          <a:lstStyle>
            <a:lvl1pPr marL="0" indent="0" rtl="0"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68A2D66-2A1C-43F9-B8EE-F2ECB9D67C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138"/>
          <a:stretch/>
        </p:blipFill>
        <p:spPr>
          <a:xfrm>
            <a:off x="11664329" y="6460753"/>
            <a:ext cx="388458" cy="33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636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1EA2A55B-5DD4-4E36-BA2F-504C41D373A2}"/>
              </a:ext>
            </a:extLst>
          </p:cNvPr>
          <p:cNvSpPr/>
          <p:nvPr userDrawn="1"/>
        </p:nvSpPr>
        <p:spPr>
          <a:xfrm>
            <a:off x="0" y="0"/>
            <a:ext cx="822959" cy="2397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96BB9A-53E7-4A37-94D7-E42C242891A9}"/>
              </a:ext>
            </a:extLst>
          </p:cNvPr>
          <p:cNvSpPr/>
          <p:nvPr userDrawn="1"/>
        </p:nvSpPr>
        <p:spPr>
          <a:xfrm>
            <a:off x="0" y="6300853"/>
            <a:ext cx="12192000" cy="5571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80DDC-D156-41FC-BF24-CEC527379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A052B-A0ED-42E3-A42D-476CBA669AF3}" type="slidenum">
              <a:rPr lang="en-US" smtClean="0"/>
              <a:t>‹#›</a:t>
            </a:fld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9C5342F6-5698-42A0-9F8B-85DB62BA5C23}"/>
              </a:ext>
            </a:extLst>
          </p:cNvPr>
          <p:cNvSpPr/>
          <p:nvPr userDrawn="1"/>
        </p:nvSpPr>
        <p:spPr>
          <a:xfrm flipH="1">
            <a:off x="3" y="467282"/>
            <a:ext cx="12191999" cy="5740272"/>
          </a:xfrm>
          <a:custGeom>
            <a:avLst/>
            <a:gdLst>
              <a:gd name="connsiteX0" fmla="*/ 12191999 w 12191999"/>
              <a:gd name="connsiteY0" fmla="*/ 0 h 5740272"/>
              <a:gd name="connsiteX1" fmla="*/ 12191999 w 12191999"/>
              <a:gd name="connsiteY1" fmla="*/ 3048077 h 5740272"/>
              <a:gd name="connsiteX2" fmla="*/ 12191999 w 12191999"/>
              <a:gd name="connsiteY2" fmla="*/ 5465875 h 5740272"/>
              <a:gd name="connsiteX3" fmla="*/ 12191999 w 12191999"/>
              <a:gd name="connsiteY3" fmla="*/ 5740272 h 5740272"/>
              <a:gd name="connsiteX4" fmla="*/ 0 w 12191999"/>
              <a:gd name="connsiteY4" fmla="*/ 5740272 h 5740272"/>
              <a:gd name="connsiteX5" fmla="*/ 0 w 12191999"/>
              <a:gd name="connsiteY5" fmla="*/ 5465875 h 5740272"/>
              <a:gd name="connsiteX6" fmla="*/ 0 w 12191999"/>
              <a:gd name="connsiteY6" fmla="*/ 5465875 h 5740272"/>
              <a:gd name="connsiteX7" fmla="*/ 0 w 12191999"/>
              <a:gd name="connsiteY7" fmla="*/ 2025264 h 5740272"/>
              <a:gd name="connsiteX8" fmla="*/ 3597180 w 12191999"/>
              <a:gd name="connsiteY8" fmla="*/ 0 h 5740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1999" h="5740272">
                <a:moveTo>
                  <a:pt x="12191999" y="0"/>
                </a:moveTo>
                <a:lnTo>
                  <a:pt x="12191999" y="3048077"/>
                </a:lnTo>
                <a:lnTo>
                  <a:pt x="12191999" y="5465875"/>
                </a:lnTo>
                <a:lnTo>
                  <a:pt x="12191999" y="5740272"/>
                </a:lnTo>
                <a:lnTo>
                  <a:pt x="0" y="5740272"/>
                </a:lnTo>
                <a:lnTo>
                  <a:pt x="0" y="5465875"/>
                </a:lnTo>
                <a:lnTo>
                  <a:pt x="0" y="5465875"/>
                </a:lnTo>
                <a:lnTo>
                  <a:pt x="0" y="2025264"/>
                </a:lnTo>
                <a:lnTo>
                  <a:pt x="3597180" y="0"/>
                </a:lnTo>
                <a:close/>
              </a:path>
            </a:pathLst>
          </a:custGeom>
          <a:solidFill>
            <a:schemeClr val="accent6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E8F226-88EC-43C8-A1A1-A1E541172431}"/>
              </a:ext>
            </a:extLst>
          </p:cNvPr>
          <p:cNvCxnSpPr>
            <a:cxnSpLocks/>
          </p:cNvCxnSpPr>
          <p:nvPr userDrawn="1"/>
        </p:nvCxnSpPr>
        <p:spPr>
          <a:xfrm>
            <a:off x="0" y="831335"/>
            <a:ext cx="468337" cy="5571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8C527EE7-8E22-4E9C-BAB8-D178339EBA15}"/>
              </a:ext>
            </a:extLst>
          </p:cNvPr>
          <p:cNvSpPr/>
          <p:nvPr userDrawn="1"/>
        </p:nvSpPr>
        <p:spPr>
          <a:xfrm flipH="1">
            <a:off x="9377259" y="1"/>
            <a:ext cx="2086880" cy="1907855"/>
          </a:xfrm>
          <a:custGeom>
            <a:avLst/>
            <a:gdLst>
              <a:gd name="connsiteX0" fmla="*/ 1477382 w 2086880"/>
              <a:gd name="connsiteY0" fmla="*/ 0 h 1907855"/>
              <a:gd name="connsiteX1" fmla="*/ 2086880 w 2086880"/>
              <a:gd name="connsiteY1" fmla="*/ 0 h 1907855"/>
              <a:gd name="connsiteX2" fmla="*/ 2086880 w 2086880"/>
              <a:gd name="connsiteY2" fmla="*/ 732912 h 1907855"/>
              <a:gd name="connsiteX3" fmla="*/ 0 w 2086880"/>
              <a:gd name="connsiteY3" fmla="*/ 1907855 h 1907855"/>
              <a:gd name="connsiteX4" fmla="*/ 0 w 2086880"/>
              <a:gd name="connsiteY4" fmla="*/ 831787 h 1907855"/>
              <a:gd name="connsiteX5" fmla="*/ 1477382 w 2086880"/>
              <a:gd name="connsiteY5" fmla="*/ 0 h 1907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86880" h="1907855">
                <a:moveTo>
                  <a:pt x="1477382" y="0"/>
                </a:moveTo>
                <a:lnTo>
                  <a:pt x="2086880" y="0"/>
                </a:lnTo>
                <a:lnTo>
                  <a:pt x="2086880" y="732912"/>
                </a:lnTo>
                <a:lnTo>
                  <a:pt x="0" y="1907855"/>
                </a:lnTo>
                <a:lnTo>
                  <a:pt x="0" y="831787"/>
                </a:lnTo>
                <a:lnTo>
                  <a:pt x="1477382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D76DB5-560F-48C2-99AB-92ED4EF6A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862965"/>
            <a:ext cx="10725016" cy="773333"/>
          </a:xfrm>
        </p:spPr>
        <p:txBody>
          <a:bodyPr/>
          <a:lstStyle>
            <a:lvl1pPr algn="l" rt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945DE-B0FD-4F5F-8D6A-A1C2F34B6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2176802"/>
            <a:ext cx="10725016" cy="3665198"/>
          </a:xfrm>
        </p:spPr>
        <p:txBody>
          <a:bodyPr/>
          <a:lstStyle>
            <a:lvl1pPr algn="l" rtl="0">
              <a:defRPr/>
            </a:lvl1pPr>
            <a:lvl2pPr algn="l" rtl="0">
              <a:defRPr/>
            </a:lvl2pPr>
            <a:lvl3pPr algn="l" rtl="0">
              <a:defRPr/>
            </a:lvl3pPr>
            <a:lvl4pPr algn="l" rtl="0">
              <a:defRPr/>
            </a:lvl4pPr>
            <a:lvl5pPr algn="l" rtl="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97579E2-58B1-459D-A017-1723E0ED9C08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800100" y="1484113"/>
            <a:ext cx="10797387" cy="350202"/>
          </a:xfrm>
        </p:spPr>
        <p:txBody>
          <a:bodyPr tIns="0">
            <a:noAutofit/>
          </a:bodyPr>
          <a:lstStyle>
            <a:lvl1pPr marL="0" indent="0" rtl="0"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3EF23D2-0054-4016-9506-7B70C2F391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138"/>
          <a:stretch/>
        </p:blipFill>
        <p:spPr>
          <a:xfrm>
            <a:off x="11664329" y="6460753"/>
            <a:ext cx="388458" cy="33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057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54A2C8-9E7C-4C11-A1DE-01ADB50FB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1" y="365125"/>
            <a:ext cx="10725016" cy="7733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D18C2B-F939-431F-936A-7A8A0D2E2D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0100" y="1325906"/>
            <a:ext cx="10725016" cy="48462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06B1C-3FA0-472A-83FD-87D1C9071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00440"/>
            <a:ext cx="6668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6A052B-A0ED-42E3-A42D-476CBA669AF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79AFB01-3913-4795-BE83-D0515199F7EB}"/>
              </a:ext>
            </a:extLst>
          </p:cNvPr>
          <p:cNvCxnSpPr>
            <a:cxnSpLocks/>
          </p:cNvCxnSpPr>
          <p:nvPr userDrawn="1"/>
        </p:nvCxnSpPr>
        <p:spPr>
          <a:xfrm>
            <a:off x="0" y="333495"/>
            <a:ext cx="468337" cy="5571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71CAB1EE-DE80-4A6B-B539-0E3367539F77}"/>
              </a:ext>
            </a:extLst>
          </p:cNvPr>
          <p:cNvSpPr/>
          <p:nvPr userDrawn="1"/>
        </p:nvSpPr>
        <p:spPr>
          <a:xfrm>
            <a:off x="666884" y="6405022"/>
            <a:ext cx="10858232" cy="4529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E022E5-3E75-4081-94E7-47589D51F7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138"/>
          <a:stretch/>
        </p:blipFill>
        <p:spPr>
          <a:xfrm>
            <a:off x="11664329" y="6460753"/>
            <a:ext cx="388458" cy="33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044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3" r:id="rId5"/>
    <p:sldLayoutId id="2147483666" r:id="rId6"/>
    <p:sldLayoutId id="2147483667" r:id="rId7"/>
    <p:sldLayoutId id="2147483650" r:id="rId8"/>
    <p:sldLayoutId id="2147483664" r:id="rId9"/>
    <p:sldLayoutId id="2147483665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ts val="2600"/>
        </a:lnSpc>
        <a:spcBef>
          <a:spcPts val="1000"/>
        </a:spcBef>
        <a:buClr>
          <a:schemeClr val="accent1"/>
        </a:buClr>
        <a:buSzPct val="120000"/>
        <a:buFont typeface="Assistant" panose="00000500000000000000" pitchFamily="2" charset="-79"/>
        <a:buChar char="\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ts val="2600"/>
        </a:lnSpc>
        <a:spcBef>
          <a:spcPts val="500"/>
        </a:spcBef>
        <a:buClr>
          <a:schemeClr val="tx2"/>
        </a:buClr>
        <a:buFont typeface="Assistant" panose="00000500000000000000" pitchFamily="2" charset="-79"/>
        <a:buChar char="\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ts val="26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ts val="26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ts val="26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B2F18-7E37-4ACB-A0B8-A212F94116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Master - HF Instability Experiments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81C451-F8ED-4EAC-ABA6-A17AB03390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8231" y="3647876"/>
            <a:ext cx="8778240" cy="1519688"/>
          </a:xfrm>
        </p:spPr>
        <p:txBody>
          <a:bodyPr>
            <a:normAutofit/>
          </a:bodyPr>
          <a:lstStyle/>
          <a:p>
            <a:r>
              <a:t>Yakov Elmaleh | Results recorded October 19, 2026</a:t>
            </a:r>
            <a:br/>
            <a:r>
              <a:t>Sprint starting October 8, 2026</a:t>
            </a:r>
          </a:p>
        </p:txBody>
      </p:sp>
    </p:spTree>
    <p:extLst>
      <p:ext uri="{BB962C8B-B14F-4D97-AF65-F5344CB8AC3E}">
        <p14:creationId xmlns:p14="http://schemas.microsoft.com/office/powerpoint/2010/main" val="68435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3000"/>
              <a:t>Experiment overview - this task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68680" y="1417320"/>
          <a:ext cx="10469879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8595360"/>
              </a:tblGrid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This task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Research question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Can semantic representations improve within-project instability prediction?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Training data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Historical #357: Apache, Hyperledger, IntelDAOS, Jira, MariaDB and Qt.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Split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Independent chronological 60% train / 20% validation / 20% test per repository.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Models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ModernBERT + Qwen embeddings; frozen logistic heads and selective LoRA.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Test coverage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6 repositories x 4 absolute word-change thresholds = 24 combinations.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Results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0/24 pass all gates; 10/24 improve AP over matched classical baseline.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Completed outputs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GPU profiles, frozen + fine-tuned candidates, sealed choices, tests and report.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744200" y="6473952"/>
            <a:ext cx="640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2600"/>
              <a:t>HF within-project instability —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298448"/>
            <a:ext cx="3520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9C9EA0"/>
                </a:solidFill>
                <a:latin typeface="Arial"/>
              </a:rPr>
              <a:t>Historical #357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8120" y="1298448"/>
            <a:ext cx="3520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47E1F"/>
                </a:solidFill>
                <a:latin typeface="Arial"/>
              </a:rPr>
              <a:t>HF study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783080"/>
          <a:ext cx="1037844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61188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Data item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Historical #357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HF study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Population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Same 6 repositories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Same rows, order and label hashes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Split / labels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60/20/20 chronological; K=5/10/15/20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Exact archived partitions and labels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Input time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Original pre-sprint fields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Original text; structured ablation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Selection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Classical winner by validation PR area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Validation gates, PR area, then AP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Evaluation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Original, unweighted test distribution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Same test issues; paired comparisons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14400" y="4754880"/>
            <a:ext cx="10378440" cy="868680"/>
          </a:xfrm>
          <a:prstGeom prst="roundRect">
            <a:avLst/>
          </a:prstGeom>
          <a:solidFill>
            <a:srgbClr val="F2F2F2"/>
          </a:solidFill>
          <a:ln>
            <a:solidFill>
              <a:srgbClr val="9C9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864608"/>
            <a:ext cx="1051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7E1F"/>
                </a:solidFill>
                <a:latin typeface="Arial"/>
              </a:rPr>
              <a:t>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4837176"/>
            <a:ext cx="8915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32323"/>
                </a:solidFill>
                <a:latin typeface="Arial"/>
              </a:defRPr>
            </a:pPr>
            <a:r>
              <a:t>• No new Jira collection. Known IntelDAOS boundary timestamp tie is preserved.</a:t>
            </a:r>
          </a:p>
          <a:p>
            <a:pPr>
              <a:spcAft>
                <a:spcPts val="800"/>
              </a:spcAft>
              <a:defRPr sz="1100">
                <a:solidFill>
                  <a:srgbClr val="232323"/>
                </a:solidFill>
                <a:latin typeface="Arial"/>
              </a:defRPr>
            </a:pPr>
            <a:r>
              <a:t>• Thresholds use validation F1; final selections sealed before test evaluation.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73952"/>
            <a:ext cx="640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3000"/>
              <a:t>Final test - target not met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77240" y="1325880"/>
          <a:ext cx="106527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6380"/>
                <a:gridCol w="532638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Agreed test requirement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Passed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AUC-PRC &gt; 0.5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3 / 24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Average precision &gt; positive prevalence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24 / 24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Average precision &gt; matched classical baseline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10 / 24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ROC AUC &gt; 0.5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24 / 24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ALL requirements together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0 / 24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68680" y="5806440"/>
            <a:ext cx="10469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4B4D"/>
                </a:solidFill>
                <a:latin typeface="Arial"/>
              </a:rPr>
              <a:t>All 24 cells are valid. Successful execution is not scientific success.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73952"/>
            <a:ext cx="640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3000"/>
              <a:t>AUC-PRC - all 24 held-out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68680" y="1463040"/>
          <a:ext cx="104698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554480"/>
                <a:gridCol w="1554480"/>
                <a:gridCol w="1554480"/>
                <a:gridCol w="1554480"/>
                <a:gridCol w="2148840"/>
              </a:tblGrid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Repository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5 words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10 words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15 words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20 words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AP wins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32323"/>
                          </a:solidFill>
                          <a:latin typeface="Arial"/>
                        </a:rPr>
                        <a:t>Apache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32323"/>
                          </a:solidFill>
                          <a:latin typeface="Arial"/>
                        </a:rPr>
                        <a:t>0.134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32323"/>
                          </a:solidFill>
                          <a:latin typeface="Arial"/>
                        </a:rPr>
                        <a:t>0.094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32323"/>
                          </a:solidFill>
                          <a:latin typeface="Arial"/>
                        </a:rPr>
                        <a:t>0.082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32323"/>
                          </a:solidFill>
                          <a:latin typeface="Arial"/>
                        </a:rPr>
                        <a:t>0.058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32323"/>
                          </a:solidFill>
                          <a:latin typeface="Arial"/>
                        </a:rPr>
                        <a:t>0/4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32323"/>
                          </a:solidFill>
                          <a:latin typeface="Arial"/>
                        </a:rPr>
                        <a:t>Hyperledger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32323"/>
                          </a:solidFill>
                          <a:latin typeface="Arial"/>
                        </a:rPr>
                        <a:t>0.250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32323"/>
                          </a:solidFill>
                          <a:latin typeface="Arial"/>
                        </a:rPr>
                        <a:t>0.226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32323"/>
                          </a:solidFill>
                          <a:latin typeface="Arial"/>
                        </a:rPr>
                        <a:t>0.218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32323"/>
                          </a:solidFill>
                          <a:latin typeface="Arial"/>
                        </a:rPr>
                        <a:t>0.182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32323"/>
                          </a:solidFill>
                          <a:latin typeface="Arial"/>
                        </a:rPr>
                        <a:t>0/4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32323"/>
                          </a:solidFill>
                          <a:latin typeface="Arial"/>
                        </a:rPr>
                        <a:t>IntelDAOS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32323"/>
                          </a:solidFill>
                          <a:latin typeface="Arial"/>
                        </a:rPr>
                        <a:t>0.270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32323"/>
                          </a:solidFill>
                          <a:latin typeface="Arial"/>
                        </a:rPr>
                        <a:t>0.097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32323"/>
                          </a:solidFill>
                          <a:latin typeface="Arial"/>
                        </a:rPr>
                        <a:t>0.088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32323"/>
                          </a:solidFill>
                          <a:latin typeface="Arial"/>
                        </a:rPr>
                        <a:t>0.115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32323"/>
                          </a:solidFill>
                          <a:latin typeface="Arial"/>
                        </a:rPr>
                        <a:t>2/4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32323"/>
                          </a:solidFill>
                          <a:latin typeface="Arial"/>
                        </a:rPr>
                        <a:t>Jira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32323"/>
                          </a:solidFill>
                          <a:latin typeface="Arial"/>
                        </a:rPr>
                        <a:t>0.565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32323"/>
                          </a:solidFill>
                          <a:latin typeface="Arial"/>
                        </a:rPr>
                        <a:t>0.563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32323"/>
                          </a:solidFill>
                          <a:latin typeface="Arial"/>
                        </a:rPr>
                        <a:t>0.540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32323"/>
                          </a:solidFill>
                          <a:latin typeface="Arial"/>
                        </a:rPr>
                        <a:t>0.244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32323"/>
                          </a:solidFill>
                          <a:latin typeface="Arial"/>
                        </a:rPr>
                        <a:t>1/4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32323"/>
                          </a:solidFill>
                          <a:latin typeface="Arial"/>
                        </a:rPr>
                        <a:t>MariaDB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32323"/>
                          </a:solidFill>
                          <a:latin typeface="Arial"/>
                        </a:rPr>
                        <a:t>0.172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32323"/>
                          </a:solidFill>
                          <a:latin typeface="Arial"/>
                        </a:rPr>
                        <a:t>0.197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32323"/>
                          </a:solidFill>
                          <a:latin typeface="Arial"/>
                        </a:rPr>
                        <a:t>0.135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32323"/>
                          </a:solidFill>
                          <a:latin typeface="Arial"/>
                        </a:rPr>
                        <a:t>0.183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32323"/>
                          </a:solidFill>
                          <a:latin typeface="Arial"/>
                        </a:rPr>
                        <a:t>3/4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509454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32323"/>
                          </a:solidFill>
                          <a:latin typeface="Arial"/>
                        </a:rPr>
                        <a:t>Qt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32323"/>
                          </a:solidFill>
                          <a:latin typeface="Arial"/>
                        </a:rPr>
                        <a:t>0.230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32323"/>
                          </a:solidFill>
                          <a:latin typeface="Arial"/>
                        </a:rPr>
                        <a:t>0.178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32323"/>
                          </a:solidFill>
                          <a:latin typeface="Arial"/>
                        </a:rPr>
                        <a:t>0.147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32323"/>
                          </a:solidFill>
                          <a:latin typeface="Arial"/>
                        </a:rPr>
                        <a:t>0.203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32323"/>
                          </a:solidFill>
                          <a:latin typeface="Arial"/>
                        </a:rPr>
                        <a:t>4/4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68680" y="5806440"/>
            <a:ext cx="10469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4B4D"/>
                </a:solidFill>
                <a:latin typeface="Arial"/>
              </a:rPr>
              <a:t>Only Jira 5/10/15 exceed 0.5 PR area; all three lose AP to their classical comparator.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73952"/>
            <a:ext cx="640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3000"/>
              <a:t>Data Analysis - counts and test prevalence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68680" y="1463040"/>
          <a:ext cx="104698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234440"/>
                <a:gridCol w="1234440"/>
                <a:gridCol w="1234440"/>
                <a:gridCol w="1234440"/>
                <a:gridCol w="1234440"/>
                <a:gridCol w="1234440"/>
                <a:gridCol w="1234440"/>
              </a:tblGrid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Repository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Train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Val.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Test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Pos. 5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Pos. 10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Pos. 15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Pos. 20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32323"/>
                          </a:solidFill>
                          <a:latin typeface="Arial"/>
                        </a:rPr>
                        <a:t>Apache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Arial"/>
                        </a:rPr>
                        <a:t>4,603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Arial"/>
                        </a:rPr>
                        <a:t>1,534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Arial"/>
                        </a:rPr>
                        <a:t>1,535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Arial"/>
                        </a:rPr>
                        <a:t>12.4%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Arial"/>
                        </a:rPr>
                        <a:t>7.7%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Arial"/>
                        </a:rPr>
                        <a:t>5.3%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Arial"/>
                        </a:rPr>
                        <a:t>3.8%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32323"/>
                          </a:solidFill>
                          <a:latin typeface="Arial"/>
                        </a:rPr>
                        <a:t>Hyperledger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Arial"/>
                        </a:rPr>
                        <a:t>2,889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Arial"/>
                        </a:rPr>
                        <a:t>963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Arial"/>
                        </a:rPr>
                        <a:t>964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Arial"/>
                        </a:rPr>
                        <a:t>18.3%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Arial"/>
                        </a:rPr>
                        <a:t>14.7%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Arial"/>
                        </a:rPr>
                        <a:t>12.7%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Arial"/>
                        </a:rPr>
                        <a:t>11.6%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32323"/>
                          </a:solidFill>
                          <a:latin typeface="Arial"/>
                        </a:rPr>
                        <a:t>IntelDAOS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Arial"/>
                        </a:rPr>
                        <a:t>999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Arial"/>
                        </a:rPr>
                        <a:t>334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Arial"/>
                        </a:rPr>
                        <a:t>9.6%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Arial"/>
                        </a:rPr>
                        <a:t>8.7%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Arial"/>
                        </a:rPr>
                        <a:t>7.2%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Arial"/>
                        </a:rPr>
                        <a:t>6.6%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32323"/>
                          </a:solidFill>
                          <a:latin typeface="Arial"/>
                        </a:rPr>
                        <a:t>Jira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Arial"/>
                        </a:rPr>
                        <a:t>944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Arial"/>
                        </a:rPr>
                        <a:t>314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Arial"/>
                        </a:rPr>
                        <a:t>316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Arial"/>
                        </a:rPr>
                        <a:t>53.8%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Arial"/>
                        </a:rPr>
                        <a:t>51.9%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Arial"/>
                        </a:rPr>
                        <a:t>50.6%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Arial"/>
                        </a:rPr>
                        <a:t>13.0%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32323"/>
                          </a:solidFill>
                          <a:latin typeface="Arial"/>
                        </a:rPr>
                        <a:t>MariaDB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Arial"/>
                        </a:rPr>
                        <a:t>1,189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Arial"/>
                        </a:rPr>
                        <a:t>396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Arial"/>
                        </a:rPr>
                        <a:t>398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Arial"/>
                        </a:rPr>
                        <a:t>15.3%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Arial"/>
                        </a:rPr>
                        <a:t>11.1%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Arial"/>
                        </a:rPr>
                        <a:t>8.3%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Arial"/>
                        </a:rPr>
                        <a:t>7.0%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509454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32323"/>
                          </a:solidFill>
                          <a:latin typeface="Arial"/>
                        </a:rPr>
                        <a:t>Qt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Arial"/>
                        </a:rPr>
                        <a:t>3,666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Arial"/>
                        </a:rPr>
                        <a:t>1,222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Arial"/>
                        </a:rPr>
                        <a:t>1,223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Arial"/>
                        </a:rPr>
                        <a:t>9.6%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Arial"/>
                        </a:rPr>
                        <a:t>4.9%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Arial"/>
                        </a:rPr>
                        <a:t>3.5%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323"/>
                          </a:solidFill>
                          <a:latin typeface="Arial"/>
                        </a:rPr>
                        <a:t>2.8%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68680" y="5806440"/>
            <a:ext cx="10469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4B4D"/>
                </a:solidFill>
                <a:latin typeface="Arial"/>
              </a:rPr>
              <a:t>The same test issues are relabeled at each threshold. Levels are changed words, not percentages.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73952"/>
            <a:ext cx="640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3000"/>
              <a:t>Apache - selected models and test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68680" y="1508760"/>
          <a:ext cx="104698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1417320"/>
                <a:gridCol w="1188720"/>
                <a:gridCol w="1783080"/>
                <a:gridCol w="1554480"/>
                <a:gridCol w="1508760"/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K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Selected model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AUC-PRC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AP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Baseline AP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Accuracy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ROC AUC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ModernBERT</a:t>
                      </a:r>
                    </a:p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LoRA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0.134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0.135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0.194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54.3%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0.531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ModernBERT</a:t>
                      </a:r>
                    </a:p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Frozen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0.094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0.096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0.120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90.3%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0.597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ModernBERT</a:t>
                      </a:r>
                    </a:p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Frozen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0.082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0.084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0.100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94.3%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0.664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ModernBERT</a:t>
                      </a:r>
                    </a:p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Frozen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0.058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0.060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0.080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96.0%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0.667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754880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32323"/>
                </a:solidFill>
                <a:latin typeface="Arial"/>
              </a:rPr>
              <a:t>AP beats baseline in 0/4 cells; all-gate passes: 0/4.
Winner chosen on validation, not on these test scores.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806440"/>
            <a:ext cx="10469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4B4D"/>
                </a:solidFill>
                <a:latin typeface="Arial"/>
              </a:rPr>
              <a:t>K = changed-word threshold. AP differs from PR area; accuracy alone can hide minority-class errors.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473952"/>
            <a:ext cx="640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2600"/>
              <a:t>Hyperledger - selected models and test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68680" y="1508760"/>
          <a:ext cx="104698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1417320"/>
                <a:gridCol w="1188720"/>
                <a:gridCol w="1783080"/>
                <a:gridCol w="1554480"/>
                <a:gridCol w="1508760"/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K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Selected model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AUC-PRC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AP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Baseline AP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Accuracy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ROC AUC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Qwen</a:t>
                      </a:r>
                    </a:p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LoRA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0.250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0.252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0.265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66.1%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0.664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Qwen</a:t>
                      </a:r>
                    </a:p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LoRA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0.226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0.229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0.229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14.7%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0.681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Qwen</a:t>
                      </a:r>
                    </a:p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LoRA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0.218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0.222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0.228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12.7%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0.719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ModernBERT</a:t>
                      </a:r>
                    </a:p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LoRA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0.182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0.186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0.224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11.6%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0.687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754880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32323"/>
                </a:solidFill>
                <a:latin typeface="Arial"/>
              </a:rPr>
              <a:t>AP beats baseline in 0/4 cells; all-gate passes: 0/4.
Winner chosen on validation, not on these test scores.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806440"/>
            <a:ext cx="10469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4B4D"/>
                </a:solidFill>
                <a:latin typeface="Arial"/>
              </a:rPr>
              <a:t>K = changed-word threshold. AP differs from PR area; accuracy alone can hide minority-class errors.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473952"/>
            <a:ext cx="640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2600"/>
              <a:t>IntelDAOS - selected models and test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68680" y="1508760"/>
          <a:ext cx="104698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1417320"/>
                <a:gridCol w="1188720"/>
                <a:gridCol w="1783080"/>
                <a:gridCol w="1554480"/>
                <a:gridCol w="1508760"/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K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Selected model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AUC-PRC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AP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Baseline AP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Accuracy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ROC AUC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Qwen</a:t>
                      </a:r>
                    </a:p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LoRA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0.270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0.289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0.166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79.3%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0.723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Qwen</a:t>
                      </a:r>
                    </a:p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Frozen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0.097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0.103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0.216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68.0%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0.570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Qwen</a:t>
                      </a:r>
                    </a:p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Frozen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0.088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0.095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0.252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79.0%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0.579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Qwen</a:t>
                      </a:r>
                    </a:p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Frozen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0.115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0.123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0.120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93.4%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0.697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754880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32323"/>
                </a:solidFill>
                <a:latin typeface="Arial"/>
              </a:rPr>
              <a:t>AP beats baseline in 2/4 cells; all-gate passes: 0/4.
Winner chosen on validation, not on these test scores.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806440"/>
            <a:ext cx="10469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4B4D"/>
                </a:solidFill>
                <a:latin typeface="Arial"/>
              </a:rPr>
              <a:t>K = changed-word threshold. AP differs from PR area; accuracy alone can hide minority-class errors.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473952"/>
            <a:ext cx="640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3000"/>
              <a:t>Jira - selected models and test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68680" y="1508760"/>
          <a:ext cx="104698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1417320"/>
                <a:gridCol w="1188720"/>
                <a:gridCol w="1783080"/>
                <a:gridCol w="1554480"/>
                <a:gridCol w="1508760"/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K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Selected model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AUC-PRC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AP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Baseline AP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Accuracy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ROC AUC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Qwen</a:t>
                      </a:r>
                    </a:p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Frozen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0.565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0.568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0.579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57.0%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0.618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Qwen</a:t>
                      </a:r>
                    </a:p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Frozen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0.563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0.566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0.576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58.5%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0.643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Qwen</a:t>
                      </a:r>
                    </a:p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Frozen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0.540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0.544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0.552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50.9%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0.626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ModernBERT</a:t>
                      </a:r>
                    </a:p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Frozen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0.244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0.251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0.208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76.9%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0.588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754880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32323"/>
                </a:solidFill>
                <a:latin typeface="Arial"/>
              </a:rPr>
              <a:t>AP beats baseline in 1/4 cells; all-gate passes: 0/4.
Winner chosen on validation, not on these test scores.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806440"/>
            <a:ext cx="10469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4B4D"/>
                </a:solidFill>
                <a:latin typeface="Arial"/>
              </a:rPr>
              <a:t>K = changed-word threshold. AP differs from PR area; accuracy alone can hide minority-class errors.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473952"/>
            <a:ext cx="640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3000"/>
              <a:t>MariaDB - selected models and test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68680" y="1508760"/>
          <a:ext cx="104698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1417320"/>
                <a:gridCol w="1188720"/>
                <a:gridCol w="1783080"/>
                <a:gridCol w="1554480"/>
                <a:gridCol w="1508760"/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K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Selected model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AUC-PRC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AP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Baseline AP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Accuracy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ROC AUC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Qwen</a:t>
                      </a:r>
                    </a:p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Frozen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0.172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0.179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0.205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73.9%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0.542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Qwen</a:t>
                      </a:r>
                    </a:p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LoRA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0.197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0.203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0.165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84.4%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0.684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Qwen</a:t>
                      </a:r>
                    </a:p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Frozen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0.135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0.146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0.113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68.1%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0.650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Qwen</a:t>
                      </a:r>
                    </a:p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Frozen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0.183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0.203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0.133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79.1%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0.738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754880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32323"/>
                </a:solidFill>
                <a:latin typeface="Arial"/>
              </a:rPr>
              <a:t>AP beats baseline in 3/4 cells; all-gate passes: 0/4.
Winner chosen on validation, not on these test scores.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806440"/>
            <a:ext cx="10469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4B4D"/>
                </a:solidFill>
                <a:latin typeface="Arial"/>
              </a:rPr>
              <a:t>K = changed-word threshold. AP differs from PR area; accuracy alone can hide minority-class errors.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473952"/>
            <a:ext cx="640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3000"/>
              <a:t>Qt - selected models and test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68680" y="1508760"/>
          <a:ext cx="104698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1417320"/>
                <a:gridCol w="1188720"/>
                <a:gridCol w="1783080"/>
                <a:gridCol w="1554480"/>
                <a:gridCol w="1508760"/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K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Selected model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AUC-PRC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AP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Baseline AP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Accuracy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ROC AUC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ModernBERT</a:t>
                      </a:r>
                    </a:p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Frozen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0.230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0.236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0.195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70.7%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0.688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Qwen</a:t>
                      </a:r>
                    </a:p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LoRA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0.178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0.184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0.178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88.0%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0.748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Qwen</a:t>
                      </a:r>
                    </a:p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LoRA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0.147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0.160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0.149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95.4%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0.775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Qwen</a:t>
                      </a:r>
                    </a:p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LoRA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0.203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0.213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0.125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96.2%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0.811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754880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32323"/>
                </a:solidFill>
                <a:latin typeface="Arial"/>
              </a:rPr>
              <a:t>AP beats baseline in 4/4 cells; all-gate passes: 0/4.
Winner chosen on validation, not on these test scores.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806440"/>
            <a:ext cx="10469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4B4D"/>
                </a:solidFill>
                <a:latin typeface="Arial"/>
              </a:rPr>
              <a:t>K = changed-word threshold. AP differs from PR area; accuracy alone can hide minority-class errors.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473952"/>
            <a:ext cx="640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2600"/>
              <a:t>Selection and uncertainty - avoid overclaiming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68680" y="1463040"/>
          <a:ext cx="104698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6560"/>
                <a:gridCol w="3703320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Measure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Observed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Validation-selected model family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Qwen: 17; ModernBERT: 7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Validation-selected adaptation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Frozen: 14; fine-tuned: 10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95% AP-gain intervals entirely above zero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0/24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95% AP-gain intervals containing zero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19/24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95% AP-gain intervals entirely below zero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5/24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68680" y="5806440"/>
            <a:ext cx="10469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4B4D"/>
                </a:solidFill>
                <a:latin typeface="Arial"/>
              </a:rPr>
              <a:t>Individual paired bootstrap intervals (2,000 resamples); no temporal dependence or multiplicity adjustment.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73952"/>
            <a:ext cx="640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3000"/>
              <a:t>Conclusions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5074920" cy="4343400"/>
          </a:xfrm>
          <a:prstGeom prst="roundRect">
            <a:avLst/>
          </a:prstGeom>
          <a:solidFill>
            <a:srgbClr val="F2F2F2"/>
          </a:solidFill>
          <a:ln>
            <a:solidFill>
              <a:srgbClr val="9C9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109728" cy="4343400"/>
          </a:xfrm>
          <a:prstGeom prst="rect">
            <a:avLst/>
          </a:prstGeom>
          <a:solidFill>
            <a:srgbClr val="49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1581912"/>
            <a:ext cx="46360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9915C"/>
                </a:solidFill>
                <a:latin typeface="Arial"/>
              </a:rPr>
              <a:t>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993392"/>
            <a:ext cx="4480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Complete workflow; scientific target unmet: 0/24 pass all gates.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10/24 AP point estimates beat baseline; none has a wholly positive gain interval.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Qt is promising, but no repository meets the target at all levels.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Keep the sealed study as a completed result; do not retrain to this test set.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074920" cy="4343400"/>
          </a:xfrm>
          <a:prstGeom prst="roundRect">
            <a:avLst/>
          </a:prstGeom>
          <a:solidFill>
            <a:srgbClr val="F2F2F2"/>
          </a:solidFill>
          <a:ln>
            <a:solidFill>
              <a:srgbClr val="9C9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417320"/>
            <a:ext cx="109728" cy="4343400"/>
          </a:xfrm>
          <a:prstGeom prst="rect">
            <a:avLst/>
          </a:prstGeom>
          <a:solidFill>
            <a:srgbClr val="F47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581912"/>
            <a:ext cx="46360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7E1F"/>
                </a:solidFill>
                <a:latin typeface="Arial"/>
              </a:rPr>
              <a:t>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1993392"/>
            <a:ext cx="4480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Separate planned studies: Phi, Gemma and Qwen3.5; prepare and profile each first.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Separate local Jev zero-shot benchmark; setup and runtime profile still required.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One GPU profile at a time; at most two experiment jobs concurrently.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Further comparisons are retrospective; a fresh holdout is needed for confirmation.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44200" y="6473952"/>
            <a:ext cx="640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3000"/>
              <a:t>Code-smell study - dataset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6473952"/>
            <a:ext cx="640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68680" y="1554480"/>
          <a:ext cx="1046988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458200"/>
              </a:tblGrid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64" marR="36576" marT="18288" marB="18288" anchor="ctr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This task</a:t>
                      </a:r>
                    </a:p>
                  </a:txBody>
                  <a:tcPr marL="54864" marR="36576" marT="18288" marB="18288" anchor="ctr">
                    <a:solidFill>
                      <a:srgbClr val="F47E1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Research question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Can sprint-entry story information predict implementation and design smells in associated code?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Population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Four Jira sources; 68,244 fixed candidates from the September 10 snapshot.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Preparation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67,919 complete Jira records; 12,986 pass pre-sprint eligibility checks.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Completed outputs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Frozen features and chronological train / validation / test membership per source.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Current scope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Dataset preparation only. Code-smell labels, class balance and model scores are not available yet.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568235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Separate study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32323"/>
                          </a:solidFill>
                          <a:latin typeface="Arial"/>
                        </a:rPr>
                        <a:t>This is a code-smell prediction task, not another HF issue-instability result.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96112" y="5742432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B4B4D"/>
                </a:solidFill>
                <a:latin typeface="Arial"/>
              </a:rPr>
              <a:t>Run: code-smells-002 | Preparation results recorded October 24,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3000"/>
              <a:t>Data Analysis - candidates to feature rows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6473952"/>
            <a:ext cx="640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371600"/>
            <a:ext cx="3319272" cy="896112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08176"/>
            <a:ext cx="33192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F47E1F"/>
                </a:solidFill>
                <a:latin typeface="Arial"/>
              </a:rPr>
              <a:t>68,244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56231"/>
            <a:ext cx="33192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32323"/>
                </a:solidFill>
                <a:latin typeface="Arial"/>
              </a:rPr>
              <a:t>Selected candidates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3984" y="1371600"/>
            <a:ext cx="3319272" cy="896112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43984" y="1408176"/>
            <a:ext cx="33192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F47E1F"/>
                </a:solidFill>
                <a:latin typeface="Arial"/>
              </a:rPr>
              <a:t>67,919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984" y="1856231"/>
            <a:ext cx="33192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32323"/>
                </a:solidFill>
                <a:latin typeface="Arial"/>
              </a:rPr>
              <a:t>Complete Jira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9288" y="1371600"/>
            <a:ext cx="3319272" cy="896112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9288" y="1408176"/>
            <a:ext cx="33192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F47E1F"/>
                </a:solidFill>
                <a:latin typeface="Arial"/>
              </a:rPr>
              <a:t>12,986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9288" y="1856231"/>
            <a:ext cx="33192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32323"/>
                </a:solidFill>
                <a:latin typeface="Arial"/>
              </a:rPr>
              <a:t>Frozen feature rows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868680" y="2587752"/>
          <a:ext cx="10469880" cy="2587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37360"/>
                <a:gridCol w="1600200"/>
                <a:gridCol w="1691640"/>
                <a:gridCol w="1920240"/>
                <a:gridCol w="1737360"/>
              </a:tblGrid>
              <a:tr h="431292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Dataset</a:t>
                      </a:r>
                    </a:p>
                  </a:txBody>
                  <a:tcPr marL="54864" marR="36576" marT="18288" marB="18288" anchor="ctr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Candidates</a:t>
                      </a:r>
                    </a:p>
                  </a:txBody>
                  <a:tcPr marL="54864" marR="36576" marT="18288" marB="18288" anchor="ctr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Unavailable</a:t>
                      </a:r>
                    </a:p>
                  </a:txBody>
                  <a:tcPr marL="54864" marR="36576" marT="18288" marB="18288" anchor="ctr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Available</a:t>
                      </a:r>
                    </a:p>
                  </a:txBody>
                  <a:tcPr marL="54864" marR="36576" marT="18288" marB="18288" anchor="ctr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Preprocessing</a:t>
                      </a:r>
                    </a:p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excluded</a:t>
                      </a:r>
                    </a:p>
                  </a:txBody>
                  <a:tcPr marL="54864" marR="36576" marT="18288" marB="18288" anchor="ctr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Frozen rows</a:t>
                      </a:r>
                    </a:p>
                  </a:txBody>
                  <a:tcPr marL="54864" marR="36576" marT="18288" marB="18288" anchor="ctr">
                    <a:solidFill>
                      <a:srgbClr val="F47E1F"/>
                    </a:solidFill>
                  </a:tcPr>
                </a:tc>
              </a:tr>
              <a:tr h="43129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Apache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3,289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3,289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2,531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758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3129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IntelDAOS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866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866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631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235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</a:tr>
              <a:tr h="43129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MongoDB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39,169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39,168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34,080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5,088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3129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RedHat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24,920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324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24,596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17,691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6,905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</a:tr>
              <a:tr h="431292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232323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32323"/>
                          </a:solidFill>
                          <a:latin typeface="Arial"/>
                        </a:rPr>
                        <a:t>68,244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32323"/>
                          </a:solidFill>
                          <a:latin typeface="Arial"/>
                        </a:rPr>
                        <a:t>325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32323"/>
                          </a:solidFill>
                          <a:latin typeface="Arial"/>
                        </a:rPr>
                        <a:t>67,919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32323"/>
                          </a:solidFill>
                          <a:latin typeface="Arial"/>
                        </a:rPr>
                        <a:t>54,933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32323"/>
                          </a:solidFill>
                          <a:latin typeface="Arial"/>
                        </a:rPr>
                        <a:t>12,986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96112" y="5449824"/>
            <a:ext cx="1042416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32323"/>
                </a:solidFill>
                <a:latin typeface="Arial"/>
              </a:rPr>
              <a:t>68,244 - 325 unavailable - 54,933 preprocessing exclusions = 12,986 frozen rows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5925312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B4B4D"/>
                </a:solidFill>
                <a:latin typeface="Arial"/>
              </a:rPr>
              <a:t>19.1% of available records pass. No code-evidence or detector filtering has run yet.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3000"/>
              <a:t>Why 54,933 available records were filtered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6473952"/>
            <a:ext cx="640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rial"/>
              </a:rPr>
              <a:t>17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68680" y="1463040"/>
          <a:ext cx="1046988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2057400"/>
                <a:gridCol w="2331720"/>
                <a:gridCol w="2560320"/>
                <a:gridCol w="173736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Dataset</a:t>
                      </a:r>
                    </a:p>
                  </a:txBody>
                  <a:tcPr marL="54864" marR="36576" marT="18288" marB="18288" anchor="ctr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No usable</a:t>
                      </a:r>
                    </a:p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sprint entry</a:t>
                      </a:r>
                    </a:p>
                  </a:txBody>
                  <a:tcPr marL="54864" marR="36576" marT="18288" marB="18288" anchor="ctr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No comment</a:t>
                      </a:r>
                    </a:p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by sprint entry</a:t>
                      </a:r>
                    </a:p>
                  </a:txBody>
                  <a:tcPr marL="54864" marR="36576" marT="18288" marB="18288" anchor="ctr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Metadata not</a:t>
                      </a:r>
                    </a:p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reconstructable</a:t>
                      </a:r>
                    </a:p>
                  </a:txBody>
                  <a:tcPr marL="54864" marR="36576" marT="18288" marB="18288" anchor="ctr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excluded</a:t>
                      </a:r>
                    </a:p>
                  </a:txBody>
                  <a:tcPr marL="54864" marR="36576" marT="18288" marB="18288" anchor="ctr">
                    <a:solidFill>
                      <a:srgbClr val="F47E1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Apache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1,090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1,441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2,531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IntelDAOS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575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631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MongoDB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4,964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29,104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34,080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RedHat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1,694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15,984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17,691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232323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32323"/>
                          </a:solidFill>
                          <a:latin typeface="Arial"/>
                        </a:rPr>
                        <a:t>7,804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32323"/>
                          </a:solidFill>
                          <a:latin typeface="Arial"/>
                        </a:rPr>
                        <a:t>47,104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32323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32323"/>
                          </a:solidFill>
                          <a:latin typeface="Arial"/>
                        </a:rPr>
                        <a:t>54,933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96112" y="4544568"/>
            <a:ext cx="1042416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B6520"/>
                </a:solidFill>
                <a:latin typeface="Arial"/>
              </a:rPr>
              <a:t>Largest gate: 47,104 records lack a qualifying comment (85.7% of preprocessing exclusions).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5065776"/>
            <a:ext cx="1042416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Arial"/>
              </a:rPr>
              <a:t>A qualifying comment has a valid timestamp on or before sprint entry; comments only afterward do not count.
This comment requirement is an inherited study rule, not an inherent code-smell requirement.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5907024"/>
            <a:ext cx="1042416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4B4D"/>
                </a:solidFill>
                <a:latin typeface="Arial"/>
              </a:rPr>
              <a:t>First failed rule only: no double-counting. The 325 unavailable records are separate from this table.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3000"/>
              <a:t>Frozen feature rows - labels still pending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6473952"/>
            <a:ext cx="640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rial"/>
              </a:rPr>
              <a:t>18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68680" y="1508760"/>
          <a:ext cx="10469880" cy="3035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2011680"/>
                <a:gridCol w="2011680"/>
                <a:gridCol w="2011680"/>
                <a:gridCol w="2011680"/>
              </a:tblGrid>
              <a:tr h="505968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Dataset</a:t>
                      </a:r>
                    </a:p>
                  </a:txBody>
                  <a:tcPr marL="54864" marR="36576" marT="18288" marB="18288" anchor="ctr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Feature rows</a:t>
                      </a:r>
                    </a:p>
                  </a:txBody>
                  <a:tcPr marL="54864" marR="36576" marT="18288" marB="18288" anchor="ctr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Train</a:t>
                      </a:r>
                    </a:p>
                  </a:txBody>
                  <a:tcPr marL="54864" marR="36576" marT="18288" marB="18288" anchor="ctr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Validation</a:t>
                      </a:r>
                    </a:p>
                  </a:txBody>
                  <a:tcPr marL="54864" marR="36576" marT="18288" marB="18288" anchor="ctr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Test</a:t>
                      </a:r>
                    </a:p>
                  </a:txBody>
                  <a:tcPr marL="54864" marR="36576" marT="18288" marB="18288" anchor="ctr">
                    <a:solidFill>
                      <a:srgbClr val="F47E1F"/>
                    </a:solidFill>
                  </a:tcPr>
                </a:tc>
              </a:tr>
              <a:tr h="505968">
                <a:tc>
                  <a:txBody>
                    <a:bodyPr/>
                    <a:lstStyle/>
                    <a:p>
                      <a:pPr algn="l"/>
                      <a:r>
                        <a:rPr sz="1900" b="0">
                          <a:solidFill>
                            <a:srgbClr val="232323"/>
                          </a:solidFill>
                          <a:latin typeface="Arial"/>
                        </a:rPr>
                        <a:t>Apache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32323"/>
                          </a:solidFill>
                          <a:latin typeface="Arial"/>
                        </a:rPr>
                        <a:t>758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32323"/>
                          </a:solidFill>
                          <a:latin typeface="Arial"/>
                        </a:rPr>
                        <a:t>454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32323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32323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505968">
                <a:tc>
                  <a:txBody>
                    <a:bodyPr/>
                    <a:lstStyle/>
                    <a:p>
                      <a:pPr algn="l"/>
                      <a:r>
                        <a:rPr sz="1900" b="0">
                          <a:solidFill>
                            <a:srgbClr val="232323"/>
                          </a:solidFill>
                          <a:latin typeface="Arial"/>
                        </a:rPr>
                        <a:t>IntelDAOS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32323"/>
                          </a:solidFill>
                          <a:latin typeface="Arial"/>
                        </a:rPr>
                        <a:t>235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32323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32323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32323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</a:tr>
              <a:tr h="505968">
                <a:tc>
                  <a:txBody>
                    <a:bodyPr/>
                    <a:lstStyle/>
                    <a:p>
                      <a:pPr algn="l"/>
                      <a:r>
                        <a:rPr sz="1900" b="0">
                          <a:solidFill>
                            <a:srgbClr val="232323"/>
                          </a:solidFill>
                          <a:latin typeface="Arial"/>
                        </a:rPr>
                        <a:t>MongoDB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32323"/>
                          </a:solidFill>
                          <a:latin typeface="Arial"/>
                        </a:rPr>
                        <a:t>5,088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32323"/>
                          </a:solidFill>
                          <a:latin typeface="Arial"/>
                        </a:rPr>
                        <a:t>3,052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32323"/>
                          </a:solidFill>
                          <a:latin typeface="Arial"/>
                        </a:rPr>
                        <a:t>1,017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32323"/>
                          </a:solidFill>
                          <a:latin typeface="Arial"/>
                        </a:rPr>
                        <a:t>1,019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505968">
                <a:tc>
                  <a:txBody>
                    <a:bodyPr/>
                    <a:lstStyle/>
                    <a:p>
                      <a:pPr algn="l"/>
                      <a:r>
                        <a:rPr sz="1900" b="0">
                          <a:solidFill>
                            <a:srgbClr val="232323"/>
                          </a:solidFill>
                          <a:latin typeface="Arial"/>
                        </a:rPr>
                        <a:t>RedHat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32323"/>
                          </a:solidFill>
                          <a:latin typeface="Arial"/>
                        </a:rPr>
                        <a:t>6,905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32323"/>
                          </a:solidFill>
                          <a:latin typeface="Arial"/>
                        </a:rPr>
                        <a:t>4,143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32323"/>
                          </a:solidFill>
                          <a:latin typeface="Arial"/>
                        </a:rPr>
                        <a:t>1,381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32323"/>
                          </a:solidFill>
                          <a:latin typeface="Arial"/>
                        </a:rPr>
                        <a:t>1,381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</a:tr>
              <a:tr h="505968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232323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232323"/>
                          </a:solidFill>
                          <a:latin typeface="Arial"/>
                        </a:rPr>
                        <a:t>12,986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232323"/>
                          </a:solidFill>
                          <a:latin typeface="Arial"/>
                        </a:rPr>
                        <a:t>7,790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232323"/>
                          </a:solidFill>
                          <a:latin typeface="Arial"/>
                        </a:rPr>
                        <a:t>2,596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232323"/>
                          </a:solidFill>
                          <a:latin typeface="Arial"/>
                        </a:rPr>
                        <a:t>2,600</a:t>
                      </a:r>
                    </a:p>
                  </a:txBody>
                  <a:tcPr marL="54864" marR="36576" marT="18288" marB="18288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96112" y="4745736"/>
            <a:ext cx="104241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Arial"/>
              </a:rPr>
              <a:t>Chronological 60/20/20 per source, ordered by sprint-entry time; integer boundaries explain rounding.
Apache's original 758 rows and 454 / 151 / 153 membership are unchanged.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5559552"/>
            <a:ext cx="10424160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EB6520"/>
                </a:solidFill>
                <a:latin typeface="Arial"/>
              </a:rPr>
              <a:t>Next: linked code, complete detector coverage and labels. Final model-ready counts can fall further.
Later exclusions only mask these partitions; they never move rows or turn missing labels negative.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אוניברסיטת בן גוריון">
      <a:dk1>
        <a:srgbClr val="58595B"/>
      </a:dk1>
      <a:lt1>
        <a:sysClr val="window" lastClr="FFFFFF"/>
      </a:lt1>
      <a:dk2>
        <a:srgbClr val="58595B"/>
      </a:dk2>
      <a:lt2>
        <a:srgbClr val="EEECE1"/>
      </a:lt2>
      <a:accent1>
        <a:srgbClr val="F7941E"/>
      </a:accent1>
      <a:accent2>
        <a:srgbClr val="E16327"/>
      </a:accent2>
      <a:accent3>
        <a:srgbClr val="F37421"/>
      </a:accent3>
      <a:accent4>
        <a:srgbClr val="828487"/>
      </a:accent4>
      <a:accent5>
        <a:srgbClr val="A5A7A9"/>
      </a:accent5>
      <a:accent6>
        <a:srgbClr val="CFD6DA"/>
      </a:accent6>
      <a:hlink>
        <a:srgbClr val="FFFFFF"/>
      </a:hlink>
      <a:folHlink>
        <a:srgbClr val="FFFFFF"/>
      </a:folHlink>
    </a:clrScheme>
    <a:fontScheme name="אוניברסיטת בן גוריון">
      <a:majorFont>
        <a:latin typeface="Assistant"/>
        <a:ea typeface=""/>
        <a:cs typeface="Assistant"/>
      </a:majorFont>
      <a:minorFont>
        <a:latin typeface="Assistant"/>
        <a:ea typeface=""/>
        <a:cs typeface="Assistan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3830</TotalTime>
  <Words>1108</Words>
  <Application>Microsoft Macintosh PowerPoint</Application>
  <PresentationFormat>Widescreen</PresentationFormat>
  <Paragraphs>272</Paragraphs>
  <Slides>38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Assistant</vt:lpstr>
      <vt:lpstr>Calibri</vt:lpstr>
      <vt:lpstr>Cambria Math</vt:lpstr>
      <vt:lpstr>Office Theme</vt:lpstr>
      <vt:lpstr>The effect of the stability of user stories on the code quality</vt:lpstr>
      <vt:lpstr>User Story </vt:lpstr>
      <vt:lpstr>Code Smells</vt:lpstr>
      <vt:lpstr>Code Smells</vt:lpstr>
      <vt:lpstr>User Stories Quality</vt:lpstr>
      <vt:lpstr>An impact-driven approach to predict user stories instability</vt:lpstr>
      <vt:lpstr>K - Unstable</vt:lpstr>
      <vt:lpstr>K - UPM</vt:lpstr>
      <vt:lpstr>DATASET and DATA ANALYSIS</vt:lpstr>
      <vt:lpstr>Results (AUC PRC)</vt:lpstr>
      <vt:lpstr>Disadvantages</vt:lpstr>
      <vt:lpstr>NLP</vt:lpstr>
      <vt:lpstr>Research Questions</vt:lpstr>
      <vt:lpstr>Research Goal</vt:lpstr>
      <vt:lpstr>Steps</vt:lpstr>
      <vt:lpstr>Background and Related Work</vt:lpstr>
      <vt:lpstr>Step 1: Replicate Yarden’s research and validate the results (5 Unstable)</vt:lpstr>
      <vt:lpstr>Step 1: Replicate Yarden’s research and validate the results (20 Unstable)</vt:lpstr>
      <vt:lpstr>Step 2: Validate the model on a larger dataset</vt:lpstr>
      <vt:lpstr>Datasets</vt:lpstr>
      <vt:lpstr>K - UPM</vt:lpstr>
      <vt:lpstr>K – UPM – AUC PRC</vt:lpstr>
      <vt:lpstr>Step 3: NLP Models</vt:lpstr>
      <vt:lpstr>Step 3: NLP Models</vt:lpstr>
      <vt:lpstr>Step 3: NLP Models – AUC PRC</vt:lpstr>
      <vt:lpstr>Step 3: Balance Ratio</vt:lpstr>
      <vt:lpstr>Step 3: Balance Ratio - AUC PRC</vt:lpstr>
      <vt:lpstr>Step 4: Optimize K-UPM</vt:lpstr>
      <vt:lpstr>Step 4: Optimize K-UPM</vt:lpstr>
      <vt:lpstr>Step 4: Optimize K-UPM</vt:lpstr>
      <vt:lpstr>Step 4: Optimize K-UPM</vt:lpstr>
      <vt:lpstr>Step 4: Optimize K-UPM</vt:lpstr>
      <vt:lpstr>Step 4: Optimize K-UPM</vt:lpstr>
      <vt:lpstr>Step 4: Optimize K-UPM</vt:lpstr>
      <vt:lpstr>Step 5: Develop a prediction model for code smells based on user stories </vt:lpstr>
      <vt:lpstr>Status</vt:lpstr>
      <vt:lpstr>Challenges</vt:lpstr>
      <vt:lpstr>Thank You.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רינת שרון</dc:creator>
  <cp:lastModifiedBy>Yakov Elmaleh</cp:lastModifiedBy>
  <cp:revision>21</cp:revision>
  <dcterms:created xsi:type="dcterms:W3CDTF">2021-09-16T17:14:16Z</dcterms:created>
  <dcterms:modified xsi:type="dcterms:W3CDTF">2026-09-07T06:59:13Z</dcterms:modified>
</cp:coreProperties>
</file>